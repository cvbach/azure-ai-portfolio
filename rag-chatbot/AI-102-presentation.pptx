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71" r:id="rId3"/>
    <p:sldId id="257" r:id="rId4"/>
    <p:sldId id="276" r:id="rId5"/>
    <p:sldId id="284" r:id="rId6"/>
    <p:sldId id="278" r:id="rId7"/>
    <p:sldId id="279" r:id="rId8"/>
    <p:sldId id="280" r:id="rId9"/>
    <p:sldId id="283" r:id="rId10"/>
    <p:sldId id="281" r:id="rId11"/>
    <p:sldId id="282" r:id="rId12"/>
    <p:sldId id="285" r:id="rId13"/>
    <p:sldId id="286" r:id="rId14"/>
    <p:sldId id="287" r:id="rId15"/>
  </p:sldIdLst>
  <p:sldSz cx="18288000" cy="10287000"/>
  <p:notesSz cx="6858000" cy="9144000"/>
  <p:embeddedFontLst>
    <p:embeddedFont>
      <p:font typeface="Muli Bold" panose="020B0604020202020204" charset="0"/>
      <p:regular r:id="rId17"/>
    </p:embeddedFont>
    <p:embeddedFont>
      <p:font typeface="Muli Light" panose="020B0604020202020204" charset="0"/>
      <p:regular r:id="rId18"/>
    </p:embeddedFont>
    <p:embeddedFont>
      <p:font typeface="Segoe UI" panose="020B0502040204020203" pitchFamily="34" charset="0"/>
      <p:regular r:id="rId19"/>
      <p:bold r:id="rId20"/>
      <p:italic r:id="rId21"/>
      <p:bold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29" autoAdjust="0"/>
    <p:restoredTop sz="82211" autoAdjust="0"/>
  </p:normalViewPr>
  <p:slideViewPr>
    <p:cSldViewPr>
      <p:cViewPr varScale="1">
        <p:scale>
          <a:sx n="70" d="100"/>
          <a:sy n="70" d="100"/>
        </p:scale>
        <p:origin x="1128" y="72"/>
      </p:cViewPr>
      <p:guideLst>
        <p:guide orient="horz" pos="2160"/>
        <p:guide pos="2880"/>
      </p:guideLst>
    </p:cSldViewPr>
  </p:slideViewPr>
  <p:outlineViewPr>
    <p:cViewPr>
      <p:scale>
        <a:sx n="33" d="100"/>
        <a:sy n="33" d="100"/>
      </p:scale>
      <p:origin x="0" y="0"/>
    </p:cViewPr>
  </p:outlin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3F6EFBD-8559-48A7-B608-F431232C8AE7}"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3BDD35BE-E290-490A-A9E1-065939E2AE8F}">
      <dgm:prSet phldrT="[Text]"/>
      <dgm:spPr>
        <a:ln>
          <a:solidFill>
            <a:schemeClr val="bg1"/>
          </a:solidFill>
        </a:ln>
      </dgm:spPr>
      <dgm:t>
        <a:bodyPr/>
        <a:lstStyle/>
        <a:p>
          <a:r>
            <a:rPr lang="en-US" b="0" dirty="0" err="1">
              <a:solidFill>
                <a:schemeClr val="bg1"/>
              </a:solidFill>
              <a:latin typeface="Segoe UI" panose="020B0502040204020203" pitchFamily="34" charset="0"/>
              <a:ea typeface="Muli Bold"/>
              <a:cs typeface="Segoe UI" panose="020B0502040204020203" pitchFamily="34" charset="0"/>
              <a:sym typeface="Muli Bold"/>
            </a:rPr>
            <a:t>Thách</a:t>
          </a:r>
          <a:r>
            <a:rPr lang="en-US" b="0" dirty="0">
              <a:solidFill>
                <a:schemeClr val="bg1"/>
              </a:solidFill>
              <a:latin typeface="Segoe UI" panose="020B0502040204020203" pitchFamily="34" charset="0"/>
              <a:ea typeface="Muli Bold"/>
              <a:cs typeface="Segoe UI" panose="020B0502040204020203" pitchFamily="34" charset="0"/>
              <a:sym typeface="Muli Bold"/>
            </a:rPr>
            <a:t> </a:t>
          </a:r>
          <a:r>
            <a:rPr lang="en-US" b="0" dirty="0" err="1">
              <a:solidFill>
                <a:schemeClr val="bg1"/>
              </a:solidFill>
              <a:latin typeface="Segoe UI" panose="020B0502040204020203" pitchFamily="34" charset="0"/>
              <a:ea typeface="Muli Bold"/>
              <a:cs typeface="Segoe UI" panose="020B0502040204020203" pitchFamily="34" charset="0"/>
              <a:sym typeface="Muli Bold"/>
            </a:rPr>
            <a:t>thức</a:t>
          </a:r>
          <a:r>
            <a:rPr lang="en-US" b="0" dirty="0">
              <a:solidFill>
                <a:schemeClr val="bg1"/>
              </a:solidFill>
              <a:latin typeface="Segoe UI" panose="020B0502040204020203" pitchFamily="34" charset="0"/>
              <a:ea typeface="Muli Bold"/>
              <a:cs typeface="Segoe UI" panose="020B0502040204020203" pitchFamily="34" charset="0"/>
              <a:sym typeface="Muli Bold"/>
            </a:rPr>
            <a:t> </a:t>
          </a:r>
          <a:r>
            <a:rPr lang="en-US" b="0" dirty="0" err="1">
              <a:solidFill>
                <a:schemeClr val="bg1"/>
              </a:solidFill>
              <a:latin typeface="Segoe UI" panose="020B0502040204020203" pitchFamily="34" charset="0"/>
              <a:ea typeface="Muli Bold"/>
              <a:cs typeface="Segoe UI" panose="020B0502040204020203" pitchFamily="34" charset="0"/>
              <a:sym typeface="Muli Bold"/>
            </a:rPr>
            <a:t>hiện</a:t>
          </a:r>
          <a:r>
            <a:rPr lang="en-US" b="0" dirty="0">
              <a:solidFill>
                <a:schemeClr val="bg1"/>
              </a:solidFill>
              <a:latin typeface="Segoe UI" panose="020B0502040204020203" pitchFamily="34" charset="0"/>
              <a:ea typeface="Muli Bold"/>
              <a:cs typeface="Segoe UI" panose="020B0502040204020203" pitchFamily="34" charset="0"/>
              <a:sym typeface="Muli Bold"/>
            </a:rPr>
            <a:t> nay</a:t>
          </a:r>
          <a:endParaRPr lang="en-US" b="0" dirty="0">
            <a:solidFill>
              <a:schemeClr val="bg1"/>
            </a:solidFill>
            <a:latin typeface="Segoe UI" panose="020B0502040204020203" pitchFamily="34" charset="0"/>
            <a:cs typeface="Segoe UI" panose="020B0502040204020203" pitchFamily="34" charset="0"/>
          </a:endParaRPr>
        </a:p>
      </dgm:t>
    </dgm:pt>
    <dgm:pt modelId="{43A1D37F-B03E-45C8-9167-C42E6AC453AD}" type="parTrans" cxnId="{0B5FF723-FE2D-4876-88E8-99A7B847BD7C}">
      <dgm:prSet/>
      <dgm:spPr/>
      <dgm:t>
        <a:bodyPr/>
        <a:lstStyle/>
        <a:p>
          <a:endParaRPr lang="en-US"/>
        </a:p>
      </dgm:t>
    </dgm:pt>
    <dgm:pt modelId="{E36636D7-6371-40CD-93BC-713BE3A1B804}" type="sibTrans" cxnId="{0B5FF723-FE2D-4876-88E8-99A7B847BD7C}">
      <dgm:prSet/>
      <dgm:spPr/>
      <dgm:t>
        <a:bodyPr/>
        <a:lstStyle/>
        <a:p>
          <a:endParaRPr lang="en-US"/>
        </a:p>
      </dgm:t>
    </dgm:pt>
    <dgm:pt modelId="{91BB4A68-2150-4129-B291-3DDDA7491091}">
      <dgm:prSet phldrT="[Text]"/>
      <dgm:spPr/>
      <dgm:t>
        <a:bodyPr/>
        <a:lstStyle/>
        <a:p>
          <a:r>
            <a:rPr lang="en-US" b="0" dirty="0" err="1">
              <a:solidFill>
                <a:schemeClr val="bg1"/>
              </a:solidFill>
              <a:latin typeface="Segoe UI" panose="020B0502040204020203" pitchFamily="34" charset="0"/>
              <a:ea typeface="Muli Bold"/>
              <a:cs typeface="Segoe UI" panose="020B0502040204020203" pitchFamily="34" charset="0"/>
              <a:sym typeface="Muli Bold"/>
            </a:rPr>
            <a:t>Hệ</a:t>
          </a:r>
          <a:r>
            <a:rPr lang="en-US" b="0" dirty="0">
              <a:solidFill>
                <a:schemeClr val="bg1"/>
              </a:solidFill>
              <a:latin typeface="Segoe UI" panose="020B0502040204020203" pitchFamily="34" charset="0"/>
              <a:ea typeface="Muli Bold"/>
              <a:cs typeface="Segoe UI" panose="020B0502040204020203" pitchFamily="34" charset="0"/>
              <a:sym typeface="Muli Bold"/>
            </a:rPr>
            <a:t> </a:t>
          </a:r>
          <a:r>
            <a:rPr lang="en-US" b="0" dirty="0" err="1">
              <a:solidFill>
                <a:schemeClr val="bg1"/>
              </a:solidFill>
              <a:latin typeface="Segoe UI" panose="020B0502040204020203" pitchFamily="34" charset="0"/>
              <a:ea typeface="Muli Bold"/>
              <a:cs typeface="Segoe UI" panose="020B0502040204020203" pitchFamily="34" charset="0"/>
              <a:sym typeface="Muli Bold"/>
            </a:rPr>
            <a:t>sinh</a:t>
          </a:r>
          <a:r>
            <a:rPr lang="en-US" b="0" dirty="0">
              <a:solidFill>
                <a:schemeClr val="bg1"/>
              </a:solidFill>
              <a:latin typeface="Segoe UI" panose="020B0502040204020203" pitchFamily="34" charset="0"/>
              <a:ea typeface="Muli Bold"/>
              <a:cs typeface="Segoe UI" panose="020B0502040204020203" pitchFamily="34" charset="0"/>
              <a:sym typeface="Muli Bold"/>
            </a:rPr>
            <a:t> </a:t>
          </a:r>
          <a:r>
            <a:rPr lang="en-US" b="0" dirty="0" err="1">
              <a:solidFill>
                <a:schemeClr val="bg1"/>
              </a:solidFill>
              <a:latin typeface="Segoe UI" panose="020B0502040204020203" pitchFamily="34" charset="0"/>
              <a:ea typeface="Muli Bold"/>
              <a:cs typeface="Segoe UI" panose="020B0502040204020203" pitchFamily="34" charset="0"/>
              <a:sym typeface="Muli Bold"/>
            </a:rPr>
            <a:t>thái</a:t>
          </a:r>
          <a:r>
            <a:rPr lang="en-US" b="0" dirty="0">
              <a:solidFill>
                <a:schemeClr val="bg1"/>
              </a:solidFill>
              <a:latin typeface="Segoe UI" panose="020B0502040204020203" pitchFamily="34" charset="0"/>
              <a:ea typeface="Muli Bold"/>
              <a:cs typeface="Segoe UI" panose="020B0502040204020203" pitchFamily="34" charset="0"/>
              <a:sym typeface="Muli Bold"/>
            </a:rPr>
            <a:t> Azure AI</a:t>
          </a:r>
          <a:endParaRPr lang="en-US" b="0" dirty="0">
            <a:solidFill>
              <a:schemeClr val="bg1"/>
            </a:solidFill>
            <a:latin typeface="Segoe UI" panose="020B0502040204020203" pitchFamily="34" charset="0"/>
            <a:cs typeface="Segoe UI" panose="020B0502040204020203" pitchFamily="34" charset="0"/>
          </a:endParaRPr>
        </a:p>
      </dgm:t>
    </dgm:pt>
    <dgm:pt modelId="{EDA7997C-B09A-4D1D-BDF6-07F583F80EF7}" type="parTrans" cxnId="{704A03DF-6B36-473C-B34E-6943874D7AB9}">
      <dgm:prSet/>
      <dgm:spPr/>
      <dgm:t>
        <a:bodyPr/>
        <a:lstStyle/>
        <a:p>
          <a:endParaRPr lang="en-US"/>
        </a:p>
      </dgm:t>
    </dgm:pt>
    <dgm:pt modelId="{02AB9262-E137-43CE-ACA4-D7F31EDBF247}" type="sibTrans" cxnId="{704A03DF-6B36-473C-B34E-6943874D7AB9}">
      <dgm:prSet/>
      <dgm:spPr/>
      <dgm:t>
        <a:bodyPr/>
        <a:lstStyle/>
        <a:p>
          <a:endParaRPr lang="en-US"/>
        </a:p>
      </dgm:t>
    </dgm:pt>
    <dgm:pt modelId="{4B33936F-D7A9-4AF5-9950-69607D95987A}">
      <dgm:prSet phldrT="[Text]" phldr="0"/>
      <dgm:spPr/>
      <dgm:t>
        <a:bodyPr/>
        <a:lstStyle/>
        <a:p>
          <a:r>
            <a:rPr lang="en-US" dirty="0">
              <a:latin typeface="Segoe UI" panose="020B0502040204020203" pitchFamily="34" charset="0"/>
              <a:cs typeface="Segoe UI" panose="020B0502040204020203" pitchFamily="34" charset="0"/>
            </a:rPr>
            <a:t>Các service Azure </a:t>
          </a:r>
          <a:r>
            <a:rPr lang="en-US" dirty="0" err="1">
              <a:latin typeface="Segoe UI" panose="020B0502040204020203" pitchFamily="34" charset="0"/>
              <a:cs typeface="Segoe UI" panose="020B0502040204020203" pitchFamily="34" charset="0"/>
            </a:rPr>
            <a:t>chính</a:t>
          </a:r>
          <a:endParaRPr lang="en-US" dirty="0">
            <a:latin typeface="Segoe UI" panose="020B0502040204020203" pitchFamily="34" charset="0"/>
            <a:cs typeface="Segoe UI" panose="020B0502040204020203" pitchFamily="34" charset="0"/>
          </a:endParaRPr>
        </a:p>
      </dgm:t>
    </dgm:pt>
    <dgm:pt modelId="{143047AF-9072-4FEC-BAEB-4CE5F062EE31}" type="parTrans" cxnId="{64BAA691-95BA-46CF-BB2D-109AAE8C4741}">
      <dgm:prSet/>
      <dgm:spPr/>
      <dgm:t>
        <a:bodyPr/>
        <a:lstStyle/>
        <a:p>
          <a:endParaRPr lang="en-US"/>
        </a:p>
      </dgm:t>
    </dgm:pt>
    <dgm:pt modelId="{BA95351D-C6DA-4E99-8524-E99708CD6F34}" type="sibTrans" cxnId="{64BAA691-95BA-46CF-BB2D-109AAE8C4741}">
      <dgm:prSet/>
      <dgm:spPr/>
      <dgm:t>
        <a:bodyPr/>
        <a:lstStyle/>
        <a:p>
          <a:endParaRPr lang="en-US"/>
        </a:p>
      </dgm:t>
    </dgm:pt>
    <dgm:pt modelId="{2A5524AB-B60F-4079-870F-44378F3C352C}">
      <dgm:prSet/>
      <dgm:spPr/>
      <dgm:t>
        <a:bodyPr/>
        <a:lstStyle/>
        <a:p>
          <a:r>
            <a:rPr lang="en-US" dirty="0">
              <a:latin typeface="Segoe UI" panose="020B0502040204020203" pitchFamily="34" charset="0"/>
              <a:cs typeface="Segoe UI" panose="020B0502040204020203" pitchFamily="34" charset="0"/>
            </a:rPr>
            <a:t>Hand on lab</a:t>
          </a:r>
        </a:p>
      </dgm:t>
    </dgm:pt>
    <dgm:pt modelId="{93F09DAD-0AF3-4553-B529-C4E28F29429E}" type="parTrans" cxnId="{64041093-CFB9-4314-AB52-497D5D718AD1}">
      <dgm:prSet/>
      <dgm:spPr/>
      <dgm:t>
        <a:bodyPr/>
        <a:lstStyle/>
        <a:p>
          <a:endParaRPr lang="en-US"/>
        </a:p>
      </dgm:t>
    </dgm:pt>
    <dgm:pt modelId="{B7DEFB6A-68D9-4435-8F84-27ED2933FE4C}" type="sibTrans" cxnId="{64041093-CFB9-4314-AB52-497D5D718AD1}">
      <dgm:prSet/>
      <dgm:spPr/>
      <dgm:t>
        <a:bodyPr/>
        <a:lstStyle/>
        <a:p>
          <a:endParaRPr lang="en-US"/>
        </a:p>
      </dgm:t>
    </dgm:pt>
    <dgm:pt modelId="{7E88A58C-D82B-479C-9EDE-1C89CEAB1029}">
      <dgm:prSet/>
      <dgm:spPr/>
      <dgm:t>
        <a:bodyPr/>
        <a:lstStyle/>
        <a:p>
          <a:r>
            <a:rPr lang="en-US" dirty="0">
              <a:latin typeface="Segoe UI" panose="020B0502040204020203" pitchFamily="34" charset="0"/>
              <a:cs typeface="Segoe UI" panose="020B0502040204020203" pitchFamily="34" charset="0"/>
            </a:rPr>
            <a:t>Deloy </a:t>
          </a:r>
          <a:r>
            <a:rPr lang="en-US" dirty="0" err="1">
              <a:latin typeface="Segoe UI" panose="020B0502040204020203" pitchFamily="34" charset="0"/>
              <a:cs typeface="Segoe UI" panose="020B0502040204020203" pitchFamily="34" charset="0"/>
            </a:rPr>
            <a:t>mô</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hình</a:t>
          </a:r>
          <a:r>
            <a:rPr lang="en-US" dirty="0">
              <a:latin typeface="Segoe UI" panose="020B0502040204020203" pitchFamily="34" charset="0"/>
              <a:cs typeface="Segoe UI" panose="020B0502040204020203" pitchFamily="34" charset="0"/>
            </a:rPr>
            <a:t> RAG </a:t>
          </a:r>
          <a:r>
            <a:rPr lang="en-US" dirty="0" err="1">
              <a:latin typeface="Segoe UI" panose="020B0502040204020203" pitchFamily="34" charset="0"/>
              <a:cs typeface="Segoe UI" panose="020B0502040204020203" pitchFamily="34" charset="0"/>
            </a:rPr>
            <a:t>thực</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tế</a:t>
          </a:r>
          <a:endParaRPr lang="en-US" dirty="0">
            <a:latin typeface="Segoe UI" panose="020B0502040204020203" pitchFamily="34" charset="0"/>
            <a:cs typeface="Segoe UI" panose="020B0502040204020203" pitchFamily="34" charset="0"/>
          </a:endParaRPr>
        </a:p>
      </dgm:t>
    </dgm:pt>
    <dgm:pt modelId="{8AC8805E-D08C-43A7-B911-DBF20ACF4840}" type="parTrans" cxnId="{4E880410-2CE4-407F-BBD4-5E2B83C49795}">
      <dgm:prSet/>
      <dgm:spPr/>
      <dgm:t>
        <a:bodyPr/>
        <a:lstStyle/>
        <a:p>
          <a:endParaRPr lang="en-US"/>
        </a:p>
      </dgm:t>
    </dgm:pt>
    <dgm:pt modelId="{4F1E6ACC-265E-4E87-8FF3-C40F38693D77}" type="sibTrans" cxnId="{4E880410-2CE4-407F-BBD4-5E2B83C49795}">
      <dgm:prSet/>
      <dgm:spPr/>
      <dgm:t>
        <a:bodyPr/>
        <a:lstStyle/>
        <a:p>
          <a:endParaRPr lang="en-US"/>
        </a:p>
      </dgm:t>
    </dgm:pt>
    <dgm:pt modelId="{9C7D76C6-E54B-4B70-92AF-4A5F09B6598D}" type="pres">
      <dgm:prSet presAssocID="{23F6EFBD-8559-48A7-B608-F431232C8AE7}" presName="linear" presStyleCnt="0">
        <dgm:presLayoutVars>
          <dgm:dir/>
          <dgm:animLvl val="lvl"/>
          <dgm:resizeHandles val="exact"/>
        </dgm:presLayoutVars>
      </dgm:prSet>
      <dgm:spPr/>
    </dgm:pt>
    <dgm:pt modelId="{90FEDBB1-282E-49D9-945B-E74CB2A6966F}" type="pres">
      <dgm:prSet presAssocID="{3BDD35BE-E290-490A-A9E1-065939E2AE8F}" presName="parentLin" presStyleCnt="0"/>
      <dgm:spPr/>
    </dgm:pt>
    <dgm:pt modelId="{C083DF56-02AE-4219-82CF-8BA1B7B4271D}" type="pres">
      <dgm:prSet presAssocID="{3BDD35BE-E290-490A-A9E1-065939E2AE8F}" presName="parentLeftMargin" presStyleLbl="node1" presStyleIdx="0" presStyleCnt="5"/>
      <dgm:spPr/>
    </dgm:pt>
    <dgm:pt modelId="{13EAA956-BF62-428D-A9C5-E3F545F38472}" type="pres">
      <dgm:prSet presAssocID="{3BDD35BE-E290-490A-A9E1-065939E2AE8F}" presName="parentText" presStyleLbl="node1" presStyleIdx="0" presStyleCnt="5">
        <dgm:presLayoutVars>
          <dgm:chMax val="0"/>
          <dgm:bulletEnabled val="1"/>
        </dgm:presLayoutVars>
      </dgm:prSet>
      <dgm:spPr/>
    </dgm:pt>
    <dgm:pt modelId="{09043AD6-9145-45E5-8512-60FC689EBAF8}" type="pres">
      <dgm:prSet presAssocID="{3BDD35BE-E290-490A-A9E1-065939E2AE8F}" presName="negativeSpace" presStyleCnt="0"/>
      <dgm:spPr/>
    </dgm:pt>
    <dgm:pt modelId="{972D7DD9-3AC3-41EA-9B8C-3018C634D785}" type="pres">
      <dgm:prSet presAssocID="{3BDD35BE-E290-490A-A9E1-065939E2AE8F}" presName="childText" presStyleLbl="conFgAcc1" presStyleIdx="0" presStyleCnt="5">
        <dgm:presLayoutVars>
          <dgm:bulletEnabled val="1"/>
        </dgm:presLayoutVars>
      </dgm:prSet>
      <dgm:spPr/>
    </dgm:pt>
    <dgm:pt modelId="{03F0A00D-6B44-4C57-9A89-40A3960219DA}" type="pres">
      <dgm:prSet presAssocID="{E36636D7-6371-40CD-93BC-713BE3A1B804}" presName="spaceBetweenRectangles" presStyleCnt="0"/>
      <dgm:spPr/>
    </dgm:pt>
    <dgm:pt modelId="{B42BAD1E-7819-4C38-8BAB-E4ED92E31526}" type="pres">
      <dgm:prSet presAssocID="{91BB4A68-2150-4129-B291-3DDDA7491091}" presName="parentLin" presStyleCnt="0"/>
      <dgm:spPr/>
    </dgm:pt>
    <dgm:pt modelId="{3AFF15D2-A84F-4F6F-9FE6-751AB7DCF026}" type="pres">
      <dgm:prSet presAssocID="{91BB4A68-2150-4129-B291-3DDDA7491091}" presName="parentLeftMargin" presStyleLbl="node1" presStyleIdx="0" presStyleCnt="5"/>
      <dgm:spPr/>
    </dgm:pt>
    <dgm:pt modelId="{21541B1A-189F-443B-801F-7B569A014F1C}" type="pres">
      <dgm:prSet presAssocID="{91BB4A68-2150-4129-B291-3DDDA7491091}" presName="parentText" presStyleLbl="node1" presStyleIdx="1" presStyleCnt="5">
        <dgm:presLayoutVars>
          <dgm:chMax val="0"/>
          <dgm:bulletEnabled val="1"/>
        </dgm:presLayoutVars>
      </dgm:prSet>
      <dgm:spPr/>
    </dgm:pt>
    <dgm:pt modelId="{883FD557-83F5-4C15-9FAA-54050FA72E0E}" type="pres">
      <dgm:prSet presAssocID="{91BB4A68-2150-4129-B291-3DDDA7491091}" presName="negativeSpace" presStyleCnt="0"/>
      <dgm:spPr/>
    </dgm:pt>
    <dgm:pt modelId="{786A7224-F826-4B94-805A-2985F7EB3730}" type="pres">
      <dgm:prSet presAssocID="{91BB4A68-2150-4129-B291-3DDDA7491091}" presName="childText" presStyleLbl="conFgAcc1" presStyleIdx="1" presStyleCnt="5">
        <dgm:presLayoutVars>
          <dgm:bulletEnabled val="1"/>
        </dgm:presLayoutVars>
      </dgm:prSet>
      <dgm:spPr/>
    </dgm:pt>
    <dgm:pt modelId="{C451D818-431B-4193-BA27-4611196C3496}" type="pres">
      <dgm:prSet presAssocID="{02AB9262-E137-43CE-ACA4-D7F31EDBF247}" presName="spaceBetweenRectangles" presStyleCnt="0"/>
      <dgm:spPr/>
    </dgm:pt>
    <dgm:pt modelId="{B3BECFB0-435A-4C66-B7F0-4352102FD8BF}" type="pres">
      <dgm:prSet presAssocID="{4B33936F-D7A9-4AF5-9950-69607D95987A}" presName="parentLin" presStyleCnt="0"/>
      <dgm:spPr/>
    </dgm:pt>
    <dgm:pt modelId="{4017535E-B90B-4828-BD91-D045C9ED7AE4}" type="pres">
      <dgm:prSet presAssocID="{4B33936F-D7A9-4AF5-9950-69607D95987A}" presName="parentLeftMargin" presStyleLbl="node1" presStyleIdx="1" presStyleCnt="5"/>
      <dgm:spPr/>
    </dgm:pt>
    <dgm:pt modelId="{7604A50F-5BD4-4738-8ABC-C195EC2E9B81}" type="pres">
      <dgm:prSet presAssocID="{4B33936F-D7A9-4AF5-9950-69607D95987A}" presName="parentText" presStyleLbl="node1" presStyleIdx="2" presStyleCnt="5">
        <dgm:presLayoutVars>
          <dgm:chMax val="0"/>
          <dgm:bulletEnabled val="1"/>
        </dgm:presLayoutVars>
      </dgm:prSet>
      <dgm:spPr/>
    </dgm:pt>
    <dgm:pt modelId="{68DA6E3C-522E-47B1-81FB-98A7383419F7}" type="pres">
      <dgm:prSet presAssocID="{4B33936F-D7A9-4AF5-9950-69607D95987A}" presName="negativeSpace" presStyleCnt="0"/>
      <dgm:spPr/>
    </dgm:pt>
    <dgm:pt modelId="{9AAA292D-DA91-4AFC-A02A-E54F2EBF2994}" type="pres">
      <dgm:prSet presAssocID="{4B33936F-D7A9-4AF5-9950-69607D95987A}" presName="childText" presStyleLbl="conFgAcc1" presStyleIdx="2" presStyleCnt="5">
        <dgm:presLayoutVars>
          <dgm:bulletEnabled val="1"/>
        </dgm:presLayoutVars>
      </dgm:prSet>
      <dgm:spPr/>
    </dgm:pt>
    <dgm:pt modelId="{315BF9ED-3D4A-4D50-998F-DC67322EC1BB}" type="pres">
      <dgm:prSet presAssocID="{BA95351D-C6DA-4E99-8524-E99708CD6F34}" presName="spaceBetweenRectangles" presStyleCnt="0"/>
      <dgm:spPr/>
    </dgm:pt>
    <dgm:pt modelId="{E0B977D1-0D33-475E-A10E-8F6B125AE7AF}" type="pres">
      <dgm:prSet presAssocID="{2A5524AB-B60F-4079-870F-44378F3C352C}" presName="parentLin" presStyleCnt="0"/>
      <dgm:spPr/>
    </dgm:pt>
    <dgm:pt modelId="{EFB96D09-752F-427E-9547-69F6CE9B0A37}" type="pres">
      <dgm:prSet presAssocID="{2A5524AB-B60F-4079-870F-44378F3C352C}" presName="parentLeftMargin" presStyleLbl="node1" presStyleIdx="2" presStyleCnt="5"/>
      <dgm:spPr/>
    </dgm:pt>
    <dgm:pt modelId="{F4B2E9C2-E672-4F1D-AE0B-BA8DDCC4822D}" type="pres">
      <dgm:prSet presAssocID="{2A5524AB-B60F-4079-870F-44378F3C352C}" presName="parentText" presStyleLbl="node1" presStyleIdx="3" presStyleCnt="5">
        <dgm:presLayoutVars>
          <dgm:chMax val="0"/>
          <dgm:bulletEnabled val="1"/>
        </dgm:presLayoutVars>
      </dgm:prSet>
      <dgm:spPr/>
    </dgm:pt>
    <dgm:pt modelId="{A0B0DB28-37B5-452A-8556-C83DCCA7759E}" type="pres">
      <dgm:prSet presAssocID="{2A5524AB-B60F-4079-870F-44378F3C352C}" presName="negativeSpace" presStyleCnt="0"/>
      <dgm:spPr/>
    </dgm:pt>
    <dgm:pt modelId="{D1D02ACA-06B6-4E89-9B99-EBF0DA4AE658}" type="pres">
      <dgm:prSet presAssocID="{2A5524AB-B60F-4079-870F-44378F3C352C}" presName="childText" presStyleLbl="conFgAcc1" presStyleIdx="3" presStyleCnt="5">
        <dgm:presLayoutVars>
          <dgm:bulletEnabled val="1"/>
        </dgm:presLayoutVars>
      </dgm:prSet>
      <dgm:spPr/>
    </dgm:pt>
    <dgm:pt modelId="{1981810A-F11F-441E-A468-B33A6BE75853}" type="pres">
      <dgm:prSet presAssocID="{B7DEFB6A-68D9-4435-8F84-27ED2933FE4C}" presName="spaceBetweenRectangles" presStyleCnt="0"/>
      <dgm:spPr/>
    </dgm:pt>
    <dgm:pt modelId="{E9BCC57F-C690-402D-8583-5DA786104B1F}" type="pres">
      <dgm:prSet presAssocID="{7E88A58C-D82B-479C-9EDE-1C89CEAB1029}" presName="parentLin" presStyleCnt="0"/>
      <dgm:spPr/>
    </dgm:pt>
    <dgm:pt modelId="{FB4D3184-45ED-436A-A7F4-A3B963F61CE1}" type="pres">
      <dgm:prSet presAssocID="{7E88A58C-D82B-479C-9EDE-1C89CEAB1029}" presName="parentLeftMargin" presStyleLbl="node1" presStyleIdx="3" presStyleCnt="5"/>
      <dgm:spPr/>
    </dgm:pt>
    <dgm:pt modelId="{2FC2A053-1B3B-4EDF-9999-71E25B4BA5C9}" type="pres">
      <dgm:prSet presAssocID="{7E88A58C-D82B-479C-9EDE-1C89CEAB1029}" presName="parentText" presStyleLbl="node1" presStyleIdx="4" presStyleCnt="5">
        <dgm:presLayoutVars>
          <dgm:chMax val="0"/>
          <dgm:bulletEnabled val="1"/>
        </dgm:presLayoutVars>
      </dgm:prSet>
      <dgm:spPr/>
    </dgm:pt>
    <dgm:pt modelId="{A6E6934D-1D5F-410D-A04F-A614F656B7B8}" type="pres">
      <dgm:prSet presAssocID="{7E88A58C-D82B-479C-9EDE-1C89CEAB1029}" presName="negativeSpace" presStyleCnt="0"/>
      <dgm:spPr/>
    </dgm:pt>
    <dgm:pt modelId="{48B0BA4C-7BD8-4289-AE1C-82C526859CC0}" type="pres">
      <dgm:prSet presAssocID="{7E88A58C-D82B-479C-9EDE-1C89CEAB1029}" presName="childText" presStyleLbl="conFgAcc1" presStyleIdx="4" presStyleCnt="5">
        <dgm:presLayoutVars>
          <dgm:bulletEnabled val="1"/>
        </dgm:presLayoutVars>
      </dgm:prSet>
      <dgm:spPr/>
    </dgm:pt>
  </dgm:ptLst>
  <dgm:cxnLst>
    <dgm:cxn modelId="{4E880410-2CE4-407F-BBD4-5E2B83C49795}" srcId="{23F6EFBD-8559-48A7-B608-F431232C8AE7}" destId="{7E88A58C-D82B-479C-9EDE-1C89CEAB1029}" srcOrd="4" destOrd="0" parTransId="{8AC8805E-D08C-43A7-B911-DBF20ACF4840}" sibTransId="{4F1E6ACC-265E-4E87-8FF3-C40F38693D77}"/>
    <dgm:cxn modelId="{555EF023-0B4A-407A-BE8E-A23388B7C1A2}" type="presOf" srcId="{3BDD35BE-E290-490A-A9E1-065939E2AE8F}" destId="{C083DF56-02AE-4219-82CF-8BA1B7B4271D}" srcOrd="0" destOrd="0" presId="urn:microsoft.com/office/officeart/2005/8/layout/list1"/>
    <dgm:cxn modelId="{0B5FF723-FE2D-4876-88E8-99A7B847BD7C}" srcId="{23F6EFBD-8559-48A7-B608-F431232C8AE7}" destId="{3BDD35BE-E290-490A-A9E1-065939E2AE8F}" srcOrd="0" destOrd="0" parTransId="{43A1D37F-B03E-45C8-9167-C42E6AC453AD}" sibTransId="{E36636D7-6371-40CD-93BC-713BE3A1B804}"/>
    <dgm:cxn modelId="{E358D029-FDCC-44D0-B1D0-E16A3CBF4995}" type="presOf" srcId="{4B33936F-D7A9-4AF5-9950-69607D95987A}" destId="{4017535E-B90B-4828-BD91-D045C9ED7AE4}" srcOrd="0" destOrd="0" presId="urn:microsoft.com/office/officeart/2005/8/layout/list1"/>
    <dgm:cxn modelId="{4E2DF835-61F2-4045-8EC3-63CEA9FFD263}" type="presOf" srcId="{2A5524AB-B60F-4079-870F-44378F3C352C}" destId="{F4B2E9C2-E672-4F1D-AE0B-BA8DDCC4822D}" srcOrd="1" destOrd="0" presId="urn:microsoft.com/office/officeart/2005/8/layout/list1"/>
    <dgm:cxn modelId="{CFA1895B-C6A7-4D3F-8F02-9413FE577479}" type="presOf" srcId="{91BB4A68-2150-4129-B291-3DDDA7491091}" destId="{21541B1A-189F-443B-801F-7B569A014F1C}" srcOrd="1" destOrd="0" presId="urn:microsoft.com/office/officeart/2005/8/layout/list1"/>
    <dgm:cxn modelId="{13A31957-0F7F-458A-9E48-2161113D5A63}" type="presOf" srcId="{23F6EFBD-8559-48A7-B608-F431232C8AE7}" destId="{9C7D76C6-E54B-4B70-92AF-4A5F09B6598D}" srcOrd="0" destOrd="0" presId="urn:microsoft.com/office/officeart/2005/8/layout/list1"/>
    <dgm:cxn modelId="{F7BD2457-33C6-483B-873F-5E5F618E9BA8}" type="presOf" srcId="{4B33936F-D7A9-4AF5-9950-69607D95987A}" destId="{7604A50F-5BD4-4738-8ABC-C195EC2E9B81}" srcOrd="1" destOrd="0" presId="urn:microsoft.com/office/officeart/2005/8/layout/list1"/>
    <dgm:cxn modelId="{64BAA691-95BA-46CF-BB2D-109AAE8C4741}" srcId="{23F6EFBD-8559-48A7-B608-F431232C8AE7}" destId="{4B33936F-D7A9-4AF5-9950-69607D95987A}" srcOrd="2" destOrd="0" parTransId="{143047AF-9072-4FEC-BAEB-4CE5F062EE31}" sibTransId="{BA95351D-C6DA-4E99-8524-E99708CD6F34}"/>
    <dgm:cxn modelId="{64041093-CFB9-4314-AB52-497D5D718AD1}" srcId="{23F6EFBD-8559-48A7-B608-F431232C8AE7}" destId="{2A5524AB-B60F-4079-870F-44378F3C352C}" srcOrd="3" destOrd="0" parTransId="{93F09DAD-0AF3-4553-B529-C4E28F29429E}" sibTransId="{B7DEFB6A-68D9-4435-8F84-27ED2933FE4C}"/>
    <dgm:cxn modelId="{ACAE84BE-6205-432E-BD54-9C1CD3A5D68A}" type="presOf" srcId="{7E88A58C-D82B-479C-9EDE-1C89CEAB1029}" destId="{FB4D3184-45ED-436A-A7F4-A3B963F61CE1}" srcOrd="0" destOrd="0" presId="urn:microsoft.com/office/officeart/2005/8/layout/list1"/>
    <dgm:cxn modelId="{D4B005C7-38E3-41AC-8DD4-BA56420A6ACC}" type="presOf" srcId="{7E88A58C-D82B-479C-9EDE-1C89CEAB1029}" destId="{2FC2A053-1B3B-4EDF-9999-71E25B4BA5C9}" srcOrd="1" destOrd="0" presId="urn:microsoft.com/office/officeart/2005/8/layout/list1"/>
    <dgm:cxn modelId="{AFD59CD2-CFDE-4845-8FC5-7A4CA850E10A}" type="presOf" srcId="{2A5524AB-B60F-4079-870F-44378F3C352C}" destId="{EFB96D09-752F-427E-9547-69F6CE9B0A37}" srcOrd="0" destOrd="0" presId="urn:microsoft.com/office/officeart/2005/8/layout/list1"/>
    <dgm:cxn modelId="{704A03DF-6B36-473C-B34E-6943874D7AB9}" srcId="{23F6EFBD-8559-48A7-B608-F431232C8AE7}" destId="{91BB4A68-2150-4129-B291-3DDDA7491091}" srcOrd="1" destOrd="0" parTransId="{EDA7997C-B09A-4D1D-BDF6-07F583F80EF7}" sibTransId="{02AB9262-E137-43CE-ACA4-D7F31EDBF247}"/>
    <dgm:cxn modelId="{E68CB8F2-E949-47EF-B67E-B300E2A80193}" type="presOf" srcId="{91BB4A68-2150-4129-B291-3DDDA7491091}" destId="{3AFF15D2-A84F-4F6F-9FE6-751AB7DCF026}" srcOrd="0" destOrd="0" presId="urn:microsoft.com/office/officeart/2005/8/layout/list1"/>
    <dgm:cxn modelId="{C4FCFDF9-2B99-4D2E-A472-B23E81286FA1}" type="presOf" srcId="{3BDD35BE-E290-490A-A9E1-065939E2AE8F}" destId="{13EAA956-BF62-428D-A9C5-E3F545F38472}" srcOrd="1" destOrd="0" presId="urn:microsoft.com/office/officeart/2005/8/layout/list1"/>
    <dgm:cxn modelId="{09783764-4378-41FF-B2C1-F4A9E51FFE42}" type="presParOf" srcId="{9C7D76C6-E54B-4B70-92AF-4A5F09B6598D}" destId="{90FEDBB1-282E-49D9-945B-E74CB2A6966F}" srcOrd="0" destOrd="0" presId="urn:microsoft.com/office/officeart/2005/8/layout/list1"/>
    <dgm:cxn modelId="{0B71A004-43D2-4A98-BCB3-1C094DE57CE4}" type="presParOf" srcId="{90FEDBB1-282E-49D9-945B-E74CB2A6966F}" destId="{C083DF56-02AE-4219-82CF-8BA1B7B4271D}" srcOrd="0" destOrd="0" presId="urn:microsoft.com/office/officeart/2005/8/layout/list1"/>
    <dgm:cxn modelId="{034D8873-0627-4E22-993F-8EB2B6F931AC}" type="presParOf" srcId="{90FEDBB1-282E-49D9-945B-E74CB2A6966F}" destId="{13EAA956-BF62-428D-A9C5-E3F545F38472}" srcOrd="1" destOrd="0" presId="urn:microsoft.com/office/officeart/2005/8/layout/list1"/>
    <dgm:cxn modelId="{9DCA560A-A4EA-4276-A9F4-E6F18E022C9A}" type="presParOf" srcId="{9C7D76C6-E54B-4B70-92AF-4A5F09B6598D}" destId="{09043AD6-9145-45E5-8512-60FC689EBAF8}" srcOrd="1" destOrd="0" presId="urn:microsoft.com/office/officeart/2005/8/layout/list1"/>
    <dgm:cxn modelId="{E502DB73-F2FB-451F-8349-3F0F736F738A}" type="presParOf" srcId="{9C7D76C6-E54B-4B70-92AF-4A5F09B6598D}" destId="{972D7DD9-3AC3-41EA-9B8C-3018C634D785}" srcOrd="2" destOrd="0" presId="urn:microsoft.com/office/officeart/2005/8/layout/list1"/>
    <dgm:cxn modelId="{6F368091-CF95-4877-B52A-4195F47E8634}" type="presParOf" srcId="{9C7D76C6-E54B-4B70-92AF-4A5F09B6598D}" destId="{03F0A00D-6B44-4C57-9A89-40A3960219DA}" srcOrd="3" destOrd="0" presId="urn:microsoft.com/office/officeart/2005/8/layout/list1"/>
    <dgm:cxn modelId="{8453FFCB-2796-4343-90E2-6822CC6CF3BF}" type="presParOf" srcId="{9C7D76C6-E54B-4B70-92AF-4A5F09B6598D}" destId="{B42BAD1E-7819-4C38-8BAB-E4ED92E31526}" srcOrd="4" destOrd="0" presId="urn:microsoft.com/office/officeart/2005/8/layout/list1"/>
    <dgm:cxn modelId="{E3AA44FA-1FB5-4526-BBFE-EF9952E91428}" type="presParOf" srcId="{B42BAD1E-7819-4C38-8BAB-E4ED92E31526}" destId="{3AFF15D2-A84F-4F6F-9FE6-751AB7DCF026}" srcOrd="0" destOrd="0" presId="urn:microsoft.com/office/officeart/2005/8/layout/list1"/>
    <dgm:cxn modelId="{785B97C0-94D1-482A-A682-A60E7FA5F42B}" type="presParOf" srcId="{B42BAD1E-7819-4C38-8BAB-E4ED92E31526}" destId="{21541B1A-189F-443B-801F-7B569A014F1C}" srcOrd="1" destOrd="0" presId="urn:microsoft.com/office/officeart/2005/8/layout/list1"/>
    <dgm:cxn modelId="{C1DB66EC-904C-47C1-932E-A2937E364BFD}" type="presParOf" srcId="{9C7D76C6-E54B-4B70-92AF-4A5F09B6598D}" destId="{883FD557-83F5-4C15-9FAA-54050FA72E0E}" srcOrd="5" destOrd="0" presId="urn:microsoft.com/office/officeart/2005/8/layout/list1"/>
    <dgm:cxn modelId="{DC2E9C2B-5D06-4C8B-B640-3B1477477A64}" type="presParOf" srcId="{9C7D76C6-E54B-4B70-92AF-4A5F09B6598D}" destId="{786A7224-F826-4B94-805A-2985F7EB3730}" srcOrd="6" destOrd="0" presId="urn:microsoft.com/office/officeart/2005/8/layout/list1"/>
    <dgm:cxn modelId="{57325A79-3C3A-4EC1-B29E-807A2DB1F890}" type="presParOf" srcId="{9C7D76C6-E54B-4B70-92AF-4A5F09B6598D}" destId="{C451D818-431B-4193-BA27-4611196C3496}" srcOrd="7" destOrd="0" presId="urn:microsoft.com/office/officeart/2005/8/layout/list1"/>
    <dgm:cxn modelId="{6057FAEE-7D51-4661-AA54-88BEC3956E59}" type="presParOf" srcId="{9C7D76C6-E54B-4B70-92AF-4A5F09B6598D}" destId="{B3BECFB0-435A-4C66-B7F0-4352102FD8BF}" srcOrd="8" destOrd="0" presId="urn:microsoft.com/office/officeart/2005/8/layout/list1"/>
    <dgm:cxn modelId="{FA1A4BCC-D26E-4132-AB09-3292D5DE4DD0}" type="presParOf" srcId="{B3BECFB0-435A-4C66-B7F0-4352102FD8BF}" destId="{4017535E-B90B-4828-BD91-D045C9ED7AE4}" srcOrd="0" destOrd="0" presId="urn:microsoft.com/office/officeart/2005/8/layout/list1"/>
    <dgm:cxn modelId="{E9B97DD5-CBDC-4BCE-9A3A-744C89359595}" type="presParOf" srcId="{B3BECFB0-435A-4C66-B7F0-4352102FD8BF}" destId="{7604A50F-5BD4-4738-8ABC-C195EC2E9B81}" srcOrd="1" destOrd="0" presId="urn:microsoft.com/office/officeart/2005/8/layout/list1"/>
    <dgm:cxn modelId="{8096A4CF-2D0C-4C60-8A92-4A4B028F3CBB}" type="presParOf" srcId="{9C7D76C6-E54B-4B70-92AF-4A5F09B6598D}" destId="{68DA6E3C-522E-47B1-81FB-98A7383419F7}" srcOrd="9" destOrd="0" presId="urn:microsoft.com/office/officeart/2005/8/layout/list1"/>
    <dgm:cxn modelId="{11F00AD0-FD7B-498F-AD6D-783A92BAFF65}" type="presParOf" srcId="{9C7D76C6-E54B-4B70-92AF-4A5F09B6598D}" destId="{9AAA292D-DA91-4AFC-A02A-E54F2EBF2994}" srcOrd="10" destOrd="0" presId="urn:microsoft.com/office/officeart/2005/8/layout/list1"/>
    <dgm:cxn modelId="{7430A444-3BE1-41B4-A599-62DD319C9479}" type="presParOf" srcId="{9C7D76C6-E54B-4B70-92AF-4A5F09B6598D}" destId="{315BF9ED-3D4A-4D50-998F-DC67322EC1BB}" srcOrd="11" destOrd="0" presId="urn:microsoft.com/office/officeart/2005/8/layout/list1"/>
    <dgm:cxn modelId="{6C08A020-9B12-4E03-A563-C8AB8258531C}" type="presParOf" srcId="{9C7D76C6-E54B-4B70-92AF-4A5F09B6598D}" destId="{E0B977D1-0D33-475E-A10E-8F6B125AE7AF}" srcOrd="12" destOrd="0" presId="urn:microsoft.com/office/officeart/2005/8/layout/list1"/>
    <dgm:cxn modelId="{8F05302B-56DC-4C57-8AAD-4166CF7D259A}" type="presParOf" srcId="{E0B977D1-0D33-475E-A10E-8F6B125AE7AF}" destId="{EFB96D09-752F-427E-9547-69F6CE9B0A37}" srcOrd="0" destOrd="0" presId="urn:microsoft.com/office/officeart/2005/8/layout/list1"/>
    <dgm:cxn modelId="{90B0053B-4AEF-4799-B1E8-0DCD960FF294}" type="presParOf" srcId="{E0B977D1-0D33-475E-A10E-8F6B125AE7AF}" destId="{F4B2E9C2-E672-4F1D-AE0B-BA8DDCC4822D}" srcOrd="1" destOrd="0" presId="urn:microsoft.com/office/officeart/2005/8/layout/list1"/>
    <dgm:cxn modelId="{AFA42145-4755-4489-801F-0FE50117727B}" type="presParOf" srcId="{9C7D76C6-E54B-4B70-92AF-4A5F09B6598D}" destId="{A0B0DB28-37B5-452A-8556-C83DCCA7759E}" srcOrd="13" destOrd="0" presId="urn:microsoft.com/office/officeart/2005/8/layout/list1"/>
    <dgm:cxn modelId="{2915737C-D99D-4C04-B221-5C427DBC6860}" type="presParOf" srcId="{9C7D76C6-E54B-4B70-92AF-4A5F09B6598D}" destId="{D1D02ACA-06B6-4E89-9B99-EBF0DA4AE658}" srcOrd="14" destOrd="0" presId="urn:microsoft.com/office/officeart/2005/8/layout/list1"/>
    <dgm:cxn modelId="{788F197B-B6A6-4AEE-A1A4-F7451D1A3FE1}" type="presParOf" srcId="{9C7D76C6-E54B-4B70-92AF-4A5F09B6598D}" destId="{1981810A-F11F-441E-A468-B33A6BE75853}" srcOrd="15" destOrd="0" presId="urn:microsoft.com/office/officeart/2005/8/layout/list1"/>
    <dgm:cxn modelId="{BB7AC212-D8E5-4AA9-BEF4-ECD7B48EF974}" type="presParOf" srcId="{9C7D76C6-E54B-4B70-92AF-4A5F09B6598D}" destId="{E9BCC57F-C690-402D-8583-5DA786104B1F}" srcOrd="16" destOrd="0" presId="urn:microsoft.com/office/officeart/2005/8/layout/list1"/>
    <dgm:cxn modelId="{2AB58CBC-23AD-4C0F-BF93-0FE44A2DD686}" type="presParOf" srcId="{E9BCC57F-C690-402D-8583-5DA786104B1F}" destId="{FB4D3184-45ED-436A-A7F4-A3B963F61CE1}" srcOrd="0" destOrd="0" presId="urn:microsoft.com/office/officeart/2005/8/layout/list1"/>
    <dgm:cxn modelId="{37C2A66A-9E39-4EB4-9EB0-14ECC2EA0080}" type="presParOf" srcId="{E9BCC57F-C690-402D-8583-5DA786104B1F}" destId="{2FC2A053-1B3B-4EDF-9999-71E25B4BA5C9}" srcOrd="1" destOrd="0" presId="urn:microsoft.com/office/officeart/2005/8/layout/list1"/>
    <dgm:cxn modelId="{52901469-73E2-41F3-BE8A-D2912BF51EDC}" type="presParOf" srcId="{9C7D76C6-E54B-4B70-92AF-4A5F09B6598D}" destId="{A6E6934D-1D5F-410D-A04F-A614F656B7B8}" srcOrd="17" destOrd="0" presId="urn:microsoft.com/office/officeart/2005/8/layout/list1"/>
    <dgm:cxn modelId="{CCC191E5-C80C-4DA7-90F9-1BE0C78DA55D}" type="presParOf" srcId="{9C7D76C6-E54B-4B70-92AF-4A5F09B6598D}" destId="{48B0BA4C-7BD8-4289-AE1C-82C526859CC0}"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2D7DD9-3AC3-41EA-9B8C-3018C634D785}">
      <dsp:nvSpPr>
        <dsp:cNvPr id="0" name=""/>
        <dsp:cNvSpPr/>
      </dsp:nvSpPr>
      <dsp:spPr>
        <a:xfrm>
          <a:off x="0" y="610159"/>
          <a:ext cx="12192000" cy="907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3EAA956-BF62-428D-A9C5-E3F545F38472}">
      <dsp:nvSpPr>
        <dsp:cNvPr id="0" name=""/>
        <dsp:cNvSpPr/>
      </dsp:nvSpPr>
      <dsp:spPr>
        <a:xfrm>
          <a:off x="609600" y="78799"/>
          <a:ext cx="8534400" cy="1062720"/>
        </a:xfrm>
        <a:prstGeom prst="roundRect">
          <a:avLst/>
        </a:prstGeom>
        <a:solidFill>
          <a:schemeClr val="accent1">
            <a:hueOff val="0"/>
            <a:satOff val="0"/>
            <a:lumOff val="0"/>
            <a:alphaOff val="0"/>
          </a:schemeClr>
        </a:solidFill>
        <a:ln w="25400"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600200">
            <a:lnSpc>
              <a:spcPct val="90000"/>
            </a:lnSpc>
            <a:spcBef>
              <a:spcPct val="0"/>
            </a:spcBef>
            <a:spcAft>
              <a:spcPct val="35000"/>
            </a:spcAft>
            <a:buNone/>
          </a:pPr>
          <a:r>
            <a:rPr lang="en-US" sz="3600" b="0" kern="1200" dirty="0" err="1">
              <a:solidFill>
                <a:schemeClr val="bg1"/>
              </a:solidFill>
              <a:latin typeface="Segoe UI" panose="020B0502040204020203" pitchFamily="34" charset="0"/>
              <a:ea typeface="Muli Bold"/>
              <a:cs typeface="Segoe UI" panose="020B0502040204020203" pitchFamily="34" charset="0"/>
              <a:sym typeface="Muli Bold"/>
            </a:rPr>
            <a:t>Thách</a:t>
          </a:r>
          <a:r>
            <a:rPr lang="en-US" sz="3600" b="0" kern="1200" dirty="0">
              <a:solidFill>
                <a:schemeClr val="bg1"/>
              </a:solidFill>
              <a:latin typeface="Segoe UI" panose="020B0502040204020203" pitchFamily="34" charset="0"/>
              <a:ea typeface="Muli Bold"/>
              <a:cs typeface="Segoe UI" panose="020B0502040204020203" pitchFamily="34" charset="0"/>
              <a:sym typeface="Muli Bold"/>
            </a:rPr>
            <a:t> </a:t>
          </a:r>
          <a:r>
            <a:rPr lang="en-US" sz="3600" b="0" kern="1200" dirty="0" err="1">
              <a:solidFill>
                <a:schemeClr val="bg1"/>
              </a:solidFill>
              <a:latin typeface="Segoe UI" panose="020B0502040204020203" pitchFamily="34" charset="0"/>
              <a:ea typeface="Muli Bold"/>
              <a:cs typeface="Segoe UI" panose="020B0502040204020203" pitchFamily="34" charset="0"/>
              <a:sym typeface="Muli Bold"/>
            </a:rPr>
            <a:t>thức</a:t>
          </a:r>
          <a:r>
            <a:rPr lang="en-US" sz="3600" b="0" kern="1200" dirty="0">
              <a:solidFill>
                <a:schemeClr val="bg1"/>
              </a:solidFill>
              <a:latin typeface="Segoe UI" panose="020B0502040204020203" pitchFamily="34" charset="0"/>
              <a:ea typeface="Muli Bold"/>
              <a:cs typeface="Segoe UI" panose="020B0502040204020203" pitchFamily="34" charset="0"/>
              <a:sym typeface="Muli Bold"/>
            </a:rPr>
            <a:t> </a:t>
          </a:r>
          <a:r>
            <a:rPr lang="en-US" sz="3600" b="0" kern="1200" dirty="0" err="1">
              <a:solidFill>
                <a:schemeClr val="bg1"/>
              </a:solidFill>
              <a:latin typeface="Segoe UI" panose="020B0502040204020203" pitchFamily="34" charset="0"/>
              <a:ea typeface="Muli Bold"/>
              <a:cs typeface="Segoe UI" panose="020B0502040204020203" pitchFamily="34" charset="0"/>
              <a:sym typeface="Muli Bold"/>
            </a:rPr>
            <a:t>hiện</a:t>
          </a:r>
          <a:r>
            <a:rPr lang="en-US" sz="3600" b="0" kern="1200" dirty="0">
              <a:solidFill>
                <a:schemeClr val="bg1"/>
              </a:solidFill>
              <a:latin typeface="Segoe UI" panose="020B0502040204020203" pitchFamily="34" charset="0"/>
              <a:ea typeface="Muli Bold"/>
              <a:cs typeface="Segoe UI" panose="020B0502040204020203" pitchFamily="34" charset="0"/>
              <a:sym typeface="Muli Bold"/>
            </a:rPr>
            <a:t> nay</a:t>
          </a:r>
          <a:endParaRPr lang="en-US" sz="3600" b="0" kern="1200" dirty="0">
            <a:solidFill>
              <a:schemeClr val="bg1"/>
            </a:solidFill>
            <a:latin typeface="Segoe UI" panose="020B0502040204020203" pitchFamily="34" charset="0"/>
            <a:cs typeface="Segoe UI" panose="020B0502040204020203" pitchFamily="34" charset="0"/>
          </a:endParaRPr>
        </a:p>
      </dsp:txBody>
      <dsp:txXfrm>
        <a:off x="661478" y="130677"/>
        <a:ext cx="8430644" cy="958964"/>
      </dsp:txXfrm>
    </dsp:sp>
    <dsp:sp modelId="{786A7224-F826-4B94-805A-2985F7EB3730}">
      <dsp:nvSpPr>
        <dsp:cNvPr id="0" name=""/>
        <dsp:cNvSpPr/>
      </dsp:nvSpPr>
      <dsp:spPr>
        <a:xfrm>
          <a:off x="0" y="2243119"/>
          <a:ext cx="12192000" cy="907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1541B1A-189F-443B-801F-7B569A014F1C}">
      <dsp:nvSpPr>
        <dsp:cNvPr id="0" name=""/>
        <dsp:cNvSpPr/>
      </dsp:nvSpPr>
      <dsp:spPr>
        <a:xfrm>
          <a:off x="609600" y="1711759"/>
          <a:ext cx="8534400" cy="10627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600200">
            <a:lnSpc>
              <a:spcPct val="90000"/>
            </a:lnSpc>
            <a:spcBef>
              <a:spcPct val="0"/>
            </a:spcBef>
            <a:spcAft>
              <a:spcPct val="35000"/>
            </a:spcAft>
            <a:buNone/>
          </a:pPr>
          <a:r>
            <a:rPr lang="en-US" sz="3600" b="0" kern="1200" dirty="0" err="1">
              <a:solidFill>
                <a:schemeClr val="bg1"/>
              </a:solidFill>
              <a:latin typeface="Segoe UI" panose="020B0502040204020203" pitchFamily="34" charset="0"/>
              <a:ea typeface="Muli Bold"/>
              <a:cs typeface="Segoe UI" panose="020B0502040204020203" pitchFamily="34" charset="0"/>
              <a:sym typeface="Muli Bold"/>
            </a:rPr>
            <a:t>Hệ</a:t>
          </a:r>
          <a:r>
            <a:rPr lang="en-US" sz="3600" b="0" kern="1200" dirty="0">
              <a:solidFill>
                <a:schemeClr val="bg1"/>
              </a:solidFill>
              <a:latin typeface="Segoe UI" panose="020B0502040204020203" pitchFamily="34" charset="0"/>
              <a:ea typeface="Muli Bold"/>
              <a:cs typeface="Segoe UI" panose="020B0502040204020203" pitchFamily="34" charset="0"/>
              <a:sym typeface="Muli Bold"/>
            </a:rPr>
            <a:t> </a:t>
          </a:r>
          <a:r>
            <a:rPr lang="en-US" sz="3600" b="0" kern="1200" dirty="0" err="1">
              <a:solidFill>
                <a:schemeClr val="bg1"/>
              </a:solidFill>
              <a:latin typeface="Segoe UI" panose="020B0502040204020203" pitchFamily="34" charset="0"/>
              <a:ea typeface="Muli Bold"/>
              <a:cs typeface="Segoe UI" panose="020B0502040204020203" pitchFamily="34" charset="0"/>
              <a:sym typeface="Muli Bold"/>
            </a:rPr>
            <a:t>sinh</a:t>
          </a:r>
          <a:r>
            <a:rPr lang="en-US" sz="3600" b="0" kern="1200" dirty="0">
              <a:solidFill>
                <a:schemeClr val="bg1"/>
              </a:solidFill>
              <a:latin typeface="Segoe UI" panose="020B0502040204020203" pitchFamily="34" charset="0"/>
              <a:ea typeface="Muli Bold"/>
              <a:cs typeface="Segoe UI" panose="020B0502040204020203" pitchFamily="34" charset="0"/>
              <a:sym typeface="Muli Bold"/>
            </a:rPr>
            <a:t> </a:t>
          </a:r>
          <a:r>
            <a:rPr lang="en-US" sz="3600" b="0" kern="1200" dirty="0" err="1">
              <a:solidFill>
                <a:schemeClr val="bg1"/>
              </a:solidFill>
              <a:latin typeface="Segoe UI" panose="020B0502040204020203" pitchFamily="34" charset="0"/>
              <a:ea typeface="Muli Bold"/>
              <a:cs typeface="Segoe UI" panose="020B0502040204020203" pitchFamily="34" charset="0"/>
              <a:sym typeface="Muli Bold"/>
            </a:rPr>
            <a:t>thái</a:t>
          </a:r>
          <a:r>
            <a:rPr lang="en-US" sz="3600" b="0" kern="1200" dirty="0">
              <a:solidFill>
                <a:schemeClr val="bg1"/>
              </a:solidFill>
              <a:latin typeface="Segoe UI" panose="020B0502040204020203" pitchFamily="34" charset="0"/>
              <a:ea typeface="Muli Bold"/>
              <a:cs typeface="Segoe UI" panose="020B0502040204020203" pitchFamily="34" charset="0"/>
              <a:sym typeface="Muli Bold"/>
            </a:rPr>
            <a:t> Azure AI</a:t>
          </a:r>
          <a:endParaRPr lang="en-US" sz="3600" b="0" kern="1200" dirty="0">
            <a:solidFill>
              <a:schemeClr val="bg1"/>
            </a:solidFill>
            <a:latin typeface="Segoe UI" panose="020B0502040204020203" pitchFamily="34" charset="0"/>
            <a:cs typeface="Segoe UI" panose="020B0502040204020203" pitchFamily="34" charset="0"/>
          </a:endParaRPr>
        </a:p>
      </dsp:txBody>
      <dsp:txXfrm>
        <a:off x="661478" y="1763637"/>
        <a:ext cx="8430644" cy="958964"/>
      </dsp:txXfrm>
    </dsp:sp>
    <dsp:sp modelId="{9AAA292D-DA91-4AFC-A02A-E54F2EBF2994}">
      <dsp:nvSpPr>
        <dsp:cNvPr id="0" name=""/>
        <dsp:cNvSpPr/>
      </dsp:nvSpPr>
      <dsp:spPr>
        <a:xfrm>
          <a:off x="0" y="3876079"/>
          <a:ext cx="12192000" cy="907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604A50F-5BD4-4738-8ABC-C195EC2E9B81}">
      <dsp:nvSpPr>
        <dsp:cNvPr id="0" name=""/>
        <dsp:cNvSpPr/>
      </dsp:nvSpPr>
      <dsp:spPr>
        <a:xfrm>
          <a:off x="609600" y="3344719"/>
          <a:ext cx="8534400" cy="10627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600200">
            <a:lnSpc>
              <a:spcPct val="90000"/>
            </a:lnSpc>
            <a:spcBef>
              <a:spcPct val="0"/>
            </a:spcBef>
            <a:spcAft>
              <a:spcPct val="35000"/>
            </a:spcAft>
            <a:buNone/>
          </a:pPr>
          <a:r>
            <a:rPr lang="en-US" sz="3600" kern="1200" dirty="0">
              <a:latin typeface="Segoe UI" panose="020B0502040204020203" pitchFamily="34" charset="0"/>
              <a:cs typeface="Segoe UI" panose="020B0502040204020203" pitchFamily="34" charset="0"/>
            </a:rPr>
            <a:t>Các service Azure </a:t>
          </a:r>
          <a:r>
            <a:rPr lang="en-US" sz="3600" kern="1200" dirty="0" err="1">
              <a:latin typeface="Segoe UI" panose="020B0502040204020203" pitchFamily="34" charset="0"/>
              <a:cs typeface="Segoe UI" panose="020B0502040204020203" pitchFamily="34" charset="0"/>
            </a:rPr>
            <a:t>chính</a:t>
          </a:r>
          <a:endParaRPr lang="en-US" sz="3600" kern="1200" dirty="0">
            <a:latin typeface="Segoe UI" panose="020B0502040204020203" pitchFamily="34" charset="0"/>
            <a:cs typeface="Segoe UI" panose="020B0502040204020203" pitchFamily="34" charset="0"/>
          </a:endParaRPr>
        </a:p>
      </dsp:txBody>
      <dsp:txXfrm>
        <a:off x="661478" y="3396597"/>
        <a:ext cx="8430644" cy="958964"/>
      </dsp:txXfrm>
    </dsp:sp>
    <dsp:sp modelId="{D1D02ACA-06B6-4E89-9B99-EBF0DA4AE658}">
      <dsp:nvSpPr>
        <dsp:cNvPr id="0" name=""/>
        <dsp:cNvSpPr/>
      </dsp:nvSpPr>
      <dsp:spPr>
        <a:xfrm>
          <a:off x="0" y="5509040"/>
          <a:ext cx="12192000" cy="907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4B2E9C2-E672-4F1D-AE0B-BA8DDCC4822D}">
      <dsp:nvSpPr>
        <dsp:cNvPr id="0" name=""/>
        <dsp:cNvSpPr/>
      </dsp:nvSpPr>
      <dsp:spPr>
        <a:xfrm>
          <a:off x="609600" y="4977680"/>
          <a:ext cx="8534400" cy="10627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600200">
            <a:lnSpc>
              <a:spcPct val="90000"/>
            </a:lnSpc>
            <a:spcBef>
              <a:spcPct val="0"/>
            </a:spcBef>
            <a:spcAft>
              <a:spcPct val="35000"/>
            </a:spcAft>
            <a:buNone/>
          </a:pPr>
          <a:r>
            <a:rPr lang="en-US" sz="3600" kern="1200" dirty="0">
              <a:latin typeface="Segoe UI" panose="020B0502040204020203" pitchFamily="34" charset="0"/>
              <a:cs typeface="Segoe UI" panose="020B0502040204020203" pitchFamily="34" charset="0"/>
            </a:rPr>
            <a:t>Hand on lab</a:t>
          </a:r>
        </a:p>
      </dsp:txBody>
      <dsp:txXfrm>
        <a:off x="661478" y="5029558"/>
        <a:ext cx="8430644" cy="958964"/>
      </dsp:txXfrm>
    </dsp:sp>
    <dsp:sp modelId="{48B0BA4C-7BD8-4289-AE1C-82C526859CC0}">
      <dsp:nvSpPr>
        <dsp:cNvPr id="0" name=""/>
        <dsp:cNvSpPr/>
      </dsp:nvSpPr>
      <dsp:spPr>
        <a:xfrm>
          <a:off x="0" y="7142000"/>
          <a:ext cx="12192000" cy="907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FC2A053-1B3B-4EDF-9999-71E25B4BA5C9}">
      <dsp:nvSpPr>
        <dsp:cNvPr id="0" name=""/>
        <dsp:cNvSpPr/>
      </dsp:nvSpPr>
      <dsp:spPr>
        <a:xfrm>
          <a:off x="609600" y="6610640"/>
          <a:ext cx="8534400" cy="10627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2580" tIns="0" rIns="322580" bIns="0" numCol="1" spcCol="1270" anchor="ctr" anchorCtr="0">
          <a:noAutofit/>
        </a:bodyPr>
        <a:lstStyle/>
        <a:p>
          <a:pPr marL="0" lvl="0" indent="0" algn="l" defTabSz="1600200">
            <a:lnSpc>
              <a:spcPct val="90000"/>
            </a:lnSpc>
            <a:spcBef>
              <a:spcPct val="0"/>
            </a:spcBef>
            <a:spcAft>
              <a:spcPct val="35000"/>
            </a:spcAft>
            <a:buNone/>
          </a:pPr>
          <a:r>
            <a:rPr lang="en-US" sz="3600" kern="1200" dirty="0">
              <a:latin typeface="Segoe UI" panose="020B0502040204020203" pitchFamily="34" charset="0"/>
              <a:cs typeface="Segoe UI" panose="020B0502040204020203" pitchFamily="34" charset="0"/>
            </a:rPr>
            <a:t>Deloy </a:t>
          </a:r>
          <a:r>
            <a:rPr lang="en-US" sz="3600" kern="1200" dirty="0" err="1">
              <a:latin typeface="Segoe UI" panose="020B0502040204020203" pitchFamily="34" charset="0"/>
              <a:cs typeface="Segoe UI" panose="020B0502040204020203" pitchFamily="34" charset="0"/>
            </a:rPr>
            <a:t>mô</a:t>
          </a:r>
          <a:r>
            <a:rPr lang="en-US" sz="3600" kern="1200" dirty="0">
              <a:latin typeface="Segoe UI" panose="020B0502040204020203" pitchFamily="34" charset="0"/>
              <a:cs typeface="Segoe UI" panose="020B0502040204020203" pitchFamily="34" charset="0"/>
            </a:rPr>
            <a:t> </a:t>
          </a:r>
          <a:r>
            <a:rPr lang="en-US" sz="3600" kern="1200" dirty="0" err="1">
              <a:latin typeface="Segoe UI" panose="020B0502040204020203" pitchFamily="34" charset="0"/>
              <a:cs typeface="Segoe UI" panose="020B0502040204020203" pitchFamily="34" charset="0"/>
            </a:rPr>
            <a:t>hình</a:t>
          </a:r>
          <a:r>
            <a:rPr lang="en-US" sz="3600" kern="1200" dirty="0">
              <a:latin typeface="Segoe UI" panose="020B0502040204020203" pitchFamily="34" charset="0"/>
              <a:cs typeface="Segoe UI" panose="020B0502040204020203" pitchFamily="34" charset="0"/>
            </a:rPr>
            <a:t> RAG </a:t>
          </a:r>
          <a:r>
            <a:rPr lang="en-US" sz="3600" kern="1200" dirty="0" err="1">
              <a:latin typeface="Segoe UI" panose="020B0502040204020203" pitchFamily="34" charset="0"/>
              <a:cs typeface="Segoe UI" panose="020B0502040204020203" pitchFamily="34" charset="0"/>
            </a:rPr>
            <a:t>thực</a:t>
          </a:r>
          <a:r>
            <a:rPr lang="en-US" sz="3600" kern="1200" dirty="0">
              <a:latin typeface="Segoe UI" panose="020B0502040204020203" pitchFamily="34" charset="0"/>
              <a:cs typeface="Segoe UI" panose="020B0502040204020203" pitchFamily="34" charset="0"/>
            </a:rPr>
            <a:t> </a:t>
          </a:r>
          <a:r>
            <a:rPr lang="en-US" sz="3600" kern="1200" dirty="0" err="1">
              <a:latin typeface="Segoe UI" panose="020B0502040204020203" pitchFamily="34" charset="0"/>
              <a:cs typeface="Segoe UI" panose="020B0502040204020203" pitchFamily="34" charset="0"/>
            </a:rPr>
            <a:t>tế</a:t>
          </a:r>
          <a:endParaRPr lang="en-US" sz="3600" kern="1200" dirty="0">
            <a:latin typeface="Segoe UI" panose="020B0502040204020203" pitchFamily="34" charset="0"/>
            <a:cs typeface="Segoe UI" panose="020B0502040204020203" pitchFamily="34" charset="0"/>
          </a:endParaRPr>
        </a:p>
      </dsp:txBody>
      <dsp:txXfrm>
        <a:off x="661478" y="6662518"/>
        <a:ext cx="8430644" cy="95896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427165-AAC2-4322-B323-DB99448CBA0D}" type="datetimeFigureOut">
              <a:rPr lang="en-US" smtClean="0"/>
              <a:t>4/11/2026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224020-3F5F-44AE-896D-09F0AE68775F}" type="slidenum">
              <a:rPr lang="en-US" smtClean="0"/>
              <a:t>‹#›</a:t>
            </a:fld>
            <a:endParaRPr lang="en-US"/>
          </a:p>
        </p:txBody>
      </p:sp>
    </p:spTree>
    <p:extLst>
      <p:ext uri="{BB962C8B-B14F-4D97-AF65-F5344CB8AC3E}">
        <p14:creationId xmlns:p14="http://schemas.microsoft.com/office/powerpoint/2010/main" val="949580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ts val="4200"/>
              </a:lnSpc>
            </a:pPr>
            <a:r>
              <a:rPr lang="en-US" sz="1200" spc="15" dirty="0" err="1">
                <a:solidFill>
                  <a:srgbClr val="000000"/>
                </a:solidFill>
                <a:latin typeface="Muli Light"/>
                <a:ea typeface="Muli Light"/>
                <a:cs typeface="Muli Light"/>
                <a:sym typeface="Muli Light"/>
              </a:rPr>
              <a:t>Việc</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tích</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hợp</a:t>
            </a:r>
            <a:r>
              <a:rPr lang="en-US" sz="1200" spc="15" dirty="0">
                <a:solidFill>
                  <a:srgbClr val="000000"/>
                </a:solidFill>
                <a:latin typeface="Muli Light"/>
                <a:ea typeface="Muli Light"/>
                <a:cs typeface="Muli Light"/>
                <a:sym typeface="Muli Light"/>
              </a:rPr>
              <a:t> AI </a:t>
            </a:r>
            <a:r>
              <a:rPr lang="en-US" sz="1200" spc="15" dirty="0" err="1">
                <a:solidFill>
                  <a:srgbClr val="000000"/>
                </a:solidFill>
                <a:latin typeface="Muli Light"/>
                <a:ea typeface="Muli Light"/>
                <a:cs typeface="Muli Light"/>
                <a:sym typeface="Muli Light"/>
              </a:rPr>
              <a:t>vào</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ứng</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dụng</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đang</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trờ</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thành</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nhu</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cầu</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cấp</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thiết</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cho</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mọi</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doanh</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nghiệp</a:t>
            </a:r>
            <a:endParaRPr lang="en-US" sz="1200" spc="15" dirty="0">
              <a:solidFill>
                <a:srgbClr val="000000"/>
              </a:solidFill>
              <a:latin typeface="Muli Light"/>
              <a:ea typeface="Muli Light"/>
              <a:cs typeface="Muli Light"/>
              <a:sym typeface="Muli Light"/>
            </a:endParaRPr>
          </a:p>
          <a:p>
            <a:pPr marL="457200" indent="-457200" algn="l">
              <a:lnSpc>
                <a:spcPts val="4200"/>
              </a:lnSpc>
              <a:buFont typeface="Arial" panose="020B0604020202020204" pitchFamily="34" charset="0"/>
              <a:buChar char="•"/>
            </a:pPr>
            <a:r>
              <a:rPr lang="en-US" sz="1200" spc="15" dirty="0">
                <a:solidFill>
                  <a:srgbClr val="000000"/>
                </a:solidFill>
                <a:latin typeface="Muli Light"/>
                <a:ea typeface="Muli Light"/>
                <a:cs typeface="Muli Light"/>
                <a:sym typeface="Muli Light"/>
              </a:rPr>
              <a:t>Chatbot &amp; </a:t>
            </a:r>
            <a:r>
              <a:rPr lang="en-US" sz="1200" spc="15" dirty="0" err="1">
                <a:solidFill>
                  <a:srgbClr val="000000"/>
                </a:solidFill>
                <a:latin typeface="Muli Light"/>
                <a:ea typeface="Muli Light"/>
                <a:cs typeface="Muli Light"/>
                <a:sym typeface="Muli Light"/>
              </a:rPr>
              <a:t>hỗ</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trợ</a:t>
            </a:r>
            <a:r>
              <a:rPr lang="en-US" sz="1200" spc="15" dirty="0">
                <a:solidFill>
                  <a:srgbClr val="000000"/>
                </a:solidFill>
                <a:latin typeface="Muli Light"/>
                <a:ea typeface="Muli Light"/>
                <a:cs typeface="Muli Light"/>
                <a:sym typeface="Muli Light"/>
              </a:rPr>
              <a:t> KH: </a:t>
            </a:r>
            <a:r>
              <a:rPr lang="en-US" sz="1200" spc="15" dirty="0" err="1">
                <a:solidFill>
                  <a:srgbClr val="000000"/>
                </a:solidFill>
                <a:latin typeface="Muli Light"/>
                <a:ea typeface="Muli Light"/>
                <a:cs typeface="Muli Light"/>
                <a:sym typeface="Muli Light"/>
              </a:rPr>
              <a:t>Tự</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động</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hóa</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trả</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lời</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thông</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minh</a:t>
            </a:r>
            <a:endParaRPr lang="en-US" sz="1200" spc="15" dirty="0">
              <a:solidFill>
                <a:srgbClr val="000000"/>
              </a:solidFill>
              <a:latin typeface="Muli Light"/>
              <a:ea typeface="Muli Light"/>
              <a:cs typeface="Muli Light"/>
              <a:sym typeface="Muli Light"/>
            </a:endParaRPr>
          </a:p>
          <a:p>
            <a:pPr marL="457200" indent="-457200" algn="l">
              <a:lnSpc>
                <a:spcPts val="4200"/>
              </a:lnSpc>
              <a:buFont typeface="Arial" panose="020B0604020202020204" pitchFamily="34" charset="0"/>
              <a:buChar char="•"/>
            </a:pPr>
            <a:r>
              <a:rPr lang="en-US" sz="1200" spc="15" dirty="0" err="1">
                <a:solidFill>
                  <a:srgbClr val="000000"/>
                </a:solidFill>
                <a:latin typeface="Muli Light"/>
                <a:ea typeface="Muli Light"/>
                <a:cs typeface="Muli Light"/>
                <a:sym typeface="Muli Light"/>
              </a:rPr>
              <a:t>Xử</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lý</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tài</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liệu</a:t>
            </a:r>
            <a:r>
              <a:rPr lang="en-US" sz="1200" spc="15" dirty="0">
                <a:solidFill>
                  <a:srgbClr val="000000"/>
                </a:solidFill>
                <a:latin typeface="Muli Light"/>
                <a:ea typeface="Muli Light"/>
                <a:cs typeface="Muli Light"/>
                <a:sym typeface="Muli Light"/>
              </a:rPr>
              <a:t>: OCR </a:t>
            </a:r>
            <a:r>
              <a:rPr lang="en-US" sz="1200" spc="15" dirty="0" err="1">
                <a:solidFill>
                  <a:srgbClr val="000000"/>
                </a:solidFill>
                <a:latin typeface="Muli Light"/>
                <a:ea typeface="Muli Light"/>
                <a:cs typeface="Muli Light"/>
                <a:sym typeface="Muli Light"/>
              </a:rPr>
              <a:t>hóa</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đơn</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nhập</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liệu</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tự</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động</a:t>
            </a:r>
            <a:endParaRPr lang="en-US" sz="1200" spc="15" dirty="0">
              <a:solidFill>
                <a:srgbClr val="000000"/>
              </a:solidFill>
              <a:latin typeface="Muli Light"/>
              <a:ea typeface="Muli Light"/>
              <a:cs typeface="Muli Light"/>
              <a:sym typeface="Muli Light"/>
            </a:endParaRPr>
          </a:p>
          <a:p>
            <a:pPr marL="457200" indent="-457200" algn="l">
              <a:lnSpc>
                <a:spcPts val="4200"/>
              </a:lnSpc>
              <a:buFont typeface="Arial" panose="020B0604020202020204" pitchFamily="34" charset="0"/>
              <a:buChar char="•"/>
            </a:pPr>
            <a:r>
              <a:rPr lang="en-US" sz="1200" spc="15" dirty="0" err="1">
                <a:solidFill>
                  <a:srgbClr val="000000"/>
                </a:solidFill>
                <a:latin typeface="Muli Light"/>
                <a:ea typeface="Muli Light"/>
                <a:cs typeface="Muli Light"/>
                <a:sym typeface="Muli Light"/>
              </a:rPr>
              <a:t>Kiểm</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duyệt</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nội</a:t>
            </a:r>
            <a:r>
              <a:rPr lang="en-US" sz="1200" spc="15" dirty="0">
                <a:solidFill>
                  <a:srgbClr val="000000"/>
                </a:solidFill>
                <a:latin typeface="Muli Light"/>
                <a:ea typeface="Muli Light"/>
                <a:cs typeface="Muli Light"/>
                <a:sym typeface="Muli Light"/>
              </a:rPr>
              <a:t> dung: </a:t>
            </a:r>
            <a:r>
              <a:rPr lang="en-US" sz="1200" spc="15" dirty="0" err="1">
                <a:solidFill>
                  <a:srgbClr val="000000"/>
                </a:solidFill>
                <a:latin typeface="Muli Light"/>
                <a:ea typeface="Muli Light"/>
                <a:cs typeface="Muli Light"/>
                <a:sym typeface="Muli Light"/>
              </a:rPr>
              <a:t>Lọc</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hình</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ảnh</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văn</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bản</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xấu</a:t>
            </a:r>
            <a:r>
              <a:rPr lang="en-US" sz="1200" spc="15" dirty="0">
                <a:solidFill>
                  <a:srgbClr val="000000"/>
                </a:solidFill>
                <a:latin typeface="Muli Light"/>
                <a:ea typeface="Muli Light"/>
                <a:cs typeface="Muli Light"/>
                <a:sym typeface="Muli Light"/>
              </a:rPr>
              <a:t> </a:t>
            </a:r>
          </a:p>
          <a:p>
            <a:pPr marL="457200" indent="-457200" algn="l">
              <a:lnSpc>
                <a:spcPts val="4200"/>
              </a:lnSpc>
              <a:buFont typeface="Arial" panose="020B0604020202020204" pitchFamily="34" charset="0"/>
              <a:buChar char="•"/>
            </a:pPr>
            <a:r>
              <a:rPr lang="en-US" sz="1200" spc="15" dirty="0" err="1">
                <a:solidFill>
                  <a:srgbClr val="000000"/>
                </a:solidFill>
                <a:latin typeface="Muli Light"/>
                <a:ea typeface="Muli Light"/>
                <a:cs typeface="Muli Light"/>
                <a:sym typeface="Muli Light"/>
              </a:rPr>
              <a:t>Gắn</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thẻ</a:t>
            </a:r>
            <a:r>
              <a:rPr lang="en-US" sz="1200" spc="15" dirty="0">
                <a:solidFill>
                  <a:srgbClr val="000000"/>
                </a:solidFill>
                <a:latin typeface="Muli Light"/>
                <a:ea typeface="Muli Light"/>
                <a:cs typeface="Muli Light"/>
                <a:sym typeface="Muli Light"/>
              </a:rPr>
              <a:t> , </a:t>
            </a:r>
            <a:r>
              <a:rPr lang="en-US" sz="1200" spc="15" dirty="0" err="1">
                <a:solidFill>
                  <a:srgbClr val="000000"/>
                </a:solidFill>
                <a:latin typeface="Muli Light"/>
                <a:ea typeface="Muli Light"/>
                <a:cs typeface="Muli Light"/>
                <a:sym typeface="Muli Light"/>
              </a:rPr>
              <a:t>phân</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loại</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sản</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phẩm</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phân</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tích</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cảm</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xúc</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từ</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bình</a:t>
            </a:r>
            <a:r>
              <a:rPr lang="en-US" sz="1200" spc="15" dirty="0">
                <a:solidFill>
                  <a:srgbClr val="000000"/>
                </a:solidFill>
                <a:latin typeface="Muli Light"/>
                <a:ea typeface="Muli Light"/>
                <a:cs typeface="Muli Light"/>
                <a:sym typeface="Muli Light"/>
              </a:rPr>
              <a:t> </a:t>
            </a:r>
            <a:r>
              <a:rPr lang="en-US" sz="1200" spc="15" dirty="0" err="1">
                <a:solidFill>
                  <a:srgbClr val="000000"/>
                </a:solidFill>
                <a:latin typeface="Muli Light"/>
                <a:ea typeface="Muli Light"/>
                <a:cs typeface="Muli Light"/>
                <a:sym typeface="Muli Light"/>
              </a:rPr>
              <a:t>luận</a:t>
            </a:r>
            <a:r>
              <a:rPr lang="en-US" sz="1200" spc="15" dirty="0">
                <a:solidFill>
                  <a:srgbClr val="000000"/>
                </a:solidFill>
                <a:latin typeface="Muli Light"/>
                <a:ea typeface="Muli Light"/>
                <a:cs typeface="Muli Light"/>
                <a:sym typeface="Muli Light"/>
              </a:rPr>
              <a:t> , ….</a:t>
            </a:r>
          </a:p>
          <a:p>
            <a:endParaRPr lang="en-US" dirty="0"/>
          </a:p>
          <a:p>
            <a:r>
              <a:rPr lang="en-US" dirty="0"/>
              <a:t>Tuy </a:t>
            </a:r>
            <a:r>
              <a:rPr lang="en-US" dirty="0" err="1"/>
              <a:t>nhiên</a:t>
            </a:r>
            <a:r>
              <a:rPr lang="en-US" dirty="0"/>
              <a:t> , </a:t>
            </a:r>
            <a:r>
              <a:rPr lang="en-US" dirty="0" err="1"/>
              <a:t>Nếu</a:t>
            </a:r>
            <a:r>
              <a:rPr lang="en-US" dirty="0"/>
              <a:t> </a:t>
            </a:r>
            <a:r>
              <a:rPr lang="en-US" dirty="0" err="1"/>
              <a:t>xây</a:t>
            </a:r>
            <a:r>
              <a:rPr lang="en-US" dirty="0"/>
              <a:t> </a:t>
            </a:r>
            <a:r>
              <a:rPr lang="en-US" dirty="0" err="1"/>
              <a:t>dựng</a:t>
            </a:r>
            <a:r>
              <a:rPr lang="en-US" dirty="0"/>
              <a:t> </a:t>
            </a:r>
            <a:r>
              <a:rPr lang="en-US" dirty="0" err="1"/>
              <a:t>mô</a:t>
            </a:r>
            <a:r>
              <a:rPr lang="en-US" dirty="0"/>
              <a:t> </a:t>
            </a:r>
            <a:r>
              <a:rPr lang="en-US" dirty="0" err="1"/>
              <a:t>hình</a:t>
            </a:r>
            <a:r>
              <a:rPr lang="en-US" dirty="0"/>
              <a:t> AI </a:t>
            </a:r>
            <a:r>
              <a:rPr lang="en-US" dirty="0" err="1"/>
              <a:t>từ</a:t>
            </a:r>
            <a:r>
              <a:rPr lang="en-US" dirty="0"/>
              <a:t> </a:t>
            </a:r>
            <a:r>
              <a:rPr lang="en-US" dirty="0" err="1"/>
              <a:t>đàu</a:t>
            </a:r>
            <a:r>
              <a:rPr lang="en-US" dirty="0"/>
              <a:t> </a:t>
            </a:r>
            <a:r>
              <a:rPr lang="en-US" dirty="0" err="1"/>
              <a:t>thì</a:t>
            </a:r>
            <a:r>
              <a:rPr lang="en-US" dirty="0"/>
              <a:t> </a:t>
            </a:r>
            <a:r>
              <a:rPr lang="en-US" dirty="0" err="1"/>
              <a:t>cần</a:t>
            </a:r>
            <a:r>
              <a:rPr lang="en-US" dirty="0"/>
              <a:t> </a:t>
            </a:r>
            <a:r>
              <a:rPr lang="en-US" dirty="0" err="1"/>
              <a:t>rất</a:t>
            </a:r>
            <a:r>
              <a:rPr lang="en-US" dirty="0"/>
              <a:t> </a:t>
            </a:r>
            <a:r>
              <a:rPr lang="en-US" dirty="0" err="1"/>
              <a:t>nhiều</a:t>
            </a:r>
            <a:r>
              <a:rPr lang="en-US" dirty="0"/>
              <a:t> </a:t>
            </a:r>
            <a:r>
              <a:rPr lang="en-US" dirty="0" err="1"/>
              <a:t>dữ</a:t>
            </a:r>
            <a:r>
              <a:rPr lang="en-US" dirty="0"/>
              <a:t> </a:t>
            </a:r>
            <a:r>
              <a:rPr lang="en-US" dirty="0" err="1"/>
              <a:t>liệu</a:t>
            </a:r>
            <a:r>
              <a:rPr lang="en-US" dirty="0"/>
              <a:t>, </a:t>
            </a:r>
            <a:r>
              <a:rPr lang="en-US" dirty="0" err="1"/>
              <a:t>đội</a:t>
            </a:r>
            <a:r>
              <a:rPr lang="en-US" dirty="0"/>
              <a:t> </a:t>
            </a:r>
            <a:r>
              <a:rPr lang="en-US" dirty="0" err="1"/>
              <a:t>ngũ</a:t>
            </a:r>
            <a:r>
              <a:rPr lang="en-US" dirty="0"/>
              <a:t> ML </a:t>
            </a:r>
            <a:r>
              <a:rPr lang="en-US" dirty="0" err="1"/>
              <a:t>chuyên</a:t>
            </a:r>
            <a:r>
              <a:rPr lang="en-US" dirty="0"/>
              <a:t> </a:t>
            </a:r>
            <a:r>
              <a:rPr lang="en-US" dirty="0" err="1"/>
              <a:t>sâu</a:t>
            </a:r>
            <a:r>
              <a:rPr lang="en-US" dirty="0"/>
              <a:t> </a:t>
            </a:r>
            <a:r>
              <a:rPr lang="en-US" dirty="0" err="1"/>
              <a:t>và</a:t>
            </a:r>
            <a:r>
              <a:rPr lang="en-US" dirty="0"/>
              <a:t> </a:t>
            </a:r>
            <a:r>
              <a:rPr lang="en-US" dirty="0" err="1"/>
              <a:t>rất</a:t>
            </a:r>
            <a:r>
              <a:rPr lang="en-US" dirty="0"/>
              <a:t> </a:t>
            </a:r>
            <a:r>
              <a:rPr lang="en-US" dirty="0" err="1"/>
              <a:t>nhiều</a:t>
            </a:r>
            <a:r>
              <a:rPr lang="en-US" dirty="0"/>
              <a:t> </a:t>
            </a:r>
            <a:r>
              <a:rPr lang="en-US" dirty="0" err="1"/>
              <a:t>thời</a:t>
            </a:r>
            <a:r>
              <a:rPr lang="en-US" dirty="0"/>
              <a:t> </a:t>
            </a:r>
            <a:r>
              <a:rPr lang="en-US" dirty="0" err="1"/>
              <a:t>gian</a:t>
            </a:r>
            <a:r>
              <a:rPr lang="en-US" dirty="0"/>
              <a:t> </a:t>
            </a:r>
            <a:r>
              <a:rPr lang="en-US" dirty="0" err="1"/>
              <a:t>và</a:t>
            </a:r>
            <a:r>
              <a:rPr lang="en-US" dirty="0"/>
              <a:t> chi </a:t>
            </a:r>
            <a:r>
              <a:rPr lang="en-US" dirty="0" err="1"/>
              <a:t>phí</a:t>
            </a:r>
            <a:r>
              <a:rPr lang="en-US" dirty="0"/>
              <a:t> </a:t>
            </a:r>
            <a:r>
              <a:rPr lang="en-US" dirty="0" err="1"/>
              <a:t>để</a:t>
            </a:r>
            <a:r>
              <a:rPr lang="en-US" dirty="0"/>
              <a:t> </a:t>
            </a:r>
            <a:r>
              <a:rPr lang="en-US" dirty="0" err="1"/>
              <a:t>đào</a:t>
            </a:r>
            <a:r>
              <a:rPr lang="en-US" dirty="0"/>
              <a:t> </a:t>
            </a:r>
            <a:r>
              <a:rPr lang="en-US" dirty="0" err="1"/>
              <a:t>tạo</a:t>
            </a:r>
            <a:r>
              <a:rPr lang="en-US" dirty="0"/>
              <a:t> </a:t>
            </a:r>
            <a:r>
              <a:rPr lang="en-US" dirty="0" err="1"/>
              <a:t>và</a:t>
            </a:r>
            <a:r>
              <a:rPr lang="en-US" dirty="0"/>
              <a:t> </a:t>
            </a:r>
            <a:r>
              <a:rPr lang="en-US" dirty="0" err="1"/>
              <a:t>duy</a:t>
            </a:r>
            <a:r>
              <a:rPr lang="en-US" dirty="0"/>
              <a:t> </a:t>
            </a:r>
            <a:r>
              <a:rPr lang="en-US" dirty="0" err="1"/>
              <a:t>trì</a:t>
            </a:r>
            <a:r>
              <a:rPr lang="en-US" dirty="0"/>
              <a:t> </a:t>
            </a:r>
            <a:r>
              <a:rPr lang="en-US" dirty="0" err="1"/>
              <a:t>mô</a:t>
            </a:r>
            <a:r>
              <a:rPr lang="en-US" dirty="0"/>
              <a:t> </a:t>
            </a:r>
            <a:r>
              <a:rPr lang="en-US" dirty="0" err="1"/>
              <a:t>hình</a:t>
            </a:r>
            <a:r>
              <a:rPr lang="en-US" dirty="0"/>
              <a:t>.</a:t>
            </a:r>
          </a:p>
          <a:p>
            <a:r>
              <a:rPr lang="en-US" dirty="0" err="1"/>
              <a:t>Và</a:t>
            </a:r>
            <a:r>
              <a:rPr lang="en-US" dirty="0"/>
              <a:t> </a:t>
            </a:r>
            <a:r>
              <a:rPr lang="en-US" dirty="0" err="1"/>
              <a:t>đây</a:t>
            </a:r>
            <a:r>
              <a:rPr lang="en-US" dirty="0"/>
              <a:t> </a:t>
            </a:r>
            <a:r>
              <a:rPr lang="en-US" dirty="0" err="1"/>
              <a:t>chính</a:t>
            </a:r>
            <a:r>
              <a:rPr lang="en-US" dirty="0"/>
              <a:t> </a:t>
            </a:r>
            <a:r>
              <a:rPr lang="en-US" dirty="0" err="1"/>
              <a:t>là</a:t>
            </a:r>
            <a:r>
              <a:rPr lang="en-US" dirty="0"/>
              <a:t> </a:t>
            </a:r>
            <a:r>
              <a:rPr lang="en-US" dirty="0" err="1"/>
              <a:t>lí</a:t>
            </a:r>
            <a:r>
              <a:rPr lang="en-US" dirty="0"/>
              <a:t> do Azure AI </a:t>
            </a:r>
            <a:r>
              <a:rPr lang="en-US" dirty="0" err="1"/>
              <a:t>ra</a:t>
            </a:r>
            <a:r>
              <a:rPr lang="en-US" dirty="0"/>
              <a:t> </a:t>
            </a:r>
            <a:r>
              <a:rPr lang="en-US" dirty="0" err="1"/>
              <a:t>đời</a:t>
            </a:r>
            <a:r>
              <a:rPr lang="en-US" dirty="0"/>
              <a:t>. </a:t>
            </a:r>
          </a:p>
          <a:p>
            <a:r>
              <a:rPr lang="en-US" dirty="0"/>
              <a:t>Thay </a:t>
            </a:r>
            <a:r>
              <a:rPr lang="en-US" dirty="0" err="1"/>
              <a:t>vì</a:t>
            </a:r>
            <a:r>
              <a:rPr lang="en-US" dirty="0"/>
              <a:t> </a:t>
            </a:r>
            <a:r>
              <a:rPr lang="en-US" dirty="0" err="1"/>
              <a:t>xây</a:t>
            </a:r>
            <a:r>
              <a:rPr lang="en-US" dirty="0"/>
              <a:t> </a:t>
            </a:r>
            <a:r>
              <a:rPr lang="en-US" dirty="0" err="1"/>
              <a:t>dựng</a:t>
            </a:r>
            <a:r>
              <a:rPr lang="en-US" dirty="0"/>
              <a:t> </a:t>
            </a:r>
            <a:r>
              <a:rPr lang="en-US" dirty="0" err="1"/>
              <a:t>từ</a:t>
            </a:r>
            <a:r>
              <a:rPr lang="en-US" dirty="0"/>
              <a:t> </a:t>
            </a:r>
            <a:r>
              <a:rPr lang="en-US" dirty="0" err="1"/>
              <a:t>đầu</a:t>
            </a:r>
            <a:r>
              <a:rPr lang="en-US" dirty="0"/>
              <a:t> </a:t>
            </a:r>
            <a:r>
              <a:rPr lang="en-US" dirty="0" err="1"/>
              <a:t>thì</a:t>
            </a:r>
            <a:r>
              <a:rPr lang="en-US" dirty="0"/>
              <a:t> </a:t>
            </a:r>
            <a:r>
              <a:rPr lang="vi-VN" dirty="0"/>
              <a:t>Azure cung cấp các dịch vụ AI đã được xây dựng sẵn</a:t>
            </a:r>
            <a:r>
              <a:rPr lang="en-US" dirty="0"/>
              <a:t>. </a:t>
            </a:r>
            <a:r>
              <a:rPr lang="en-US" dirty="0" err="1"/>
              <a:t>chỉ</a:t>
            </a:r>
            <a:r>
              <a:rPr lang="en-US" dirty="0"/>
              <a:t> </a:t>
            </a:r>
            <a:r>
              <a:rPr lang="en-US" dirty="0" err="1"/>
              <a:t>cần</a:t>
            </a:r>
            <a:r>
              <a:rPr lang="en-US" dirty="0"/>
              <a:t> </a:t>
            </a:r>
            <a:r>
              <a:rPr lang="en-US" dirty="0" err="1"/>
              <a:t>gọi</a:t>
            </a:r>
            <a:r>
              <a:rPr lang="en-US" dirty="0"/>
              <a:t> API </a:t>
            </a:r>
            <a:r>
              <a:rPr lang="en-US" dirty="0" err="1"/>
              <a:t>là</a:t>
            </a:r>
            <a:r>
              <a:rPr lang="en-US" dirty="0"/>
              <a:t> </a:t>
            </a:r>
            <a:r>
              <a:rPr lang="en-US" dirty="0" err="1"/>
              <a:t>có</a:t>
            </a:r>
            <a:r>
              <a:rPr lang="en-US" dirty="0"/>
              <a:t> </a:t>
            </a:r>
            <a:r>
              <a:rPr lang="en-US" dirty="0" err="1"/>
              <a:t>thể</a:t>
            </a:r>
            <a:r>
              <a:rPr lang="en-US" dirty="0"/>
              <a:t> </a:t>
            </a:r>
            <a:r>
              <a:rPr lang="en-US" dirty="0" err="1"/>
              <a:t>tích</a:t>
            </a:r>
            <a:r>
              <a:rPr lang="en-US" dirty="0"/>
              <a:t> </a:t>
            </a:r>
            <a:r>
              <a:rPr lang="en-US" dirty="0" err="1"/>
              <a:t>hợp</a:t>
            </a:r>
            <a:r>
              <a:rPr lang="en-US" dirty="0"/>
              <a:t> AI </a:t>
            </a:r>
            <a:r>
              <a:rPr lang="en-US" dirty="0" err="1"/>
              <a:t>vào</a:t>
            </a:r>
            <a:r>
              <a:rPr lang="en-US" dirty="0"/>
              <a:t> </a:t>
            </a:r>
            <a:r>
              <a:rPr lang="en-US" dirty="0" err="1"/>
              <a:t>ứng</a:t>
            </a:r>
            <a:r>
              <a:rPr lang="en-US" dirty="0"/>
              <a:t> </a:t>
            </a:r>
            <a:r>
              <a:rPr lang="en-US" dirty="0" err="1"/>
              <a:t>dụng</a:t>
            </a:r>
            <a:endParaRPr lang="en-US" dirty="0"/>
          </a:p>
        </p:txBody>
      </p:sp>
      <p:sp>
        <p:nvSpPr>
          <p:cNvPr id="4" name="Slide Number Placeholder 3"/>
          <p:cNvSpPr>
            <a:spLocks noGrp="1"/>
          </p:cNvSpPr>
          <p:nvPr>
            <p:ph type="sldNum" sz="quarter" idx="5"/>
          </p:nvPr>
        </p:nvSpPr>
        <p:spPr/>
        <p:txBody>
          <a:bodyPr/>
          <a:lstStyle/>
          <a:p>
            <a:fld id="{42224020-3F5F-44AE-896D-09F0AE68775F}" type="slidenum">
              <a:rPr lang="en-US" smtClean="0"/>
              <a:t>3</a:t>
            </a:fld>
            <a:endParaRPr lang="en-US"/>
          </a:p>
        </p:txBody>
      </p:sp>
    </p:spTree>
    <p:extLst>
      <p:ext uri="{BB962C8B-B14F-4D97-AF65-F5344CB8AC3E}">
        <p14:creationId xmlns:p14="http://schemas.microsoft.com/office/powerpoint/2010/main" val="19775841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Để</a:t>
            </a:r>
            <a:r>
              <a:rPr lang="en-US" dirty="0"/>
              <a:t> </a:t>
            </a:r>
            <a:r>
              <a:rPr lang="en-US" dirty="0" err="1"/>
              <a:t>hiểu</a:t>
            </a:r>
            <a:r>
              <a:rPr lang="en-US" dirty="0"/>
              <a:t> Azure AI, </a:t>
            </a:r>
            <a:r>
              <a:rPr lang="en-US" dirty="0" err="1"/>
              <a:t>mình</a:t>
            </a:r>
            <a:r>
              <a:rPr lang="en-US" dirty="0"/>
              <a:t> </a:t>
            </a:r>
            <a:r>
              <a:rPr lang="en-US" dirty="0" err="1"/>
              <a:t>không</a:t>
            </a:r>
            <a:r>
              <a:rPr lang="en-US" dirty="0"/>
              <a:t> </a:t>
            </a:r>
            <a:r>
              <a:rPr lang="en-US" dirty="0" err="1"/>
              <a:t>nên</a:t>
            </a:r>
            <a:r>
              <a:rPr lang="en-US" dirty="0"/>
              <a:t> </a:t>
            </a:r>
            <a:r>
              <a:rPr lang="en-US" dirty="0" err="1"/>
              <a:t>nhìn</a:t>
            </a:r>
            <a:r>
              <a:rPr lang="en-US" dirty="0"/>
              <a:t> </a:t>
            </a:r>
            <a:r>
              <a:rPr lang="en-US" dirty="0" err="1"/>
              <a:t>từng</a:t>
            </a:r>
            <a:r>
              <a:rPr lang="en-US" dirty="0"/>
              <a:t> service </a:t>
            </a:r>
            <a:r>
              <a:rPr lang="en-US" dirty="0" err="1"/>
              <a:t>riêng</a:t>
            </a:r>
            <a:r>
              <a:rPr lang="en-US" dirty="0"/>
              <a:t> </a:t>
            </a:r>
            <a:r>
              <a:rPr lang="en-US" dirty="0" err="1"/>
              <a:t>lẻ</a:t>
            </a:r>
            <a:r>
              <a:rPr lang="en-US" dirty="0"/>
              <a:t>. </a:t>
            </a:r>
            <a:r>
              <a:rPr lang="vi-VN" dirty="0"/>
              <a:t>Mà nên nhìn nó như một hệ sinh thái, nơi các dịch vụ phối hợp với nhau để giải quyết một bài toán hoàn chỉnh</a:t>
            </a:r>
            <a:endParaRPr lang="en-US" dirty="0"/>
          </a:p>
          <a:p>
            <a:r>
              <a:rPr lang="en-US" dirty="0" err="1"/>
              <a:t>Ví</a:t>
            </a:r>
            <a:r>
              <a:rPr lang="en-US" dirty="0"/>
              <a:t> </a:t>
            </a:r>
            <a:r>
              <a:rPr lang="en-US" dirty="0" err="1"/>
              <a:t>dụ</a:t>
            </a:r>
            <a:r>
              <a:rPr lang="en-US" dirty="0"/>
              <a:t> </a:t>
            </a:r>
            <a:r>
              <a:rPr lang="en-US" dirty="0" err="1"/>
              <a:t>một</a:t>
            </a:r>
            <a:r>
              <a:rPr lang="en-US" dirty="0"/>
              <a:t> </a:t>
            </a:r>
            <a:r>
              <a:rPr lang="en-US" dirty="0" err="1"/>
              <a:t>luồng</a:t>
            </a:r>
            <a:r>
              <a:rPr lang="en-US" dirty="0"/>
              <a:t> </a:t>
            </a:r>
            <a:r>
              <a:rPr lang="en-US" dirty="0" err="1"/>
              <a:t>xử</a:t>
            </a:r>
            <a:r>
              <a:rPr lang="en-US" dirty="0"/>
              <a:t> </a:t>
            </a:r>
            <a:r>
              <a:rPr lang="en-US" dirty="0" err="1"/>
              <a:t>lý</a:t>
            </a:r>
            <a:r>
              <a:rPr lang="en-US" dirty="0"/>
              <a:t> </a:t>
            </a:r>
            <a:r>
              <a:rPr lang="en-US" dirty="0" err="1"/>
              <a:t>phổ</a:t>
            </a:r>
            <a:r>
              <a:rPr lang="en-US" dirty="0"/>
              <a:t> </a:t>
            </a:r>
            <a:r>
              <a:rPr lang="en-US" dirty="0" err="1"/>
              <a:t>biến</a:t>
            </a:r>
            <a:r>
              <a:rPr lang="en-US" dirty="0"/>
              <a:t> </a:t>
            </a:r>
            <a:r>
              <a:rPr lang="en-US" dirty="0" err="1"/>
              <a:t>sẽ</a:t>
            </a:r>
            <a:r>
              <a:rPr lang="en-US" dirty="0"/>
              <a:t> </a:t>
            </a:r>
            <a:r>
              <a:rPr lang="en-US" dirty="0" err="1"/>
              <a:t>là</a:t>
            </a:r>
            <a:r>
              <a:rPr lang="en-US" dirty="0"/>
              <a:t>:</a:t>
            </a:r>
          </a:p>
          <a:p>
            <a:r>
              <a:rPr lang="en-US" dirty="0" err="1"/>
              <a:t>Đầu</a:t>
            </a:r>
            <a:r>
              <a:rPr lang="en-US" dirty="0"/>
              <a:t> </a:t>
            </a:r>
            <a:r>
              <a:rPr lang="en-US" dirty="0" err="1"/>
              <a:t>tiên</a:t>
            </a:r>
            <a:r>
              <a:rPr lang="en-US" dirty="0"/>
              <a:t>, </a:t>
            </a:r>
            <a:r>
              <a:rPr lang="en-US" dirty="0" err="1"/>
              <a:t>dữ</a:t>
            </a:r>
            <a:r>
              <a:rPr lang="en-US" dirty="0"/>
              <a:t> </a:t>
            </a:r>
            <a:r>
              <a:rPr lang="en-US" dirty="0" err="1"/>
              <a:t>liệu</a:t>
            </a:r>
            <a:r>
              <a:rPr lang="en-US" dirty="0"/>
              <a:t> </a:t>
            </a:r>
            <a:r>
              <a:rPr lang="en-US" dirty="0" err="1"/>
              <a:t>đầu</a:t>
            </a:r>
            <a:r>
              <a:rPr lang="en-US" dirty="0"/>
              <a:t> </a:t>
            </a:r>
            <a:r>
              <a:rPr lang="en-US" dirty="0" err="1"/>
              <a:t>vào</a:t>
            </a:r>
            <a:r>
              <a:rPr lang="en-US" dirty="0"/>
              <a:t> </a:t>
            </a:r>
            <a:r>
              <a:rPr lang="en-US" dirty="0" err="1"/>
              <a:t>có</a:t>
            </a:r>
            <a:r>
              <a:rPr lang="en-US" dirty="0"/>
              <a:t> </a:t>
            </a:r>
            <a:r>
              <a:rPr lang="en-US" dirty="0" err="1"/>
              <a:t>thể</a:t>
            </a:r>
            <a:r>
              <a:rPr lang="en-US" dirty="0"/>
              <a:t> </a:t>
            </a:r>
            <a:r>
              <a:rPr lang="en-US" dirty="0" err="1"/>
              <a:t>là</a:t>
            </a:r>
            <a:r>
              <a:rPr lang="en-US" dirty="0"/>
              <a:t> </a:t>
            </a:r>
            <a:r>
              <a:rPr lang="en-US" dirty="0" err="1"/>
              <a:t>hình</a:t>
            </a:r>
            <a:r>
              <a:rPr lang="en-US" dirty="0"/>
              <a:t> </a:t>
            </a:r>
            <a:r>
              <a:rPr lang="en-US" dirty="0" err="1"/>
              <a:t>ảnh</a:t>
            </a:r>
            <a:r>
              <a:rPr lang="en-US" dirty="0"/>
              <a:t>, </a:t>
            </a:r>
            <a:r>
              <a:rPr lang="en-US" dirty="0" err="1"/>
              <a:t>văn</a:t>
            </a:r>
            <a:r>
              <a:rPr lang="en-US" dirty="0"/>
              <a:t> </a:t>
            </a:r>
            <a:r>
              <a:rPr lang="en-US" dirty="0" err="1"/>
              <a:t>bản</a:t>
            </a:r>
            <a:r>
              <a:rPr lang="en-US" dirty="0"/>
              <a:t> </a:t>
            </a:r>
            <a:r>
              <a:rPr lang="en-US" dirty="0" err="1"/>
              <a:t>hoặc</a:t>
            </a:r>
            <a:r>
              <a:rPr lang="en-US" dirty="0"/>
              <a:t> </a:t>
            </a:r>
            <a:r>
              <a:rPr lang="en-US" dirty="0" err="1"/>
              <a:t>tài</a:t>
            </a:r>
            <a:r>
              <a:rPr lang="en-US" dirty="0"/>
              <a:t> </a:t>
            </a:r>
            <a:r>
              <a:rPr lang="en-US" dirty="0" err="1"/>
              <a:t>liệu</a:t>
            </a:r>
            <a:r>
              <a:rPr lang="en-US" dirty="0"/>
              <a:t>…</a:t>
            </a:r>
          </a:p>
          <a:p>
            <a:r>
              <a:rPr lang="en-US" dirty="0" err="1"/>
              <a:t>Chúng</a:t>
            </a:r>
            <a:r>
              <a:rPr lang="en-US" dirty="0"/>
              <a:t> ta </a:t>
            </a:r>
            <a:r>
              <a:rPr lang="en-US" dirty="0" err="1"/>
              <a:t>dùng</a:t>
            </a:r>
            <a:r>
              <a:rPr lang="en-US" dirty="0"/>
              <a:t> </a:t>
            </a:r>
            <a:r>
              <a:rPr lang="en-US" b="1" dirty="0"/>
              <a:t>Vision</a:t>
            </a:r>
            <a:r>
              <a:rPr lang="en-US" dirty="0"/>
              <a:t> </a:t>
            </a:r>
            <a:r>
              <a:rPr lang="en-US" dirty="0" err="1"/>
              <a:t>hoặc</a:t>
            </a:r>
            <a:r>
              <a:rPr lang="en-US" dirty="0"/>
              <a:t> </a:t>
            </a:r>
            <a:r>
              <a:rPr lang="en-US" b="1" dirty="0"/>
              <a:t>Document Intelligence</a:t>
            </a:r>
            <a:r>
              <a:rPr lang="en-US" dirty="0"/>
              <a:t> </a:t>
            </a:r>
            <a:r>
              <a:rPr lang="en-US" dirty="0" err="1"/>
              <a:t>để</a:t>
            </a:r>
            <a:r>
              <a:rPr lang="en-US" dirty="0"/>
              <a:t> </a:t>
            </a:r>
            <a:r>
              <a:rPr lang="en-US" dirty="0" err="1"/>
              <a:t>trích</a:t>
            </a:r>
            <a:r>
              <a:rPr lang="en-US" dirty="0"/>
              <a:t> </a:t>
            </a:r>
            <a:r>
              <a:rPr lang="en-US" dirty="0" err="1"/>
              <a:t>xuất</a:t>
            </a:r>
            <a:r>
              <a:rPr lang="en-US" dirty="0"/>
              <a:t> </a:t>
            </a:r>
            <a:r>
              <a:rPr lang="en-US" dirty="0" err="1"/>
              <a:t>thông</a:t>
            </a:r>
            <a:r>
              <a:rPr lang="en-US" dirty="0"/>
              <a:t> tin . </a:t>
            </a:r>
            <a:r>
              <a:rPr lang="en-US" dirty="0" err="1">
                <a:solidFill>
                  <a:srgbClr val="1F1F1F"/>
                </a:solidFill>
                <a:effectLst/>
                <a:latin typeface="Google Sans Text"/>
              </a:rPr>
              <a:t>Chuyển</a:t>
            </a:r>
            <a:r>
              <a:rPr lang="en-US" dirty="0">
                <a:solidFill>
                  <a:srgbClr val="1F1F1F"/>
                </a:solidFill>
                <a:effectLst/>
                <a:latin typeface="Google Sans Text"/>
              </a:rPr>
              <a:t> </a:t>
            </a:r>
            <a:r>
              <a:rPr lang="en-US" dirty="0" err="1">
                <a:solidFill>
                  <a:srgbClr val="1F1F1F"/>
                </a:solidFill>
                <a:effectLst/>
                <a:latin typeface="Google Sans Text"/>
              </a:rPr>
              <a:t>hình</a:t>
            </a:r>
            <a:r>
              <a:rPr lang="en-US" dirty="0">
                <a:solidFill>
                  <a:srgbClr val="1F1F1F"/>
                </a:solidFill>
                <a:effectLst/>
                <a:latin typeface="Google Sans Text"/>
              </a:rPr>
              <a:t> </a:t>
            </a:r>
            <a:r>
              <a:rPr lang="en-US" dirty="0" err="1">
                <a:solidFill>
                  <a:srgbClr val="1F1F1F"/>
                </a:solidFill>
                <a:effectLst/>
                <a:latin typeface="Google Sans Text"/>
              </a:rPr>
              <a:t>ảnh</a:t>
            </a:r>
            <a:r>
              <a:rPr lang="en-US" dirty="0">
                <a:solidFill>
                  <a:srgbClr val="1F1F1F"/>
                </a:solidFill>
                <a:effectLst/>
                <a:latin typeface="Google Sans Text"/>
              </a:rPr>
              <a:t>/</a:t>
            </a:r>
            <a:r>
              <a:rPr lang="en-US" dirty="0" err="1">
                <a:solidFill>
                  <a:srgbClr val="1F1F1F"/>
                </a:solidFill>
                <a:effectLst/>
                <a:latin typeface="Google Sans Text"/>
              </a:rPr>
              <a:t>giấy</a:t>
            </a:r>
            <a:r>
              <a:rPr lang="en-US" dirty="0">
                <a:solidFill>
                  <a:srgbClr val="1F1F1F"/>
                </a:solidFill>
                <a:effectLst/>
                <a:latin typeface="Google Sans Text"/>
              </a:rPr>
              <a:t> </a:t>
            </a:r>
            <a:r>
              <a:rPr lang="en-US" dirty="0" err="1">
                <a:solidFill>
                  <a:srgbClr val="1F1F1F"/>
                </a:solidFill>
                <a:effectLst/>
                <a:latin typeface="Google Sans Text"/>
              </a:rPr>
              <a:t>tờ</a:t>
            </a:r>
            <a:r>
              <a:rPr lang="en-US" dirty="0">
                <a:solidFill>
                  <a:srgbClr val="1F1F1F"/>
                </a:solidFill>
                <a:effectLst/>
                <a:latin typeface="Google Sans Text"/>
              </a:rPr>
              <a:t> </a:t>
            </a:r>
            <a:r>
              <a:rPr lang="en-US" dirty="0" err="1">
                <a:solidFill>
                  <a:srgbClr val="1F1F1F"/>
                </a:solidFill>
                <a:effectLst/>
                <a:latin typeface="Google Sans Text"/>
              </a:rPr>
              <a:t>thành</a:t>
            </a:r>
            <a:r>
              <a:rPr lang="en-US" dirty="0">
                <a:solidFill>
                  <a:srgbClr val="1F1F1F"/>
                </a:solidFill>
                <a:effectLst/>
                <a:latin typeface="Google Sans Text"/>
              </a:rPr>
              <a:t> </a:t>
            </a:r>
            <a:r>
              <a:rPr lang="en-US" dirty="0" err="1">
                <a:solidFill>
                  <a:srgbClr val="1F1F1F"/>
                </a:solidFill>
                <a:effectLst/>
                <a:latin typeface="Google Sans Text"/>
              </a:rPr>
              <a:t>dữ</a:t>
            </a:r>
            <a:r>
              <a:rPr lang="en-US" dirty="0">
                <a:solidFill>
                  <a:srgbClr val="1F1F1F"/>
                </a:solidFill>
                <a:effectLst/>
                <a:latin typeface="Google Sans Text"/>
              </a:rPr>
              <a:t> </a:t>
            </a:r>
            <a:r>
              <a:rPr lang="en-US" dirty="0" err="1">
                <a:solidFill>
                  <a:srgbClr val="1F1F1F"/>
                </a:solidFill>
                <a:effectLst/>
                <a:latin typeface="Google Sans Text"/>
              </a:rPr>
              <a:t>liệu</a:t>
            </a:r>
            <a:r>
              <a:rPr lang="en-US" dirty="0">
                <a:solidFill>
                  <a:srgbClr val="1F1F1F"/>
                </a:solidFill>
                <a:effectLst/>
                <a:latin typeface="Google Sans Text"/>
              </a:rPr>
              <a:t> </a:t>
            </a:r>
            <a:r>
              <a:rPr lang="en-US" dirty="0" err="1">
                <a:solidFill>
                  <a:srgbClr val="1F1F1F"/>
                </a:solidFill>
                <a:effectLst/>
                <a:latin typeface="Google Sans Text"/>
              </a:rPr>
              <a:t>máy</a:t>
            </a:r>
            <a:r>
              <a:rPr lang="en-US" dirty="0">
                <a:solidFill>
                  <a:srgbClr val="1F1F1F"/>
                </a:solidFill>
                <a:effectLst/>
                <a:latin typeface="Google Sans Text"/>
              </a:rPr>
              <a:t> </a:t>
            </a:r>
            <a:r>
              <a:rPr lang="en-US" dirty="0" err="1">
                <a:solidFill>
                  <a:srgbClr val="1F1F1F"/>
                </a:solidFill>
                <a:effectLst/>
                <a:latin typeface="Google Sans Text"/>
              </a:rPr>
              <a:t>tính</a:t>
            </a:r>
            <a:r>
              <a:rPr lang="en-US" dirty="0">
                <a:solidFill>
                  <a:srgbClr val="1F1F1F"/>
                </a:solidFill>
                <a:effectLst/>
                <a:latin typeface="Google Sans Text"/>
              </a:rPr>
              <a:t> </a:t>
            </a:r>
            <a:r>
              <a:rPr lang="en-US" dirty="0" err="1">
                <a:solidFill>
                  <a:srgbClr val="1F1F1F"/>
                </a:solidFill>
                <a:effectLst/>
                <a:latin typeface="Google Sans Text"/>
              </a:rPr>
              <a:t>có</a:t>
            </a:r>
            <a:r>
              <a:rPr lang="en-US" dirty="0">
                <a:solidFill>
                  <a:srgbClr val="1F1F1F"/>
                </a:solidFill>
                <a:effectLst/>
                <a:latin typeface="Google Sans Text"/>
              </a:rPr>
              <a:t> </a:t>
            </a:r>
            <a:r>
              <a:rPr lang="en-US" dirty="0" err="1">
                <a:solidFill>
                  <a:srgbClr val="1F1F1F"/>
                </a:solidFill>
                <a:effectLst/>
                <a:latin typeface="Google Sans Text"/>
              </a:rPr>
              <a:t>thể</a:t>
            </a:r>
            <a:r>
              <a:rPr lang="en-US" dirty="0">
                <a:solidFill>
                  <a:srgbClr val="1F1F1F"/>
                </a:solidFill>
                <a:effectLst/>
                <a:latin typeface="Google Sans Text"/>
              </a:rPr>
              <a:t> </a:t>
            </a:r>
            <a:r>
              <a:rPr lang="en-US" dirty="0" err="1">
                <a:solidFill>
                  <a:srgbClr val="1F1F1F"/>
                </a:solidFill>
                <a:effectLst/>
                <a:latin typeface="Google Sans Text"/>
              </a:rPr>
              <a:t>hiểu</a:t>
            </a:r>
            <a:r>
              <a:rPr lang="en-US" dirty="0">
                <a:solidFill>
                  <a:srgbClr val="1F1F1F"/>
                </a:solidFill>
                <a:effectLst/>
                <a:latin typeface="Google Sans Text"/>
              </a:rPr>
              <a:t> </a:t>
            </a:r>
          </a:p>
          <a:p>
            <a:r>
              <a:rPr lang="vi-VN" dirty="0"/>
              <a:t>Sau đó, phần text này sẽ được xử lý bằng </a:t>
            </a:r>
            <a:r>
              <a:rPr lang="vi-VN" b="1" dirty="0"/>
              <a:t>Language AI</a:t>
            </a:r>
            <a:r>
              <a:rPr lang="vi-VN" dirty="0"/>
              <a:t>…</a:t>
            </a:r>
            <a:r>
              <a:rPr lang="en-US" dirty="0" err="1"/>
              <a:t>Ví</a:t>
            </a:r>
            <a:r>
              <a:rPr lang="en-US" dirty="0"/>
              <a:t> </a:t>
            </a:r>
            <a:r>
              <a:rPr lang="en-US" dirty="0" err="1"/>
              <a:t>dụ</a:t>
            </a:r>
            <a:r>
              <a:rPr lang="en-US" dirty="0"/>
              <a:t> </a:t>
            </a:r>
            <a:r>
              <a:rPr lang="en-US" dirty="0" err="1"/>
              <a:t>như</a:t>
            </a:r>
            <a:r>
              <a:rPr lang="en-US" dirty="0"/>
              <a:t> </a:t>
            </a:r>
            <a:r>
              <a:rPr lang="en-US" dirty="0" err="1">
                <a:solidFill>
                  <a:srgbClr val="1F1F1F"/>
                </a:solidFill>
                <a:effectLst/>
                <a:latin typeface="Google Sans Text"/>
              </a:rPr>
              <a:t>Phân</a:t>
            </a:r>
            <a:r>
              <a:rPr lang="en-US" dirty="0">
                <a:solidFill>
                  <a:srgbClr val="1F1F1F"/>
                </a:solidFill>
                <a:effectLst/>
                <a:latin typeface="Google Sans Text"/>
              </a:rPr>
              <a:t> </a:t>
            </a:r>
            <a:r>
              <a:rPr lang="en-US" dirty="0" err="1">
                <a:solidFill>
                  <a:srgbClr val="1F1F1F"/>
                </a:solidFill>
                <a:effectLst/>
                <a:latin typeface="Google Sans Text"/>
              </a:rPr>
              <a:t>tích</a:t>
            </a:r>
            <a:r>
              <a:rPr lang="en-US" dirty="0">
                <a:solidFill>
                  <a:srgbClr val="1F1F1F"/>
                </a:solidFill>
                <a:effectLst/>
                <a:latin typeface="Google Sans Text"/>
              </a:rPr>
              <a:t> </a:t>
            </a:r>
            <a:r>
              <a:rPr lang="en-US" dirty="0" err="1">
                <a:solidFill>
                  <a:srgbClr val="1F1F1F"/>
                </a:solidFill>
                <a:effectLst/>
                <a:latin typeface="Google Sans Text"/>
              </a:rPr>
              <a:t>cảm</a:t>
            </a:r>
            <a:r>
              <a:rPr lang="en-US" dirty="0">
                <a:solidFill>
                  <a:srgbClr val="1F1F1F"/>
                </a:solidFill>
                <a:effectLst/>
                <a:latin typeface="Google Sans Text"/>
              </a:rPr>
              <a:t> </a:t>
            </a:r>
            <a:r>
              <a:rPr lang="en-US" dirty="0" err="1">
                <a:solidFill>
                  <a:srgbClr val="1F1F1F"/>
                </a:solidFill>
                <a:effectLst/>
                <a:latin typeface="Google Sans Text"/>
              </a:rPr>
              <a:t>xúc</a:t>
            </a:r>
            <a:r>
              <a:rPr lang="en-US" dirty="0">
                <a:solidFill>
                  <a:srgbClr val="1F1F1F"/>
                </a:solidFill>
                <a:effectLst/>
                <a:latin typeface="Google Sans Text"/>
              </a:rPr>
              <a:t>, </a:t>
            </a:r>
            <a:r>
              <a:rPr lang="en-US" dirty="0" err="1">
                <a:solidFill>
                  <a:srgbClr val="1F1F1F"/>
                </a:solidFill>
                <a:effectLst/>
                <a:latin typeface="Google Sans Text"/>
              </a:rPr>
              <a:t>trích</a:t>
            </a:r>
            <a:r>
              <a:rPr lang="en-US" dirty="0">
                <a:solidFill>
                  <a:srgbClr val="1F1F1F"/>
                </a:solidFill>
                <a:effectLst/>
                <a:latin typeface="Google Sans Text"/>
              </a:rPr>
              <a:t> </a:t>
            </a:r>
            <a:r>
              <a:rPr lang="en-US" dirty="0" err="1">
                <a:solidFill>
                  <a:srgbClr val="1F1F1F"/>
                </a:solidFill>
                <a:effectLst/>
                <a:latin typeface="Google Sans Text"/>
              </a:rPr>
              <a:t>xuất</a:t>
            </a:r>
            <a:r>
              <a:rPr lang="en-US" dirty="0">
                <a:solidFill>
                  <a:srgbClr val="1F1F1F"/>
                </a:solidFill>
                <a:effectLst/>
                <a:latin typeface="Google Sans Text"/>
              </a:rPr>
              <a:t> </a:t>
            </a:r>
            <a:r>
              <a:rPr lang="en-US" dirty="0" err="1">
                <a:solidFill>
                  <a:srgbClr val="1F1F1F"/>
                </a:solidFill>
                <a:effectLst/>
                <a:latin typeface="Google Sans Text"/>
              </a:rPr>
              <a:t>thực</a:t>
            </a:r>
            <a:r>
              <a:rPr lang="en-US" dirty="0">
                <a:solidFill>
                  <a:srgbClr val="1F1F1F"/>
                </a:solidFill>
                <a:effectLst/>
                <a:latin typeface="Google Sans Text"/>
              </a:rPr>
              <a:t> </a:t>
            </a:r>
            <a:r>
              <a:rPr lang="en-US" dirty="0" err="1">
                <a:solidFill>
                  <a:srgbClr val="1F1F1F"/>
                </a:solidFill>
                <a:effectLst/>
                <a:latin typeface="Google Sans Text"/>
              </a:rPr>
              <a:t>thể</a:t>
            </a:r>
            <a:r>
              <a:rPr lang="en-US" dirty="0">
                <a:solidFill>
                  <a:srgbClr val="1F1F1F"/>
                </a:solidFill>
                <a:effectLst/>
                <a:latin typeface="Google Sans Text"/>
              </a:rPr>
              <a:t> (</a:t>
            </a:r>
            <a:r>
              <a:rPr lang="en-US" dirty="0" err="1">
                <a:solidFill>
                  <a:srgbClr val="1F1F1F"/>
                </a:solidFill>
                <a:effectLst/>
                <a:latin typeface="Google Sans Text"/>
              </a:rPr>
              <a:t>tên</a:t>
            </a:r>
            <a:r>
              <a:rPr lang="en-US" dirty="0">
                <a:solidFill>
                  <a:srgbClr val="1F1F1F"/>
                </a:solidFill>
                <a:effectLst/>
                <a:latin typeface="Google Sans Text"/>
              </a:rPr>
              <a:t>, </a:t>
            </a:r>
            <a:r>
              <a:rPr lang="en-US" dirty="0" err="1">
                <a:solidFill>
                  <a:srgbClr val="1F1F1F"/>
                </a:solidFill>
                <a:effectLst/>
                <a:latin typeface="Google Sans Text"/>
              </a:rPr>
              <a:t>địa</a:t>
            </a:r>
            <a:r>
              <a:rPr lang="en-US" dirty="0">
                <a:solidFill>
                  <a:srgbClr val="1F1F1F"/>
                </a:solidFill>
                <a:effectLst/>
                <a:latin typeface="Google Sans Text"/>
              </a:rPr>
              <a:t> </a:t>
            </a:r>
            <a:r>
              <a:rPr lang="en-US" dirty="0" err="1">
                <a:solidFill>
                  <a:srgbClr val="1F1F1F"/>
                </a:solidFill>
                <a:effectLst/>
                <a:latin typeface="Google Sans Text"/>
              </a:rPr>
              <a:t>chỉ</a:t>
            </a:r>
            <a:r>
              <a:rPr lang="en-US" dirty="0">
                <a:solidFill>
                  <a:srgbClr val="1F1F1F"/>
                </a:solidFill>
                <a:effectLst/>
                <a:latin typeface="Google Sans Text"/>
              </a:rPr>
              <a:t>) </a:t>
            </a:r>
            <a:r>
              <a:rPr lang="en-US" dirty="0" err="1">
                <a:solidFill>
                  <a:srgbClr val="1F1F1F"/>
                </a:solidFill>
                <a:effectLst/>
                <a:latin typeface="Google Sans Text"/>
              </a:rPr>
              <a:t>và</a:t>
            </a:r>
            <a:r>
              <a:rPr lang="en-US" dirty="0">
                <a:solidFill>
                  <a:srgbClr val="1F1F1F"/>
                </a:solidFill>
                <a:effectLst/>
                <a:latin typeface="Google Sans Text"/>
              </a:rPr>
              <a:t> </a:t>
            </a:r>
            <a:r>
              <a:rPr lang="en-US" dirty="0" err="1">
                <a:solidFill>
                  <a:srgbClr val="1F1F1F"/>
                </a:solidFill>
                <a:effectLst/>
                <a:latin typeface="Google Sans Text"/>
              </a:rPr>
              <a:t>tóm</a:t>
            </a:r>
            <a:r>
              <a:rPr lang="en-US" dirty="0">
                <a:solidFill>
                  <a:srgbClr val="1F1F1F"/>
                </a:solidFill>
                <a:effectLst/>
                <a:latin typeface="Google Sans Text"/>
              </a:rPr>
              <a:t> </a:t>
            </a:r>
            <a:r>
              <a:rPr lang="en-US" dirty="0" err="1">
                <a:solidFill>
                  <a:srgbClr val="1F1F1F"/>
                </a:solidFill>
                <a:effectLst/>
                <a:latin typeface="Google Sans Text"/>
              </a:rPr>
              <a:t>tắt</a:t>
            </a:r>
            <a:r>
              <a:rPr lang="en-US" dirty="0">
                <a:solidFill>
                  <a:srgbClr val="1F1F1F"/>
                </a:solidFill>
                <a:effectLst/>
                <a:latin typeface="Google Sans Text"/>
              </a:rPr>
              <a:t> ý </a:t>
            </a:r>
            <a:r>
              <a:rPr lang="en-US" dirty="0" err="1">
                <a:solidFill>
                  <a:srgbClr val="1F1F1F"/>
                </a:solidFill>
                <a:effectLst/>
                <a:latin typeface="Google Sans Text"/>
              </a:rPr>
              <a:t>chính</a:t>
            </a:r>
            <a:r>
              <a:rPr lang="en-US" dirty="0">
                <a:solidFill>
                  <a:srgbClr val="1F1F1F"/>
                </a:solidFill>
                <a:effectLst/>
                <a:latin typeface="Google Sans Text"/>
              </a:rPr>
              <a:t>.</a:t>
            </a:r>
          </a:p>
          <a:p>
            <a:r>
              <a:rPr lang="en-US" dirty="0" err="1"/>
              <a:t>Nếu</a:t>
            </a:r>
            <a:r>
              <a:rPr lang="en-US" dirty="0"/>
              <a:t> </a:t>
            </a:r>
            <a:r>
              <a:rPr lang="en-US" dirty="0" err="1"/>
              <a:t>cần</a:t>
            </a:r>
            <a:r>
              <a:rPr lang="en-US" dirty="0"/>
              <a:t> </a:t>
            </a:r>
            <a:r>
              <a:rPr lang="en-US" dirty="0" err="1"/>
              <a:t>tìm</a:t>
            </a:r>
            <a:r>
              <a:rPr lang="en-US" dirty="0"/>
              <a:t> </a:t>
            </a:r>
            <a:r>
              <a:rPr lang="en-US" dirty="0" err="1"/>
              <a:t>thông</a:t>
            </a:r>
            <a:r>
              <a:rPr lang="en-US" dirty="0"/>
              <a:t> tin </a:t>
            </a:r>
            <a:r>
              <a:rPr lang="en-US" dirty="0" err="1"/>
              <a:t>từ</a:t>
            </a:r>
            <a:r>
              <a:rPr lang="en-US" dirty="0"/>
              <a:t> </a:t>
            </a:r>
            <a:r>
              <a:rPr lang="en-US" dirty="0" err="1"/>
              <a:t>dữ</a:t>
            </a:r>
            <a:r>
              <a:rPr lang="en-US" dirty="0"/>
              <a:t> </a:t>
            </a:r>
            <a:r>
              <a:rPr lang="en-US" dirty="0" err="1"/>
              <a:t>liệu</a:t>
            </a:r>
            <a:r>
              <a:rPr lang="en-US" dirty="0"/>
              <a:t> </a:t>
            </a:r>
            <a:r>
              <a:rPr lang="en-US" dirty="0" err="1"/>
              <a:t>lớn</a:t>
            </a:r>
            <a:r>
              <a:rPr lang="en-US" dirty="0"/>
              <a:t> </a:t>
            </a:r>
            <a:r>
              <a:rPr lang="en-US" dirty="0" err="1"/>
              <a:t>hoặc</a:t>
            </a:r>
            <a:r>
              <a:rPr lang="en-US" dirty="0"/>
              <a:t> </a:t>
            </a:r>
            <a:r>
              <a:rPr lang="en-US" dirty="0" err="1"/>
              <a:t>dữ</a:t>
            </a:r>
            <a:r>
              <a:rPr lang="en-US" dirty="0"/>
              <a:t> </a:t>
            </a:r>
            <a:r>
              <a:rPr lang="en-US" dirty="0" err="1"/>
              <a:t>liệu</a:t>
            </a:r>
            <a:r>
              <a:rPr lang="en-US" dirty="0"/>
              <a:t> </a:t>
            </a:r>
            <a:r>
              <a:rPr lang="en-US" dirty="0" err="1"/>
              <a:t>của</a:t>
            </a:r>
            <a:r>
              <a:rPr lang="en-US" dirty="0"/>
              <a:t> </a:t>
            </a:r>
            <a:r>
              <a:rPr lang="en-US" dirty="0" err="1"/>
              <a:t>doanh</a:t>
            </a:r>
            <a:r>
              <a:rPr lang="en-US" dirty="0"/>
              <a:t> </a:t>
            </a:r>
            <a:r>
              <a:rPr lang="en-US" dirty="0" err="1"/>
              <a:t>nghiệp</a:t>
            </a:r>
            <a:r>
              <a:rPr lang="en-US" dirty="0"/>
              <a:t> </a:t>
            </a:r>
            <a:r>
              <a:rPr lang="en-US" dirty="0" err="1"/>
              <a:t>Chúng</a:t>
            </a:r>
            <a:r>
              <a:rPr lang="en-US" dirty="0"/>
              <a:t> ta </a:t>
            </a:r>
            <a:r>
              <a:rPr lang="en-US" dirty="0" err="1"/>
              <a:t>sẽ</a:t>
            </a:r>
            <a:r>
              <a:rPr lang="en-US" dirty="0"/>
              <a:t> </a:t>
            </a:r>
            <a:r>
              <a:rPr lang="en-US" dirty="0" err="1"/>
              <a:t>dùng</a:t>
            </a:r>
            <a:r>
              <a:rPr lang="en-US" dirty="0"/>
              <a:t> </a:t>
            </a:r>
            <a:r>
              <a:rPr lang="en-US" b="1" dirty="0"/>
              <a:t>Azure AI Search</a:t>
            </a:r>
            <a:r>
              <a:rPr lang="en-US" dirty="0"/>
              <a:t> </a:t>
            </a:r>
            <a:r>
              <a:rPr lang="en-US" dirty="0" err="1">
                <a:solidFill>
                  <a:srgbClr val="1F1F1F"/>
                </a:solidFill>
                <a:effectLst/>
                <a:latin typeface="Google Sans Text"/>
              </a:rPr>
              <a:t>Tìm</a:t>
            </a:r>
            <a:r>
              <a:rPr lang="en-US" dirty="0">
                <a:solidFill>
                  <a:srgbClr val="1F1F1F"/>
                </a:solidFill>
                <a:effectLst/>
                <a:latin typeface="Google Sans Text"/>
              </a:rPr>
              <a:t> </a:t>
            </a:r>
            <a:r>
              <a:rPr lang="en-US" dirty="0" err="1">
                <a:solidFill>
                  <a:srgbClr val="1F1F1F"/>
                </a:solidFill>
                <a:effectLst/>
                <a:latin typeface="Google Sans Text"/>
              </a:rPr>
              <a:t>kiếm</a:t>
            </a:r>
            <a:r>
              <a:rPr lang="en-US" dirty="0">
                <a:solidFill>
                  <a:srgbClr val="1F1F1F"/>
                </a:solidFill>
                <a:effectLst/>
                <a:latin typeface="Google Sans Text"/>
              </a:rPr>
              <a:t> </a:t>
            </a:r>
            <a:r>
              <a:rPr lang="en-US" dirty="0" err="1">
                <a:solidFill>
                  <a:srgbClr val="1F1F1F"/>
                </a:solidFill>
                <a:effectLst/>
                <a:latin typeface="Google Sans Text"/>
              </a:rPr>
              <a:t>thông</a:t>
            </a:r>
            <a:r>
              <a:rPr lang="en-US" dirty="0">
                <a:solidFill>
                  <a:srgbClr val="1F1F1F"/>
                </a:solidFill>
                <a:effectLst/>
                <a:latin typeface="Google Sans Text"/>
              </a:rPr>
              <a:t> tin </a:t>
            </a:r>
            <a:r>
              <a:rPr lang="en-US" dirty="0" err="1">
                <a:solidFill>
                  <a:srgbClr val="1F1F1F"/>
                </a:solidFill>
                <a:effectLst/>
                <a:latin typeface="Google Sans Text"/>
              </a:rPr>
              <a:t>liên</a:t>
            </a:r>
            <a:r>
              <a:rPr lang="en-US" dirty="0">
                <a:solidFill>
                  <a:srgbClr val="1F1F1F"/>
                </a:solidFill>
                <a:effectLst/>
                <a:latin typeface="Google Sans Text"/>
              </a:rPr>
              <a:t> </a:t>
            </a:r>
            <a:r>
              <a:rPr lang="en-US" dirty="0" err="1">
                <a:solidFill>
                  <a:srgbClr val="1F1F1F"/>
                </a:solidFill>
                <a:effectLst/>
                <a:latin typeface="Google Sans Text"/>
              </a:rPr>
              <a:t>quan</a:t>
            </a:r>
            <a:r>
              <a:rPr lang="en-US" dirty="0">
                <a:solidFill>
                  <a:srgbClr val="1F1F1F"/>
                </a:solidFill>
                <a:effectLst/>
                <a:latin typeface="Google Sans Text"/>
              </a:rPr>
              <a:t> (RAG pattern).</a:t>
            </a:r>
          </a:p>
          <a:p>
            <a:r>
              <a:rPr lang="en-US" dirty="0" err="1"/>
              <a:t>Cuối</a:t>
            </a:r>
            <a:r>
              <a:rPr lang="en-US" dirty="0"/>
              <a:t> </a:t>
            </a:r>
            <a:r>
              <a:rPr lang="en-US" dirty="0" err="1"/>
              <a:t>cùng</a:t>
            </a:r>
            <a:r>
              <a:rPr lang="en-US" dirty="0"/>
              <a:t>, </a:t>
            </a:r>
            <a:r>
              <a:rPr lang="vi-VN" b="1" dirty="0"/>
              <a:t>Azure OpenAI</a:t>
            </a:r>
            <a:r>
              <a:rPr lang="vi-VN" dirty="0"/>
              <a:t> sẽ generate câu trả lời hoặc nội dung cho người dùng</a:t>
            </a:r>
            <a:endParaRPr lang="en-US" dirty="0"/>
          </a:p>
          <a:p>
            <a:r>
              <a:rPr lang="vi-VN" dirty="0"/>
              <a:t>Và toàn bộ quá trình này sẽ được kiểm soát bởi </a:t>
            </a:r>
            <a:r>
              <a:rPr lang="vi-VN" b="1" dirty="0"/>
              <a:t>Content Safety</a:t>
            </a:r>
            <a:r>
              <a:rPr lang="vi-VN" dirty="0"/>
              <a:t> để đảm bảo nội dung an toàn</a:t>
            </a:r>
            <a:endParaRPr lang="en-US" dirty="0"/>
          </a:p>
          <a:p>
            <a:r>
              <a:rPr lang="en-US" dirty="0" err="1"/>
              <a:t>Vì</a:t>
            </a:r>
            <a:r>
              <a:rPr lang="en-US" dirty="0"/>
              <a:t> </a:t>
            </a:r>
            <a:r>
              <a:rPr lang="en-US" dirty="0" err="1"/>
              <a:t>vậy</a:t>
            </a:r>
            <a:r>
              <a:rPr lang="en-US" dirty="0"/>
              <a:t>, Azure AI </a:t>
            </a:r>
            <a:r>
              <a:rPr lang="en-US" dirty="0" err="1"/>
              <a:t>không</a:t>
            </a:r>
            <a:r>
              <a:rPr lang="en-US" dirty="0"/>
              <a:t> </a:t>
            </a:r>
            <a:r>
              <a:rPr lang="en-US" dirty="0" err="1"/>
              <a:t>chỉ</a:t>
            </a:r>
            <a:r>
              <a:rPr lang="en-US" dirty="0"/>
              <a:t> </a:t>
            </a:r>
            <a:r>
              <a:rPr lang="en-US" dirty="0" err="1"/>
              <a:t>là</a:t>
            </a:r>
            <a:r>
              <a:rPr lang="en-US" dirty="0"/>
              <a:t> </a:t>
            </a:r>
            <a:r>
              <a:rPr lang="en-US" dirty="0" err="1"/>
              <a:t>các</a:t>
            </a:r>
            <a:r>
              <a:rPr lang="en-US" dirty="0"/>
              <a:t> API </a:t>
            </a:r>
            <a:r>
              <a:rPr lang="en-US" dirty="0" err="1"/>
              <a:t>riêng</a:t>
            </a:r>
            <a:r>
              <a:rPr lang="en-US" dirty="0"/>
              <a:t> </a:t>
            </a:r>
            <a:r>
              <a:rPr lang="en-US" dirty="0" err="1"/>
              <a:t>lẻ</a:t>
            </a:r>
            <a:r>
              <a:rPr lang="en-US" dirty="0"/>
              <a:t>, </a:t>
            </a:r>
            <a:r>
              <a:rPr lang="en-US" dirty="0" err="1"/>
              <a:t>mà</a:t>
            </a:r>
            <a:r>
              <a:rPr lang="en-US" dirty="0"/>
              <a:t> </a:t>
            </a:r>
            <a:r>
              <a:rPr lang="en-US" dirty="0" err="1"/>
              <a:t>là</a:t>
            </a:r>
            <a:r>
              <a:rPr lang="en-US" dirty="0"/>
              <a:t> </a:t>
            </a:r>
            <a:r>
              <a:rPr lang="en-US" dirty="0" err="1"/>
              <a:t>một</a:t>
            </a:r>
            <a:r>
              <a:rPr lang="en-US" dirty="0"/>
              <a:t> pipeline </a:t>
            </a:r>
            <a:r>
              <a:rPr lang="en-US" dirty="0" err="1"/>
              <a:t>hoàn</a:t>
            </a:r>
            <a:r>
              <a:rPr lang="en-US" dirty="0"/>
              <a:t> </a:t>
            </a:r>
            <a:r>
              <a:rPr lang="en-US" dirty="0" err="1"/>
              <a:t>chỉnh</a:t>
            </a:r>
            <a:r>
              <a:rPr lang="en-US" dirty="0"/>
              <a:t> </a:t>
            </a:r>
            <a:r>
              <a:rPr lang="en-US" dirty="0" err="1"/>
              <a:t>để</a:t>
            </a:r>
            <a:r>
              <a:rPr lang="en-US" dirty="0"/>
              <a:t> </a:t>
            </a:r>
            <a:r>
              <a:rPr lang="en-US" dirty="0" err="1"/>
              <a:t>xây</a:t>
            </a:r>
            <a:r>
              <a:rPr lang="en-US" dirty="0"/>
              <a:t> </a:t>
            </a:r>
            <a:r>
              <a:rPr lang="en-US" dirty="0" err="1"/>
              <a:t>dựng</a:t>
            </a:r>
            <a:r>
              <a:rPr lang="en-US" dirty="0"/>
              <a:t> </a:t>
            </a:r>
            <a:r>
              <a:rPr lang="en-US" dirty="0" err="1"/>
              <a:t>ứng</a:t>
            </a:r>
            <a:r>
              <a:rPr lang="en-US" dirty="0"/>
              <a:t> </a:t>
            </a:r>
            <a:r>
              <a:rPr lang="en-US" dirty="0" err="1"/>
              <a:t>dụng</a:t>
            </a:r>
            <a:r>
              <a:rPr lang="en-US" dirty="0"/>
              <a:t> AI end-to-end</a:t>
            </a:r>
          </a:p>
        </p:txBody>
      </p:sp>
      <p:sp>
        <p:nvSpPr>
          <p:cNvPr id="4" name="Slide Number Placeholder 3"/>
          <p:cNvSpPr>
            <a:spLocks noGrp="1"/>
          </p:cNvSpPr>
          <p:nvPr>
            <p:ph type="sldNum" sz="quarter" idx="5"/>
          </p:nvPr>
        </p:nvSpPr>
        <p:spPr/>
        <p:txBody>
          <a:bodyPr/>
          <a:lstStyle/>
          <a:p>
            <a:fld id="{42224020-3F5F-44AE-896D-09F0AE68775F}" type="slidenum">
              <a:rPr lang="en-US" smtClean="0"/>
              <a:t>4</a:t>
            </a:fld>
            <a:endParaRPr lang="en-US"/>
          </a:p>
        </p:txBody>
      </p:sp>
    </p:spTree>
    <p:extLst>
      <p:ext uri="{BB962C8B-B14F-4D97-AF65-F5344CB8AC3E}">
        <p14:creationId xmlns:p14="http://schemas.microsoft.com/office/powerpoint/2010/main" val="2121601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EDE3D-A58A-8946-66E5-81E0F41F1B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BE1F01-5370-C40A-21E6-DF149FC452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EFE5E9-393A-ADEC-AEFF-476EDCF2B3AA}"/>
              </a:ext>
            </a:extLst>
          </p:cNvPr>
          <p:cNvSpPr>
            <a:spLocks noGrp="1"/>
          </p:cNvSpPr>
          <p:nvPr>
            <p:ph type="body" idx="1"/>
          </p:nvPr>
        </p:nvSpPr>
        <p:spPr/>
        <p:txBody>
          <a:bodyPr/>
          <a:lstStyle/>
          <a:p>
            <a:r>
              <a:rPr lang="en-US" dirty="0"/>
              <a:t>Sau </a:t>
            </a:r>
            <a:r>
              <a:rPr lang="en-US" dirty="0" err="1"/>
              <a:t>khi</a:t>
            </a:r>
            <a:r>
              <a:rPr lang="en-US" dirty="0"/>
              <a:t> </a:t>
            </a:r>
            <a:r>
              <a:rPr lang="en-US" dirty="0" err="1"/>
              <a:t>đã</a:t>
            </a:r>
            <a:r>
              <a:rPr lang="en-US" dirty="0"/>
              <a:t> </a:t>
            </a:r>
            <a:r>
              <a:rPr lang="en-US" dirty="0" err="1"/>
              <a:t>hiểu</a:t>
            </a:r>
            <a:r>
              <a:rPr lang="en-US" dirty="0"/>
              <a:t> </a:t>
            </a:r>
            <a:r>
              <a:rPr lang="en-US" dirty="0" err="1"/>
              <a:t>các</a:t>
            </a:r>
            <a:r>
              <a:rPr lang="en-US" dirty="0"/>
              <a:t> </a:t>
            </a:r>
            <a:r>
              <a:rPr lang="en-US" dirty="0" err="1"/>
              <a:t>dịch</a:t>
            </a:r>
            <a:r>
              <a:rPr lang="en-US" dirty="0"/>
              <a:t> </a:t>
            </a:r>
            <a:r>
              <a:rPr lang="en-US" dirty="0" err="1"/>
              <a:t>vụ</a:t>
            </a:r>
            <a:r>
              <a:rPr lang="en-US" dirty="0"/>
              <a:t> AI </a:t>
            </a:r>
            <a:r>
              <a:rPr lang="en-US" dirty="0" err="1"/>
              <a:t>riêng</a:t>
            </a:r>
            <a:r>
              <a:rPr lang="en-US" dirty="0"/>
              <a:t> </a:t>
            </a:r>
            <a:r>
              <a:rPr lang="en-US" dirty="0" err="1"/>
              <a:t>lẻ</a:t>
            </a:r>
            <a:r>
              <a:rPr lang="en-US" dirty="0"/>
              <a:t> </a:t>
            </a:r>
            <a:r>
              <a:rPr lang="en-US" dirty="0" err="1"/>
              <a:t>trong</a:t>
            </a:r>
            <a:r>
              <a:rPr lang="en-US" dirty="0"/>
              <a:t> Azure </a:t>
            </a:r>
          </a:p>
          <a:p>
            <a:r>
              <a:rPr lang="en-US" dirty="0" err="1"/>
              <a:t>Câu</a:t>
            </a:r>
            <a:r>
              <a:rPr lang="en-US" dirty="0"/>
              <a:t> </a:t>
            </a:r>
            <a:r>
              <a:rPr lang="en-US" dirty="0" err="1"/>
              <a:t>hỏi</a:t>
            </a:r>
            <a:r>
              <a:rPr lang="en-US" dirty="0"/>
              <a:t> </a:t>
            </a:r>
            <a:r>
              <a:rPr lang="en-US" dirty="0" err="1"/>
              <a:t>đặt</a:t>
            </a:r>
            <a:r>
              <a:rPr lang="en-US" dirty="0"/>
              <a:t> </a:t>
            </a:r>
            <a:r>
              <a:rPr lang="en-US" dirty="0" err="1"/>
              <a:t>ra</a:t>
            </a:r>
            <a:r>
              <a:rPr lang="en-US" dirty="0"/>
              <a:t> </a:t>
            </a:r>
            <a:r>
              <a:rPr lang="en-US" dirty="0" err="1"/>
              <a:t>là</a:t>
            </a:r>
            <a:r>
              <a:rPr lang="en-US" dirty="0"/>
              <a:t>: </a:t>
            </a:r>
            <a:r>
              <a:rPr lang="en-US" dirty="0" err="1"/>
              <a:t>làm</a:t>
            </a:r>
            <a:r>
              <a:rPr lang="en-US" dirty="0"/>
              <a:t> </a:t>
            </a:r>
            <a:r>
              <a:rPr lang="en-US" dirty="0" err="1"/>
              <a:t>thế</a:t>
            </a:r>
            <a:r>
              <a:rPr lang="en-US" dirty="0"/>
              <a:t> </a:t>
            </a:r>
            <a:r>
              <a:rPr lang="en-US" dirty="0" err="1"/>
              <a:t>nào</a:t>
            </a:r>
            <a:r>
              <a:rPr lang="en-US" dirty="0"/>
              <a:t> </a:t>
            </a:r>
            <a:r>
              <a:rPr lang="en-US" dirty="0" err="1"/>
              <a:t>để</a:t>
            </a:r>
            <a:r>
              <a:rPr lang="en-US" dirty="0"/>
              <a:t> </a:t>
            </a:r>
            <a:r>
              <a:rPr lang="en-US" dirty="0" err="1"/>
              <a:t>kết</a:t>
            </a:r>
            <a:r>
              <a:rPr lang="en-US" dirty="0"/>
              <a:t> </a:t>
            </a:r>
            <a:r>
              <a:rPr lang="en-US" dirty="0" err="1"/>
              <a:t>hợp</a:t>
            </a:r>
            <a:r>
              <a:rPr lang="en-US" dirty="0"/>
              <a:t> </a:t>
            </a:r>
            <a:r>
              <a:rPr lang="en-US" dirty="0" err="1"/>
              <a:t>chúng</a:t>
            </a:r>
            <a:r>
              <a:rPr lang="en-US" dirty="0"/>
              <a:t> </a:t>
            </a:r>
            <a:r>
              <a:rPr lang="en-US" dirty="0" err="1"/>
              <a:t>lại</a:t>
            </a:r>
            <a:r>
              <a:rPr lang="en-US" dirty="0"/>
              <a:t> </a:t>
            </a:r>
            <a:r>
              <a:rPr lang="en-US" dirty="0" err="1"/>
              <a:t>thành</a:t>
            </a:r>
            <a:r>
              <a:rPr lang="en-US" dirty="0"/>
              <a:t> </a:t>
            </a:r>
            <a:r>
              <a:rPr lang="en-US" dirty="0" err="1"/>
              <a:t>một</a:t>
            </a:r>
            <a:r>
              <a:rPr lang="en-US" dirty="0"/>
              <a:t> </a:t>
            </a:r>
            <a:r>
              <a:rPr lang="en-US" dirty="0" err="1"/>
              <a:t>hệ</a:t>
            </a:r>
            <a:r>
              <a:rPr lang="en-US" dirty="0"/>
              <a:t> </a:t>
            </a:r>
            <a:r>
              <a:rPr lang="en-US" dirty="0" err="1"/>
              <a:t>thống</a:t>
            </a:r>
            <a:r>
              <a:rPr lang="en-US" dirty="0"/>
              <a:t> </a:t>
            </a:r>
            <a:r>
              <a:rPr lang="en-US" dirty="0" err="1"/>
              <a:t>hoàn</a:t>
            </a:r>
            <a:r>
              <a:rPr lang="en-US" dirty="0"/>
              <a:t> </a:t>
            </a:r>
            <a:r>
              <a:rPr lang="en-US" dirty="0" err="1"/>
              <a:t>chỉnh</a:t>
            </a:r>
            <a:r>
              <a:rPr lang="en-US" dirty="0"/>
              <a:t>?</a:t>
            </a:r>
          </a:p>
          <a:p>
            <a:r>
              <a:rPr lang="en-US" dirty="0" err="1"/>
              <a:t>Và</a:t>
            </a:r>
            <a:r>
              <a:rPr lang="en-US" dirty="0"/>
              <a:t> </a:t>
            </a:r>
            <a:r>
              <a:rPr lang="en-US" dirty="0" err="1"/>
              <a:t>đó</a:t>
            </a:r>
            <a:r>
              <a:rPr lang="en-US" dirty="0"/>
              <a:t> </a:t>
            </a:r>
            <a:r>
              <a:rPr lang="en-US" dirty="0" err="1"/>
              <a:t>chính</a:t>
            </a:r>
            <a:r>
              <a:rPr lang="en-US" dirty="0"/>
              <a:t> </a:t>
            </a:r>
            <a:r>
              <a:rPr lang="en-US" dirty="0" err="1"/>
              <a:t>là</a:t>
            </a:r>
            <a:r>
              <a:rPr lang="en-US" dirty="0"/>
              <a:t> </a:t>
            </a:r>
            <a:r>
              <a:rPr lang="en-US" dirty="0" err="1"/>
              <a:t>vai</a:t>
            </a:r>
            <a:r>
              <a:rPr lang="en-US" dirty="0"/>
              <a:t> </a:t>
            </a:r>
            <a:r>
              <a:rPr lang="en-US" dirty="0" err="1"/>
              <a:t>trò</a:t>
            </a:r>
            <a:r>
              <a:rPr lang="en-US" dirty="0"/>
              <a:t> </a:t>
            </a:r>
            <a:r>
              <a:rPr lang="en-US" dirty="0" err="1"/>
              <a:t>của</a:t>
            </a:r>
            <a:r>
              <a:rPr lang="en-US" dirty="0"/>
              <a:t> Azure AI Foundry</a:t>
            </a:r>
          </a:p>
          <a:p>
            <a:r>
              <a:rPr lang="en-US" dirty="0"/>
              <a:t>Azure AI Foundry </a:t>
            </a:r>
            <a:r>
              <a:rPr lang="en-US" dirty="0" err="1"/>
              <a:t>là</a:t>
            </a:r>
            <a:r>
              <a:rPr lang="en-US" dirty="0"/>
              <a:t> </a:t>
            </a:r>
            <a:r>
              <a:rPr lang="en-US" dirty="0" err="1"/>
              <a:t>một</a:t>
            </a:r>
            <a:r>
              <a:rPr lang="en-US" dirty="0"/>
              <a:t> </a:t>
            </a:r>
            <a:r>
              <a:rPr lang="en-US" dirty="0" err="1"/>
              <a:t>nền</a:t>
            </a:r>
            <a:r>
              <a:rPr lang="en-US" dirty="0"/>
              <a:t> </a:t>
            </a:r>
            <a:r>
              <a:rPr lang="en-US" dirty="0" err="1"/>
              <a:t>tảng</a:t>
            </a:r>
            <a:r>
              <a:rPr lang="en-US" dirty="0"/>
              <a:t> </a:t>
            </a:r>
            <a:r>
              <a:rPr lang="en-US" dirty="0" err="1"/>
              <a:t>giúp</a:t>
            </a:r>
            <a:r>
              <a:rPr lang="en-US" dirty="0"/>
              <a:t> </a:t>
            </a:r>
            <a:r>
              <a:rPr lang="en-US" dirty="0" err="1"/>
              <a:t>chúng</a:t>
            </a:r>
            <a:r>
              <a:rPr lang="en-US" dirty="0"/>
              <a:t> ta </a:t>
            </a:r>
            <a:r>
              <a:rPr lang="en-US" dirty="0" err="1"/>
              <a:t>xây</a:t>
            </a:r>
            <a:r>
              <a:rPr lang="en-US" dirty="0"/>
              <a:t> </a:t>
            </a:r>
            <a:r>
              <a:rPr lang="en-US" dirty="0" err="1"/>
              <a:t>dựng</a:t>
            </a:r>
            <a:r>
              <a:rPr lang="en-US" dirty="0"/>
              <a:t> AI end-to-end, </a:t>
            </a:r>
            <a:r>
              <a:rPr lang="en-US" dirty="0" err="1"/>
              <a:t>thay</a:t>
            </a:r>
            <a:r>
              <a:rPr lang="en-US" dirty="0"/>
              <a:t> </a:t>
            </a:r>
            <a:r>
              <a:rPr lang="en-US" dirty="0" err="1"/>
              <a:t>vì</a:t>
            </a:r>
            <a:r>
              <a:rPr lang="en-US" dirty="0"/>
              <a:t> </a:t>
            </a:r>
            <a:r>
              <a:rPr lang="en-US" dirty="0" err="1"/>
              <a:t>chỉ</a:t>
            </a:r>
            <a:r>
              <a:rPr lang="en-US" dirty="0"/>
              <a:t> </a:t>
            </a:r>
            <a:r>
              <a:rPr lang="en-US" dirty="0" err="1"/>
              <a:t>dùng</a:t>
            </a:r>
            <a:r>
              <a:rPr lang="en-US" dirty="0"/>
              <a:t> </a:t>
            </a:r>
            <a:r>
              <a:rPr lang="en-US" dirty="0" err="1"/>
              <a:t>từng</a:t>
            </a:r>
            <a:r>
              <a:rPr lang="en-US" dirty="0"/>
              <a:t> API </a:t>
            </a:r>
            <a:r>
              <a:rPr lang="en-US" dirty="0" err="1"/>
              <a:t>riêng</a:t>
            </a:r>
            <a:r>
              <a:rPr lang="en-US" dirty="0"/>
              <a:t> </a:t>
            </a:r>
            <a:r>
              <a:rPr lang="en-US" dirty="0" err="1"/>
              <a:t>lẻ</a:t>
            </a:r>
            <a:endParaRPr lang="en-US" dirty="0"/>
          </a:p>
          <a:p>
            <a:r>
              <a:rPr lang="en-US" dirty="0" err="1"/>
              <a:t>Ví</a:t>
            </a:r>
            <a:r>
              <a:rPr lang="en-US" dirty="0"/>
              <a:t> </a:t>
            </a:r>
            <a:r>
              <a:rPr lang="en-US" dirty="0" err="1"/>
              <a:t>dụ</a:t>
            </a:r>
            <a:r>
              <a:rPr lang="en-US" dirty="0"/>
              <a:t>:</a:t>
            </a:r>
          </a:p>
          <a:p>
            <a:r>
              <a:rPr lang="en-US" dirty="0"/>
              <a:t>OpenAI </a:t>
            </a:r>
            <a:r>
              <a:rPr lang="en-US" dirty="0" err="1"/>
              <a:t>dùng</a:t>
            </a:r>
            <a:r>
              <a:rPr lang="en-US" dirty="0"/>
              <a:t> </a:t>
            </a:r>
            <a:r>
              <a:rPr lang="en-US" dirty="0" err="1"/>
              <a:t>để</a:t>
            </a:r>
            <a:r>
              <a:rPr lang="en-US" dirty="0"/>
              <a:t> generate </a:t>
            </a:r>
            <a:r>
              <a:rPr lang="en-US" dirty="0" err="1"/>
              <a:t>nội</a:t>
            </a:r>
            <a:r>
              <a:rPr lang="en-US" dirty="0"/>
              <a:t> dung </a:t>
            </a:r>
          </a:p>
          <a:p>
            <a:r>
              <a:rPr lang="en-US" dirty="0"/>
              <a:t>Search </a:t>
            </a:r>
            <a:r>
              <a:rPr lang="en-US" dirty="0" err="1"/>
              <a:t>để</a:t>
            </a:r>
            <a:r>
              <a:rPr lang="en-US" dirty="0"/>
              <a:t> </a:t>
            </a:r>
            <a:r>
              <a:rPr lang="en-US" dirty="0" err="1"/>
              <a:t>truy</a:t>
            </a:r>
            <a:r>
              <a:rPr lang="en-US" dirty="0"/>
              <a:t> </a:t>
            </a:r>
            <a:r>
              <a:rPr lang="en-US" dirty="0" err="1"/>
              <a:t>xuất</a:t>
            </a:r>
            <a:r>
              <a:rPr lang="en-US" dirty="0"/>
              <a:t> </a:t>
            </a:r>
            <a:r>
              <a:rPr lang="en-US" dirty="0" err="1"/>
              <a:t>dữ</a:t>
            </a:r>
            <a:r>
              <a:rPr lang="en-US" dirty="0"/>
              <a:t> </a:t>
            </a:r>
            <a:r>
              <a:rPr lang="en-US" dirty="0" err="1"/>
              <a:t>liệu</a:t>
            </a:r>
            <a:r>
              <a:rPr lang="en-US" dirty="0"/>
              <a:t> </a:t>
            </a:r>
          </a:p>
          <a:p>
            <a:r>
              <a:rPr lang="en-US" dirty="0" err="1"/>
              <a:t>Và</a:t>
            </a:r>
            <a:r>
              <a:rPr lang="en-US" dirty="0"/>
              <a:t> </a:t>
            </a:r>
            <a:r>
              <a:rPr lang="en-US" dirty="0" err="1"/>
              <a:t>các</a:t>
            </a:r>
            <a:r>
              <a:rPr lang="en-US" dirty="0"/>
              <a:t> </a:t>
            </a:r>
            <a:r>
              <a:rPr lang="en-US" dirty="0" err="1"/>
              <a:t>dịch</a:t>
            </a:r>
            <a:r>
              <a:rPr lang="en-US" dirty="0"/>
              <a:t> </a:t>
            </a:r>
            <a:r>
              <a:rPr lang="en-US" dirty="0" err="1"/>
              <a:t>vụ</a:t>
            </a:r>
            <a:r>
              <a:rPr lang="en-US" dirty="0"/>
              <a:t> azure ai </a:t>
            </a:r>
            <a:r>
              <a:rPr lang="en-US" dirty="0" err="1"/>
              <a:t>khác</a:t>
            </a:r>
            <a:endParaRPr lang="en-US" dirty="0"/>
          </a:p>
          <a:p>
            <a:r>
              <a:rPr lang="en-US" dirty="0"/>
              <a:t>“</a:t>
            </a:r>
            <a:r>
              <a:rPr lang="en-US" dirty="0" err="1"/>
              <a:t>Thì</a:t>
            </a:r>
            <a:r>
              <a:rPr lang="en-US" dirty="0"/>
              <a:t> Foundry </a:t>
            </a:r>
            <a:r>
              <a:rPr lang="en-US" dirty="0" err="1"/>
              <a:t>sẽ</a:t>
            </a:r>
            <a:r>
              <a:rPr lang="en-US" dirty="0"/>
              <a:t> </a:t>
            </a:r>
            <a:r>
              <a:rPr lang="en-US" dirty="0" err="1"/>
              <a:t>đứng</a:t>
            </a:r>
            <a:r>
              <a:rPr lang="en-US" dirty="0"/>
              <a:t> ở </a:t>
            </a:r>
            <a:r>
              <a:rPr lang="en-US" dirty="0" err="1"/>
              <a:t>giữa</a:t>
            </a:r>
            <a:r>
              <a:rPr lang="en-US" dirty="0"/>
              <a:t> </a:t>
            </a:r>
            <a:r>
              <a:rPr lang="en-US" dirty="0" err="1"/>
              <a:t>để</a:t>
            </a:r>
            <a:r>
              <a:rPr lang="en-US" dirty="0"/>
              <a:t> orchestrate </a:t>
            </a:r>
            <a:r>
              <a:rPr lang="en-US" dirty="0" err="1"/>
              <a:t>toàn</a:t>
            </a:r>
            <a:r>
              <a:rPr lang="en-US" dirty="0"/>
              <a:t> </a:t>
            </a:r>
            <a:r>
              <a:rPr lang="en-US" dirty="0" err="1"/>
              <a:t>bộ</a:t>
            </a:r>
            <a:r>
              <a:rPr lang="en-US" dirty="0"/>
              <a:t> flow </a:t>
            </a:r>
            <a:r>
              <a:rPr lang="en-US" dirty="0" err="1"/>
              <a:t>này</a:t>
            </a:r>
            <a:endParaRPr lang="en-US" dirty="0"/>
          </a:p>
          <a:p>
            <a:r>
              <a:rPr lang="en-US" dirty="0" err="1"/>
              <a:t>Khả</a:t>
            </a:r>
            <a:r>
              <a:rPr lang="en-US" dirty="0"/>
              <a:t> </a:t>
            </a:r>
            <a:r>
              <a:rPr lang="en-US" dirty="0" err="1"/>
              <a:t>năng</a:t>
            </a:r>
            <a:r>
              <a:rPr lang="en-US" dirty="0"/>
              <a:t> </a:t>
            </a:r>
            <a:r>
              <a:rPr lang="en-US" dirty="0" err="1"/>
              <a:t>chính</a:t>
            </a:r>
            <a:r>
              <a:rPr lang="en-US" dirty="0"/>
              <a:t>: Quản </a:t>
            </a:r>
            <a:r>
              <a:rPr lang="en-US" dirty="0" err="1"/>
              <a:t>lí</a:t>
            </a:r>
            <a:r>
              <a:rPr lang="en-US" dirty="0"/>
              <a:t> </a:t>
            </a:r>
            <a:r>
              <a:rPr lang="en-US" dirty="0" err="1"/>
              <a:t>các</a:t>
            </a:r>
            <a:r>
              <a:rPr lang="en-US" dirty="0"/>
              <a:t> model, </a:t>
            </a:r>
            <a:r>
              <a:rPr lang="en-US" dirty="0" err="1"/>
              <a:t>tích</a:t>
            </a:r>
            <a:r>
              <a:rPr lang="en-US" dirty="0"/>
              <a:t> </a:t>
            </a:r>
            <a:r>
              <a:rPr lang="en-US" dirty="0" err="1"/>
              <a:t>hợp</a:t>
            </a:r>
            <a:r>
              <a:rPr lang="en-US" dirty="0"/>
              <a:t> </a:t>
            </a:r>
            <a:r>
              <a:rPr lang="en-US" dirty="0" err="1"/>
              <a:t>các</a:t>
            </a:r>
            <a:r>
              <a:rPr lang="en-US" dirty="0"/>
              <a:t> </a:t>
            </a:r>
            <a:r>
              <a:rPr lang="en-US" dirty="0" err="1"/>
              <a:t>dữ</a:t>
            </a:r>
            <a:r>
              <a:rPr lang="en-US" dirty="0"/>
              <a:t> </a:t>
            </a:r>
            <a:r>
              <a:rPr lang="en-US" dirty="0" err="1"/>
              <a:t>liệu</a:t>
            </a:r>
            <a:r>
              <a:rPr lang="en-US" dirty="0"/>
              <a:t>, </a:t>
            </a:r>
            <a:r>
              <a:rPr lang="en-US" dirty="0" err="1"/>
              <a:t>điều</a:t>
            </a:r>
            <a:r>
              <a:rPr lang="en-US" dirty="0"/>
              <a:t> </a:t>
            </a:r>
            <a:r>
              <a:rPr lang="en-US" dirty="0" err="1"/>
              <a:t>phối</a:t>
            </a:r>
            <a:r>
              <a:rPr lang="en-US" dirty="0"/>
              <a:t>, </a:t>
            </a:r>
            <a:r>
              <a:rPr lang="en-US" dirty="0" err="1"/>
              <a:t>đánh</a:t>
            </a:r>
            <a:r>
              <a:rPr lang="en-US" dirty="0"/>
              <a:t> </a:t>
            </a:r>
            <a:r>
              <a:rPr lang="en-US" dirty="0" err="1"/>
              <a:t>giá</a:t>
            </a:r>
            <a:r>
              <a:rPr lang="en-US" dirty="0"/>
              <a:t> </a:t>
            </a:r>
            <a:r>
              <a:rPr lang="en-US" dirty="0" err="1"/>
              <a:t>và</a:t>
            </a:r>
            <a:r>
              <a:rPr lang="en-US" dirty="0"/>
              <a:t> </a:t>
            </a:r>
            <a:r>
              <a:rPr lang="en-US" dirty="0" err="1"/>
              <a:t>giám</a:t>
            </a:r>
            <a:r>
              <a:rPr lang="en-US" dirty="0"/>
              <a:t> </a:t>
            </a:r>
            <a:r>
              <a:rPr lang="en-US" dirty="0" err="1"/>
              <a:t>sát</a:t>
            </a:r>
            <a:endParaRPr lang="en-US" dirty="0"/>
          </a:p>
          <a:p>
            <a:endParaRPr lang="en-US" dirty="0"/>
          </a:p>
        </p:txBody>
      </p:sp>
      <p:sp>
        <p:nvSpPr>
          <p:cNvPr id="4" name="Slide Number Placeholder 3">
            <a:extLst>
              <a:ext uri="{FF2B5EF4-FFF2-40B4-BE49-F238E27FC236}">
                <a16:creationId xmlns:a16="http://schemas.microsoft.com/office/drawing/2014/main" id="{2F7752B3-C432-E714-E377-E93418195829}"/>
              </a:ext>
            </a:extLst>
          </p:cNvPr>
          <p:cNvSpPr>
            <a:spLocks noGrp="1"/>
          </p:cNvSpPr>
          <p:nvPr>
            <p:ph type="sldNum" sz="quarter" idx="5"/>
          </p:nvPr>
        </p:nvSpPr>
        <p:spPr/>
        <p:txBody>
          <a:bodyPr/>
          <a:lstStyle/>
          <a:p>
            <a:fld id="{42224020-3F5F-44AE-896D-09F0AE68775F}" type="slidenum">
              <a:rPr lang="en-US" smtClean="0"/>
              <a:t>5</a:t>
            </a:fld>
            <a:endParaRPr lang="en-US"/>
          </a:p>
        </p:txBody>
      </p:sp>
    </p:spTree>
    <p:extLst>
      <p:ext uri="{BB962C8B-B14F-4D97-AF65-F5344CB8AC3E}">
        <p14:creationId xmlns:p14="http://schemas.microsoft.com/office/powerpoint/2010/main" val="14921091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a:t>
            </a:r>
            <a:r>
              <a:rPr lang="en-US" dirty="0" err="1"/>
              <a:t>các</a:t>
            </a:r>
            <a:r>
              <a:rPr lang="en-US" dirty="0"/>
              <a:t> </a:t>
            </a:r>
            <a:r>
              <a:rPr lang="en-US" dirty="0" err="1"/>
              <a:t>dịch</a:t>
            </a:r>
            <a:r>
              <a:rPr lang="en-US" dirty="0"/>
              <a:t> </a:t>
            </a:r>
            <a:r>
              <a:rPr lang="en-US" dirty="0" err="1"/>
              <a:t>vụ</a:t>
            </a:r>
            <a:r>
              <a:rPr lang="en-US" dirty="0"/>
              <a:t> Azure AI, Azure OpenAI </a:t>
            </a:r>
            <a:r>
              <a:rPr lang="en-US" dirty="0" err="1"/>
              <a:t>là</a:t>
            </a:r>
            <a:r>
              <a:rPr lang="en-US" dirty="0"/>
              <a:t> service </a:t>
            </a:r>
            <a:r>
              <a:rPr lang="en-US" dirty="0" err="1"/>
              <a:t>mạnh</a:t>
            </a:r>
            <a:r>
              <a:rPr lang="en-US" dirty="0"/>
              <a:t> </a:t>
            </a:r>
            <a:r>
              <a:rPr lang="en-US" dirty="0" err="1"/>
              <a:t>nhất</a:t>
            </a:r>
            <a:r>
              <a:rPr lang="en-US" dirty="0"/>
              <a:t>. </a:t>
            </a:r>
            <a:r>
              <a:rPr lang="en-US" dirty="0" err="1"/>
              <a:t>Vì</a:t>
            </a:r>
            <a:r>
              <a:rPr lang="en-US" dirty="0"/>
              <a:t> </a:t>
            </a:r>
            <a:r>
              <a:rPr lang="en-US" dirty="0" err="1"/>
              <a:t>nó</a:t>
            </a:r>
            <a:r>
              <a:rPr lang="en-US" dirty="0"/>
              <a:t> </a:t>
            </a:r>
            <a:r>
              <a:rPr lang="en-US" dirty="0" err="1"/>
              <a:t>không</a:t>
            </a:r>
            <a:r>
              <a:rPr lang="en-US" dirty="0"/>
              <a:t> </a:t>
            </a:r>
            <a:r>
              <a:rPr lang="en-US" dirty="0" err="1"/>
              <a:t>chỉ</a:t>
            </a:r>
            <a:r>
              <a:rPr lang="en-US" dirty="0"/>
              <a:t> </a:t>
            </a:r>
            <a:r>
              <a:rPr lang="en-US" dirty="0" err="1"/>
              <a:t>phân</a:t>
            </a:r>
            <a:r>
              <a:rPr lang="en-US" dirty="0"/>
              <a:t> </a:t>
            </a:r>
            <a:r>
              <a:rPr lang="en-US" dirty="0" err="1"/>
              <a:t>tích</a:t>
            </a:r>
            <a:r>
              <a:rPr lang="en-US" dirty="0"/>
              <a:t> </a:t>
            </a:r>
            <a:r>
              <a:rPr lang="en-US" dirty="0" err="1"/>
              <a:t>dữ</a:t>
            </a:r>
            <a:r>
              <a:rPr lang="en-US" dirty="0"/>
              <a:t> </a:t>
            </a:r>
            <a:r>
              <a:rPr lang="en-US" dirty="0" err="1"/>
              <a:t>liệu</a:t>
            </a:r>
            <a:r>
              <a:rPr lang="en-US" dirty="0"/>
              <a:t>, </a:t>
            </a:r>
            <a:r>
              <a:rPr lang="en-US" dirty="0" err="1"/>
              <a:t>mà</a:t>
            </a:r>
            <a:r>
              <a:rPr lang="en-US" dirty="0"/>
              <a:t> </a:t>
            </a:r>
            <a:r>
              <a:rPr lang="en-US" dirty="0" err="1"/>
              <a:t>có</a:t>
            </a:r>
            <a:r>
              <a:rPr lang="en-US" dirty="0"/>
              <a:t> </a:t>
            </a:r>
            <a:r>
              <a:rPr lang="en-US" dirty="0" err="1"/>
              <a:t>thể</a:t>
            </a:r>
            <a:r>
              <a:rPr lang="en-US" dirty="0"/>
              <a:t> </a:t>
            </a:r>
            <a:r>
              <a:rPr lang="en-US" b="1" dirty="0" err="1"/>
              <a:t>tạo</a:t>
            </a:r>
            <a:r>
              <a:rPr lang="en-US" b="1" dirty="0"/>
              <a:t> </a:t>
            </a:r>
            <a:r>
              <a:rPr lang="en-US" b="1" dirty="0" err="1"/>
              <a:t>ra</a:t>
            </a:r>
            <a:r>
              <a:rPr lang="en-US" b="1" dirty="0"/>
              <a:t> </a:t>
            </a:r>
            <a:r>
              <a:rPr lang="en-US" b="1" dirty="0" err="1"/>
              <a:t>nội</a:t>
            </a:r>
            <a:r>
              <a:rPr lang="en-US" b="1" dirty="0"/>
              <a:t> dung </a:t>
            </a:r>
            <a:r>
              <a:rPr lang="en-US" b="1" dirty="0" err="1"/>
              <a:t>mới</a:t>
            </a: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Ví</a:t>
            </a:r>
            <a:r>
              <a:rPr lang="en-US" dirty="0"/>
              <a:t> </a:t>
            </a:r>
            <a:r>
              <a:rPr lang="en-US" dirty="0" err="1"/>
              <a:t>dụ</a:t>
            </a:r>
            <a:r>
              <a:rPr lang="en-US" dirty="0"/>
              <a:t> </a:t>
            </a:r>
            <a:r>
              <a:rPr lang="en-US" dirty="0" err="1"/>
              <a:t>với</a:t>
            </a:r>
            <a:r>
              <a:rPr lang="en-US" dirty="0"/>
              <a:t> GPT, </a:t>
            </a:r>
            <a:r>
              <a:rPr lang="en-US" dirty="0" err="1"/>
              <a:t>chúng</a:t>
            </a:r>
            <a:r>
              <a:rPr lang="en-US" dirty="0"/>
              <a:t> ta </a:t>
            </a:r>
            <a:r>
              <a:rPr lang="en-US" dirty="0" err="1"/>
              <a:t>có</a:t>
            </a:r>
            <a:r>
              <a:rPr lang="en-US" dirty="0"/>
              <a:t> </a:t>
            </a:r>
            <a:r>
              <a:rPr lang="en-US" dirty="0" err="1"/>
              <a:t>thể</a:t>
            </a:r>
            <a:r>
              <a:rPr lang="en-US" dirty="0"/>
              <a:t> </a:t>
            </a:r>
            <a:r>
              <a:rPr lang="en-US" dirty="0" err="1"/>
              <a:t>xây</a:t>
            </a:r>
            <a:r>
              <a:rPr lang="en-US" dirty="0"/>
              <a:t> chatbot, </a:t>
            </a:r>
            <a:r>
              <a:rPr lang="en-US" dirty="0" err="1"/>
              <a:t>QnA</a:t>
            </a:r>
            <a:r>
              <a:rPr lang="en-US" dirty="0"/>
              <a:t>, </a:t>
            </a:r>
            <a:r>
              <a:rPr lang="en-US" dirty="0" err="1"/>
              <a:t>tổng</a:t>
            </a:r>
            <a:r>
              <a:rPr lang="en-US" dirty="0"/>
              <a:t> </a:t>
            </a:r>
            <a:r>
              <a:rPr lang="en-US" dirty="0" err="1"/>
              <a:t>hợp</a:t>
            </a:r>
            <a:r>
              <a:rPr lang="en-US" dirty="0"/>
              <a:t> </a:t>
            </a:r>
            <a:r>
              <a:rPr lang="en-US" dirty="0" err="1"/>
              <a:t>thông</a:t>
            </a:r>
            <a:r>
              <a:rPr lang="en-US" dirty="0"/>
              <a:t> tin , </a:t>
            </a:r>
            <a:r>
              <a:rPr lang="en-US" dirty="0" err="1"/>
              <a:t>Hiểu</a:t>
            </a:r>
            <a:r>
              <a:rPr lang="en-US" dirty="0"/>
              <a:t> </a:t>
            </a:r>
            <a:r>
              <a:rPr lang="en-US" dirty="0" err="1"/>
              <a:t>ngữ</a:t>
            </a:r>
            <a:r>
              <a:rPr lang="en-US" dirty="0"/>
              <a:t> </a:t>
            </a:r>
            <a:r>
              <a:rPr lang="en-US" dirty="0" err="1"/>
              <a:t>cảnh</a:t>
            </a:r>
            <a:r>
              <a:rPr lang="en-US" dirty="0"/>
              <a:t> &amp; </a:t>
            </a:r>
            <a:r>
              <a:rPr lang="en-US" dirty="0" err="1"/>
              <a:t>hội</a:t>
            </a:r>
            <a:r>
              <a:rPr lang="en-US" dirty="0"/>
              <a:t> </a:t>
            </a:r>
            <a:r>
              <a:rPr lang="en-US" dirty="0" err="1"/>
              <a:t>thoại</a:t>
            </a:r>
            <a:r>
              <a:rPr lang="en-US" dirty="0"/>
              <a:t> , </a:t>
            </a:r>
            <a:r>
              <a:rPr lang="en-US" dirty="0" err="1"/>
              <a:t>Có</a:t>
            </a:r>
            <a:r>
              <a:rPr lang="en-US" dirty="0"/>
              <a:t> </a:t>
            </a:r>
            <a:r>
              <a:rPr lang="en-US" dirty="0" err="1"/>
              <a:t>thể</a:t>
            </a:r>
            <a:r>
              <a:rPr lang="en-US" dirty="0"/>
              <a:t> </a:t>
            </a:r>
            <a:r>
              <a:rPr lang="en-US" dirty="0" err="1"/>
              <a:t>kết</a:t>
            </a:r>
            <a:r>
              <a:rPr lang="en-US" dirty="0"/>
              <a:t> </a:t>
            </a:r>
            <a:r>
              <a:rPr lang="en-US" dirty="0" err="1"/>
              <a:t>hợp</a:t>
            </a:r>
            <a:r>
              <a:rPr lang="en-US" dirty="0"/>
              <a:t> </a:t>
            </a:r>
            <a:r>
              <a:rPr lang="en-US" dirty="0" err="1"/>
              <a:t>với</a:t>
            </a:r>
            <a:r>
              <a:rPr lang="en-US" dirty="0"/>
              <a:t> </a:t>
            </a:r>
            <a:r>
              <a:rPr lang="en-US" dirty="0" err="1"/>
              <a:t>dữ</a:t>
            </a:r>
            <a:r>
              <a:rPr lang="en-US" dirty="0"/>
              <a:t> </a:t>
            </a:r>
            <a:r>
              <a:rPr lang="en-US" dirty="0" err="1"/>
              <a:t>liệu</a:t>
            </a:r>
            <a:r>
              <a:rPr lang="en-US" dirty="0"/>
              <a:t> </a:t>
            </a:r>
            <a:r>
              <a:rPr lang="en-US" dirty="0" err="1"/>
              <a:t>nội</a:t>
            </a:r>
            <a:r>
              <a:rPr lang="en-US" dirty="0"/>
              <a:t> </a:t>
            </a:r>
            <a:r>
              <a:rPr lang="en-US" dirty="0" err="1"/>
              <a:t>bộ</a:t>
            </a:r>
            <a:r>
              <a:rPr lang="en-US" dirty="0"/>
              <a:t> (RAG)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err="1"/>
              <a:t>Ngoài</a:t>
            </a:r>
            <a:r>
              <a:rPr lang="en-US" dirty="0"/>
              <a:t> text, Azure OpenAI </a:t>
            </a:r>
            <a:r>
              <a:rPr lang="en-US" dirty="0" err="1"/>
              <a:t>còn</a:t>
            </a:r>
            <a:r>
              <a:rPr lang="en-US" dirty="0"/>
              <a:t> </a:t>
            </a:r>
            <a:r>
              <a:rPr lang="en-US" dirty="0" err="1"/>
              <a:t>hỗ</a:t>
            </a:r>
            <a:r>
              <a:rPr lang="en-US" dirty="0"/>
              <a:t> </a:t>
            </a:r>
            <a:r>
              <a:rPr lang="en-US" dirty="0" err="1"/>
              <a:t>trợ</a:t>
            </a:r>
            <a:r>
              <a:rPr lang="en-US" dirty="0"/>
              <a:t> </a:t>
            </a:r>
            <a:r>
              <a:rPr lang="en-US" dirty="0" err="1"/>
              <a:t>tạo</a:t>
            </a:r>
            <a:r>
              <a:rPr lang="en-US" dirty="0"/>
              <a:t> </a:t>
            </a:r>
            <a:r>
              <a:rPr lang="en-US" dirty="0" err="1"/>
              <a:t>hình</a:t>
            </a:r>
            <a:r>
              <a:rPr lang="en-US" dirty="0"/>
              <a:t> </a:t>
            </a:r>
            <a:r>
              <a:rPr lang="en-US" dirty="0" err="1"/>
              <a:t>ảnh</a:t>
            </a:r>
            <a:r>
              <a:rPr lang="en-US" dirty="0"/>
              <a:t>…”</a:t>
            </a:r>
          </a:p>
          <a:p>
            <a:r>
              <a:rPr lang="en-US" dirty="0"/>
              <a:t>“</a:t>
            </a:r>
            <a:r>
              <a:rPr lang="en-US" dirty="0" err="1"/>
              <a:t>Ví</a:t>
            </a:r>
            <a:r>
              <a:rPr lang="en-US" dirty="0"/>
              <a:t> </a:t>
            </a:r>
            <a:r>
              <a:rPr lang="en-US" dirty="0" err="1"/>
              <a:t>dụ</a:t>
            </a:r>
            <a:r>
              <a:rPr lang="en-US" dirty="0"/>
              <a:t>: generate product image </a:t>
            </a:r>
            <a:r>
              <a:rPr lang="en-US" dirty="0" err="1"/>
              <a:t>hoặc</a:t>
            </a:r>
            <a:r>
              <a:rPr lang="en-US" dirty="0"/>
              <a:t> </a:t>
            </a:r>
            <a:r>
              <a:rPr lang="en-US" dirty="0" err="1"/>
              <a:t>nội</a:t>
            </a:r>
            <a:r>
              <a:rPr lang="en-US" dirty="0"/>
              <a:t> dung marketing </a:t>
            </a:r>
            <a:r>
              <a:rPr lang="en-US" dirty="0" err="1"/>
              <a:t>chỉ</a:t>
            </a:r>
            <a:r>
              <a:rPr lang="en-US" dirty="0"/>
              <a:t> </a:t>
            </a:r>
            <a:r>
              <a:rPr lang="en-US" dirty="0" err="1"/>
              <a:t>từ</a:t>
            </a:r>
            <a:r>
              <a:rPr lang="en-US" dirty="0"/>
              <a:t> </a:t>
            </a:r>
            <a:r>
              <a:rPr lang="en-US" dirty="0" err="1"/>
              <a:t>mô</a:t>
            </a:r>
            <a:r>
              <a:rPr lang="en-US" dirty="0"/>
              <a:t> </a:t>
            </a:r>
            <a:r>
              <a:rPr lang="en-US" dirty="0" err="1"/>
              <a:t>tả</a:t>
            </a:r>
            <a:r>
              <a:rPr lang="en-US" dirty="0"/>
              <a:t> text”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42224020-3F5F-44AE-896D-09F0AE68775F}" type="slidenum">
              <a:rPr lang="en-US" smtClean="0"/>
              <a:t>6</a:t>
            </a:fld>
            <a:endParaRPr lang="en-US"/>
          </a:p>
        </p:txBody>
      </p:sp>
    </p:spTree>
    <p:extLst>
      <p:ext uri="{BB962C8B-B14F-4D97-AF65-F5344CB8AC3E}">
        <p14:creationId xmlns:p14="http://schemas.microsoft.com/office/powerpoint/2010/main" val="38356289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E3761-006C-B5D4-7DEC-E44F0ABA17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A219DE-28AB-D3EE-238D-782734D5A6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ED6A71-89DA-35BE-4896-4B3CBA51B9AE}"/>
              </a:ext>
            </a:extLst>
          </p:cNvPr>
          <p:cNvSpPr>
            <a:spLocks noGrp="1"/>
          </p:cNvSpPr>
          <p:nvPr>
            <p:ph type="body" idx="1"/>
          </p:nvPr>
        </p:nvSpPr>
        <p:spPr/>
        <p:txBody>
          <a:bodyPr/>
          <a:lstStyle/>
          <a:p>
            <a:r>
              <a:rPr lang="en-US" dirty="0"/>
              <a:t>Khi </a:t>
            </a:r>
            <a:r>
              <a:rPr lang="en-US" dirty="0" err="1"/>
              <a:t>chúng</a:t>
            </a:r>
            <a:r>
              <a:rPr lang="en-US" dirty="0"/>
              <a:t> ta </a:t>
            </a:r>
            <a:r>
              <a:rPr lang="en-US" dirty="0" err="1"/>
              <a:t>xây</a:t>
            </a:r>
            <a:r>
              <a:rPr lang="en-US" dirty="0"/>
              <a:t> </a:t>
            </a:r>
            <a:r>
              <a:rPr lang="en-US" dirty="0" err="1"/>
              <a:t>dựng</a:t>
            </a:r>
            <a:r>
              <a:rPr lang="en-US" dirty="0"/>
              <a:t> AI system, </a:t>
            </a:r>
            <a:r>
              <a:rPr lang="en-US" dirty="0" err="1"/>
              <a:t>đặc</a:t>
            </a:r>
            <a:r>
              <a:rPr lang="en-US" dirty="0"/>
              <a:t> </a:t>
            </a:r>
            <a:r>
              <a:rPr lang="en-US" dirty="0" err="1"/>
              <a:t>biệt</a:t>
            </a:r>
            <a:r>
              <a:rPr lang="en-US" dirty="0"/>
              <a:t> </a:t>
            </a:r>
            <a:r>
              <a:rPr lang="en-US" dirty="0" err="1"/>
              <a:t>là</a:t>
            </a:r>
            <a:r>
              <a:rPr lang="en-US" dirty="0"/>
              <a:t> </a:t>
            </a:r>
            <a:r>
              <a:rPr lang="en-US" dirty="0" err="1"/>
              <a:t>với</a:t>
            </a:r>
            <a:r>
              <a:rPr lang="en-US" dirty="0"/>
              <a:t> OpenAI</a:t>
            </a:r>
          </a:p>
          <a:p>
            <a:r>
              <a:rPr lang="en-US" dirty="0" err="1"/>
              <a:t>Một</a:t>
            </a:r>
            <a:r>
              <a:rPr lang="en-US" dirty="0"/>
              <a:t> </a:t>
            </a:r>
            <a:r>
              <a:rPr lang="en-US" dirty="0" err="1"/>
              <a:t>vấn</a:t>
            </a:r>
            <a:r>
              <a:rPr lang="en-US" dirty="0"/>
              <a:t> </a:t>
            </a:r>
            <a:r>
              <a:rPr lang="en-US" dirty="0" err="1"/>
              <a:t>đề</a:t>
            </a:r>
            <a:r>
              <a:rPr lang="en-US" dirty="0"/>
              <a:t> </a:t>
            </a:r>
            <a:r>
              <a:rPr lang="en-US" dirty="0" err="1"/>
              <a:t>rất</a:t>
            </a:r>
            <a:r>
              <a:rPr lang="en-US" dirty="0"/>
              <a:t> </a:t>
            </a:r>
            <a:r>
              <a:rPr lang="en-US" dirty="0" err="1"/>
              <a:t>quan</a:t>
            </a:r>
            <a:r>
              <a:rPr lang="en-US" dirty="0"/>
              <a:t> </a:t>
            </a:r>
            <a:r>
              <a:rPr lang="en-US" dirty="0" err="1"/>
              <a:t>trọng</a:t>
            </a:r>
            <a:r>
              <a:rPr lang="en-US" dirty="0"/>
              <a:t> </a:t>
            </a:r>
            <a:r>
              <a:rPr lang="en-US" dirty="0" err="1"/>
              <a:t>là</a:t>
            </a:r>
            <a:r>
              <a:rPr lang="en-US" dirty="0"/>
              <a:t>: AI </a:t>
            </a:r>
            <a:r>
              <a:rPr lang="en-US" dirty="0" err="1"/>
              <a:t>có</a:t>
            </a:r>
            <a:r>
              <a:rPr lang="en-US" dirty="0"/>
              <a:t> </a:t>
            </a:r>
            <a:r>
              <a:rPr lang="en-US" dirty="0" err="1"/>
              <a:t>thể</a:t>
            </a:r>
            <a:r>
              <a:rPr lang="en-US" dirty="0"/>
              <a:t> </a:t>
            </a:r>
            <a:r>
              <a:rPr lang="en-US" dirty="0" err="1"/>
              <a:t>tạo</a:t>
            </a:r>
            <a:r>
              <a:rPr lang="en-US" dirty="0"/>
              <a:t> </a:t>
            </a:r>
            <a:r>
              <a:rPr lang="en-US" dirty="0" err="1"/>
              <a:t>ra</a:t>
            </a:r>
            <a:r>
              <a:rPr lang="en-US" dirty="0"/>
              <a:t> </a:t>
            </a:r>
            <a:r>
              <a:rPr lang="en-US" dirty="0" err="1"/>
              <a:t>nội</a:t>
            </a:r>
            <a:r>
              <a:rPr lang="en-US" dirty="0"/>
              <a:t> dung </a:t>
            </a:r>
            <a:r>
              <a:rPr lang="en-US" dirty="0" err="1"/>
              <a:t>không</a:t>
            </a:r>
            <a:r>
              <a:rPr lang="en-US" dirty="0"/>
              <a:t> </a:t>
            </a:r>
            <a:r>
              <a:rPr lang="en-US" dirty="0" err="1"/>
              <a:t>phù</a:t>
            </a:r>
            <a:r>
              <a:rPr lang="en-US" dirty="0"/>
              <a:t> </a:t>
            </a:r>
            <a:r>
              <a:rPr lang="en-US" dirty="0" err="1"/>
              <a:t>hợp</a:t>
            </a:r>
            <a:endParaRPr lang="en-US" dirty="0"/>
          </a:p>
          <a:p>
            <a:r>
              <a:rPr lang="vi-VN" dirty="0"/>
              <a:t>Ví dụ: người dùng có thể nhập prompt độc hại</a:t>
            </a:r>
            <a:r>
              <a:rPr lang="en-US" dirty="0"/>
              <a:t> , </a:t>
            </a:r>
            <a:r>
              <a:rPr lang="en-US" dirty="0" err="1"/>
              <a:t>Hoặc</a:t>
            </a:r>
            <a:r>
              <a:rPr lang="en-US" dirty="0"/>
              <a:t> AI </a:t>
            </a:r>
            <a:r>
              <a:rPr lang="en-US" dirty="0" err="1"/>
              <a:t>có</a:t>
            </a:r>
            <a:r>
              <a:rPr lang="en-US" dirty="0"/>
              <a:t> </a:t>
            </a:r>
            <a:r>
              <a:rPr lang="en-US" dirty="0" err="1"/>
              <a:t>thể</a:t>
            </a:r>
            <a:r>
              <a:rPr lang="en-US" dirty="0"/>
              <a:t> generate </a:t>
            </a:r>
            <a:r>
              <a:rPr lang="en-US" dirty="0" err="1"/>
              <a:t>nội</a:t>
            </a:r>
            <a:r>
              <a:rPr lang="en-US" dirty="0"/>
              <a:t> dung vi </a:t>
            </a:r>
            <a:r>
              <a:rPr lang="en-US" dirty="0" err="1"/>
              <a:t>phạm</a:t>
            </a:r>
            <a:r>
              <a:rPr lang="en-US" dirty="0"/>
              <a:t> </a:t>
            </a:r>
            <a:r>
              <a:rPr lang="en-US" dirty="0" err="1"/>
              <a:t>nếu</a:t>
            </a:r>
            <a:r>
              <a:rPr lang="en-US" dirty="0"/>
              <a:t> </a:t>
            </a:r>
            <a:r>
              <a:rPr lang="en-US" dirty="0" err="1"/>
              <a:t>không</a:t>
            </a:r>
            <a:r>
              <a:rPr lang="en-US" dirty="0"/>
              <a:t> </a:t>
            </a:r>
            <a:r>
              <a:rPr lang="en-US" dirty="0" err="1"/>
              <a:t>kiểm</a:t>
            </a:r>
            <a:r>
              <a:rPr lang="en-US" dirty="0"/>
              <a:t> </a:t>
            </a:r>
            <a:r>
              <a:rPr lang="en-US" dirty="0" err="1"/>
              <a:t>soát</a:t>
            </a:r>
            <a:endParaRPr lang="en-US" dirty="0"/>
          </a:p>
          <a:p>
            <a:r>
              <a:rPr lang="vi-VN" dirty="0"/>
              <a:t>Và đó là lý do Azure Content Safety được sử dụng như một lớp bảo vệ</a:t>
            </a:r>
            <a:r>
              <a:rPr lang="en-US" dirty="0"/>
              <a:t> </a:t>
            </a:r>
            <a:r>
              <a:rPr lang="en-US" dirty="0" err="1"/>
              <a:t>để</a:t>
            </a:r>
            <a:r>
              <a:rPr lang="en-US" dirty="0"/>
              <a:t> </a:t>
            </a:r>
            <a:r>
              <a:rPr lang="en-US" dirty="0" err="1"/>
              <a:t>phát</a:t>
            </a:r>
            <a:r>
              <a:rPr lang="en-US" dirty="0"/>
              <a:t> </a:t>
            </a:r>
            <a:r>
              <a:rPr lang="en-US" dirty="0" err="1"/>
              <a:t>hiện</a:t>
            </a:r>
            <a:r>
              <a:rPr lang="en-US" dirty="0"/>
              <a:t> </a:t>
            </a:r>
            <a:r>
              <a:rPr lang="en-US" dirty="0" err="1"/>
              <a:t>các</a:t>
            </a:r>
            <a:r>
              <a:rPr lang="en-US" dirty="0"/>
              <a:t> </a:t>
            </a:r>
            <a:r>
              <a:rPr lang="en-US" dirty="0" err="1"/>
              <a:t>nội</a:t>
            </a:r>
            <a:r>
              <a:rPr lang="en-US" dirty="0"/>
              <a:t> dung </a:t>
            </a:r>
            <a:r>
              <a:rPr lang="en-US" dirty="0" err="1"/>
              <a:t>nguy</a:t>
            </a:r>
            <a:r>
              <a:rPr lang="en-US" dirty="0"/>
              <a:t> </a:t>
            </a:r>
            <a:r>
              <a:rPr lang="en-US" dirty="0" err="1"/>
              <a:t>hiểm</a:t>
            </a:r>
            <a:r>
              <a:rPr lang="en-US" dirty="0"/>
              <a:t>, </a:t>
            </a:r>
            <a:r>
              <a:rPr lang="en-US" dirty="0" err="1"/>
              <a:t>đánh</a:t>
            </a:r>
            <a:r>
              <a:rPr lang="en-US" dirty="0"/>
              <a:t> </a:t>
            </a:r>
            <a:r>
              <a:rPr lang="en-US" dirty="0" err="1"/>
              <a:t>giá</a:t>
            </a:r>
            <a:r>
              <a:rPr lang="en-US" dirty="0"/>
              <a:t> </a:t>
            </a:r>
            <a:r>
              <a:rPr lang="en-US" dirty="0" err="1"/>
              <a:t>mức</a:t>
            </a:r>
            <a:r>
              <a:rPr lang="en-US" dirty="0"/>
              <a:t> </a:t>
            </a:r>
            <a:r>
              <a:rPr lang="en-US" dirty="0" err="1"/>
              <a:t>độ</a:t>
            </a:r>
            <a:r>
              <a:rPr lang="en-US" dirty="0"/>
              <a:t>, </a:t>
            </a:r>
            <a:r>
              <a:rPr lang="en-US" dirty="0" err="1"/>
              <a:t>và</a:t>
            </a:r>
            <a:r>
              <a:rPr lang="en-US" dirty="0"/>
              <a:t> </a:t>
            </a:r>
            <a:r>
              <a:rPr lang="en-US" dirty="0" err="1"/>
              <a:t>tùy</a:t>
            </a:r>
            <a:r>
              <a:rPr lang="en-US" dirty="0"/>
              <a:t> </a:t>
            </a:r>
            <a:r>
              <a:rPr lang="en-US" dirty="0" err="1"/>
              <a:t>chỉnh</a:t>
            </a:r>
            <a:r>
              <a:rPr lang="en-US" dirty="0"/>
              <a:t> filter</a:t>
            </a:r>
          </a:p>
          <a:p>
            <a:r>
              <a:rPr lang="vi-VN" dirty="0"/>
              <a:t>Thông thường, Content Safety sẽ được đặt ở cả 2 phía:”</a:t>
            </a:r>
          </a:p>
          <a:p>
            <a:r>
              <a:rPr lang="vi-VN" dirty="0"/>
              <a:t>“Trước khi request vào OpenAI → để filter input” </a:t>
            </a:r>
          </a:p>
          <a:p>
            <a:r>
              <a:rPr lang="vi-VN" dirty="0"/>
              <a:t>“Sau khi AI generate → để filter output”</a:t>
            </a:r>
            <a:endParaRPr lang="en-US" dirty="0"/>
          </a:p>
          <a:p>
            <a:r>
              <a:rPr lang="vi-VN" dirty="0"/>
              <a:t>Như vậy, chúng ta đảm bảo cả đầu vào và đầu ra đều an toàn</a:t>
            </a:r>
          </a:p>
          <a:p>
            <a:endParaRPr lang="en-US" dirty="0"/>
          </a:p>
        </p:txBody>
      </p:sp>
      <p:sp>
        <p:nvSpPr>
          <p:cNvPr id="4" name="Slide Number Placeholder 3">
            <a:extLst>
              <a:ext uri="{FF2B5EF4-FFF2-40B4-BE49-F238E27FC236}">
                <a16:creationId xmlns:a16="http://schemas.microsoft.com/office/drawing/2014/main" id="{744F4926-C48C-949A-97B2-86267C6ABF6C}"/>
              </a:ext>
            </a:extLst>
          </p:cNvPr>
          <p:cNvSpPr>
            <a:spLocks noGrp="1"/>
          </p:cNvSpPr>
          <p:nvPr>
            <p:ph type="sldNum" sz="quarter" idx="5"/>
          </p:nvPr>
        </p:nvSpPr>
        <p:spPr/>
        <p:txBody>
          <a:bodyPr/>
          <a:lstStyle/>
          <a:p>
            <a:fld id="{42224020-3F5F-44AE-896D-09F0AE68775F}" type="slidenum">
              <a:rPr lang="en-US" smtClean="0"/>
              <a:t>7</a:t>
            </a:fld>
            <a:endParaRPr lang="en-US"/>
          </a:p>
        </p:txBody>
      </p:sp>
    </p:spTree>
    <p:extLst>
      <p:ext uri="{BB962C8B-B14F-4D97-AF65-F5344CB8AC3E}">
        <p14:creationId xmlns:p14="http://schemas.microsoft.com/office/powerpoint/2010/main" val="10853925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8AD0E-0668-4651-21BB-891B41C101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6C1848-810B-CDB1-CF17-14E2BDAA69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2A4CEF-5E6A-57B9-7A39-506CA9415A70}"/>
              </a:ext>
            </a:extLst>
          </p:cNvPr>
          <p:cNvSpPr>
            <a:spLocks noGrp="1"/>
          </p:cNvSpPr>
          <p:nvPr>
            <p:ph type="body" idx="1"/>
          </p:nvPr>
        </p:nvSpPr>
        <p:spPr/>
        <p:txBody>
          <a:bodyPr/>
          <a:lstStyle/>
          <a:p>
            <a:r>
              <a:rPr lang="en-US" dirty="0" err="1"/>
              <a:t>Không</a:t>
            </a:r>
            <a:r>
              <a:rPr lang="en-US" dirty="0"/>
              <a:t> </a:t>
            </a:r>
            <a:r>
              <a:rPr lang="en-US" dirty="0" err="1"/>
              <a:t>phải</a:t>
            </a:r>
            <a:r>
              <a:rPr lang="en-US" dirty="0"/>
              <a:t> </a:t>
            </a:r>
            <a:r>
              <a:rPr lang="en-US" dirty="0" err="1"/>
              <a:t>tất</a:t>
            </a:r>
            <a:r>
              <a:rPr lang="en-US" dirty="0"/>
              <a:t> </a:t>
            </a:r>
            <a:r>
              <a:rPr lang="en-US" dirty="0" err="1"/>
              <a:t>cả</a:t>
            </a:r>
            <a:r>
              <a:rPr lang="en-US" dirty="0"/>
              <a:t> </a:t>
            </a:r>
            <a:r>
              <a:rPr lang="en-US" dirty="0" err="1"/>
              <a:t>dữ</a:t>
            </a:r>
            <a:r>
              <a:rPr lang="en-US" dirty="0"/>
              <a:t> </a:t>
            </a:r>
            <a:r>
              <a:rPr lang="en-US" dirty="0" err="1"/>
              <a:t>liệu</a:t>
            </a:r>
            <a:r>
              <a:rPr lang="en-US" dirty="0"/>
              <a:t> </a:t>
            </a:r>
            <a:r>
              <a:rPr lang="en-US" dirty="0" err="1"/>
              <a:t>đều</a:t>
            </a:r>
            <a:r>
              <a:rPr lang="en-US" dirty="0"/>
              <a:t> </a:t>
            </a:r>
            <a:r>
              <a:rPr lang="en-US" dirty="0" err="1"/>
              <a:t>là</a:t>
            </a:r>
            <a:r>
              <a:rPr lang="en-US" dirty="0"/>
              <a:t> text. Trong </a:t>
            </a:r>
            <a:r>
              <a:rPr lang="en-US" dirty="0" err="1"/>
              <a:t>thực</a:t>
            </a:r>
            <a:r>
              <a:rPr lang="en-US" dirty="0"/>
              <a:t> </a:t>
            </a:r>
            <a:r>
              <a:rPr lang="en-US" dirty="0" err="1"/>
              <a:t>tế</a:t>
            </a:r>
            <a:r>
              <a:rPr lang="en-US" dirty="0"/>
              <a:t>, </a:t>
            </a:r>
            <a:r>
              <a:rPr lang="en-US" dirty="0" err="1"/>
              <a:t>rất</a:t>
            </a:r>
            <a:r>
              <a:rPr lang="en-US" dirty="0"/>
              <a:t> </a:t>
            </a:r>
            <a:r>
              <a:rPr lang="en-US" dirty="0" err="1"/>
              <a:t>nhiều</a:t>
            </a:r>
            <a:r>
              <a:rPr lang="en-US" dirty="0"/>
              <a:t> </a:t>
            </a:r>
            <a:r>
              <a:rPr lang="en-US" dirty="0" err="1"/>
              <a:t>dữ</a:t>
            </a:r>
            <a:r>
              <a:rPr lang="en-US" dirty="0"/>
              <a:t> </a:t>
            </a:r>
            <a:r>
              <a:rPr lang="en-US" dirty="0" err="1"/>
              <a:t>liệu</a:t>
            </a:r>
            <a:r>
              <a:rPr lang="en-US" dirty="0"/>
              <a:t> </a:t>
            </a:r>
            <a:r>
              <a:rPr lang="en-US" dirty="0" err="1"/>
              <a:t>đến</a:t>
            </a:r>
            <a:r>
              <a:rPr lang="en-US" dirty="0"/>
              <a:t> </a:t>
            </a:r>
            <a:r>
              <a:rPr lang="en-US" dirty="0" err="1"/>
              <a:t>từ</a:t>
            </a:r>
            <a:r>
              <a:rPr lang="en-US" dirty="0"/>
              <a:t> </a:t>
            </a:r>
            <a:r>
              <a:rPr lang="en-US" dirty="0" err="1"/>
              <a:t>hình</a:t>
            </a:r>
            <a:r>
              <a:rPr lang="en-US" dirty="0"/>
              <a:t> </a:t>
            </a:r>
            <a:r>
              <a:rPr lang="en-US" dirty="0" err="1"/>
              <a:t>ảnh</a:t>
            </a:r>
            <a:r>
              <a:rPr lang="en-US" dirty="0"/>
              <a:t>…</a:t>
            </a:r>
          </a:p>
          <a:p>
            <a:r>
              <a:rPr lang="vi-VN" dirty="0"/>
              <a:t>Azure AI Vision giúp chúng ta chuyển đổi hình ảnh thành dữ liệu có thể xử lý được</a:t>
            </a:r>
            <a:endParaRPr lang="en-US" dirty="0"/>
          </a:p>
          <a:p>
            <a:r>
              <a:rPr lang="vi-VN" dirty="0"/>
              <a:t>Ví dụ:</a:t>
            </a:r>
          </a:p>
          <a:p>
            <a:r>
              <a:rPr lang="vi-VN" dirty="0"/>
              <a:t>đọc hóa đơn bằng OCR </a:t>
            </a:r>
          </a:p>
          <a:p>
            <a:r>
              <a:rPr lang="vi-VN" dirty="0"/>
              <a:t>nhận diện sản phẩm trong ảnh </a:t>
            </a:r>
          </a:p>
          <a:p>
            <a:r>
              <a:rPr lang="vi-VN" dirty="0"/>
              <a:t>hoặc mô tả nội dung ảnh” </a:t>
            </a:r>
          </a:p>
          <a:p>
            <a:r>
              <a:rPr lang="vi-VN" dirty="0"/>
              <a:t>Sau khi có dữ liệu từ hình ảnh…”</a:t>
            </a:r>
          </a:p>
          <a:p>
            <a:r>
              <a:rPr lang="vi-VN" dirty="0"/>
              <a:t>“Chúng ta có thể đưa vào OpenAI để tạo câu trả lời hoặc phân tích sâu hơn.”</a:t>
            </a:r>
          </a:p>
          <a:p>
            <a:r>
              <a:rPr lang="en-US" dirty="0" err="1"/>
              <a:t>Đây</a:t>
            </a:r>
            <a:r>
              <a:rPr lang="en-US" dirty="0"/>
              <a:t> </a:t>
            </a:r>
            <a:r>
              <a:rPr lang="en-US" dirty="0" err="1"/>
              <a:t>là</a:t>
            </a:r>
            <a:r>
              <a:rPr lang="en-US" dirty="0"/>
              <a:t> </a:t>
            </a:r>
            <a:r>
              <a:rPr lang="en-US" dirty="0" err="1"/>
              <a:t>một</a:t>
            </a:r>
            <a:r>
              <a:rPr lang="en-US" dirty="0"/>
              <a:t> pattern </a:t>
            </a:r>
            <a:r>
              <a:rPr lang="en-US" dirty="0" err="1"/>
              <a:t>rất</a:t>
            </a:r>
            <a:r>
              <a:rPr lang="en-US" dirty="0"/>
              <a:t> </a:t>
            </a:r>
            <a:r>
              <a:rPr lang="en-US" dirty="0" err="1"/>
              <a:t>phổ</a:t>
            </a:r>
            <a:r>
              <a:rPr lang="en-US" dirty="0"/>
              <a:t> </a:t>
            </a:r>
            <a:r>
              <a:rPr lang="en-US" dirty="0" err="1"/>
              <a:t>biến</a:t>
            </a:r>
            <a:r>
              <a:rPr lang="en-US" dirty="0"/>
              <a:t>: Vision → OpenAI</a:t>
            </a:r>
          </a:p>
          <a:p>
            <a:r>
              <a:rPr lang="vi-VN" dirty="0"/>
              <a:t>Vì vậy, Vision đóng vai trò là bước ‘input processing’ cho các hệ thống AI.</a:t>
            </a:r>
            <a:endParaRPr lang="en-US" dirty="0"/>
          </a:p>
        </p:txBody>
      </p:sp>
      <p:sp>
        <p:nvSpPr>
          <p:cNvPr id="4" name="Slide Number Placeholder 3">
            <a:extLst>
              <a:ext uri="{FF2B5EF4-FFF2-40B4-BE49-F238E27FC236}">
                <a16:creationId xmlns:a16="http://schemas.microsoft.com/office/drawing/2014/main" id="{EE47FE21-A8D9-BC90-B892-1C76353F08E8}"/>
              </a:ext>
            </a:extLst>
          </p:cNvPr>
          <p:cNvSpPr>
            <a:spLocks noGrp="1"/>
          </p:cNvSpPr>
          <p:nvPr>
            <p:ph type="sldNum" sz="quarter" idx="5"/>
          </p:nvPr>
        </p:nvSpPr>
        <p:spPr/>
        <p:txBody>
          <a:bodyPr/>
          <a:lstStyle/>
          <a:p>
            <a:fld id="{42224020-3F5F-44AE-896D-09F0AE68775F}" type="slidenum">
              <a:rPr lang="en-US" smtClean="0"/>
              <a:t>8</a:t>
            </a:fld>
            <a:endParaRPr lang="en-US"/>
          </a:p>
        </p:txBody>
      </p:sp>
    </p:spTree>
    <p:extLst>
      <p:ext uri="{BB962C8B-B14F-4D97-AF65-F5344CB8AC3E}">
        <p14:creationId xmlns:p14="http://schemas.microsoft.com/office/powerpoint/2010/main" val="2668560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7A46F-92C3-A047-4E66-86D48CCC3B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942567-4548-3B99-4358-562AF3FDDA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096B74-726A-16E6-311F-0AA70DB88DC1}"/>
              </a:ext>
            </a:extLst>
          </p:cNvPr>
          <p:cNvSpPr>
            <a:spLocks noGrp="1"/>
          </p:cNvSpPr>
          <p:nvPr>
            <p:ph type="body" idx="1"/>
          </p:nvPr>
        </p:nvSpPr>
        <p:spPr/>
        <p:txBody>
          <a:bodyPr/>
          <a:lstStyle/>
          <a:p>
            <a:r>
              <a:rPr lang="vi-VN" dirty="0"/>
              <a:t>Ở slide trước, chúng ta có Azure AI Vision với khả năng OCR…”</a:t>
            </a:r>
          </a:p>
          <a:p>
            <a:r>
              <a:rPr lang="vi-VN" dirty="0"/>
              <a:t>“Tuy nhiên, OCR chỉ giúp đọc text…</a:t>
            </a:r>
            <a:r>
              <a:rPr lang="en-US" dirty="0" err="1"/>
              <a:t>Nó</a:t>
            </a:r>
            <a:r>
              <a:rPr lang="en-US" dirty="0"/>
              <a:t> </a:t>
            </a:r>
            <a:r>
              <a:rPr lang="en-US" dirty="0" err="1"/>
              <a:t>không</a:t>
            </a:r>
            <a:r>
              <a:rPr lang="en-US" dirty="0"/>
              <a:t> </a:t>
            </a:r>
            <a:r>
              <a:rPr lang="en-US" dirty="0" err="1"/>
              <a:t>hiểu</a:t>
            </a:r>
            <a:r>
              <a:rPr lang="en-US" dirty="0"/>
              <a:t> </a:t>
            </a:r>
            <a:r>
              <a:rPr lang="en-US" dirty="0" err="1"/>
              <a:t>cấu</a:t>
            </a:r>
            <a:r>
              <a:rPr lang="en-US" dirty="0"/>
              <a:t> </a:t>
            </a:r>
            <a:r>
              <a:rPr lang="en-US" dirty="0" err="1"/>
              <a:t>trúc</a:t>
            </a:r>
            <a:r>
              <a:rPr lang="en-US" dirty="0"/>
              <a:t> </a:t>
            </a:r>
            <a:r>
              <a:rPr lang="en-US" dirty="0" err="1"/>
              <a:t>của</a:t>
            </a:r>
            <a:r>
              <a:rPr lang="en-US" dirty="0"/>
              <a:t> </a:t>
            </a:r>
            <a:r>
              <a:rPr lang="en-US" dirty="0" err="1"/>
              <a:t>tài</a:t>
            </a:r>
            <a:r>
              <a:rPr lang="en-US" dirty="0"/>
              <a:t> </a:t>
            </a:r>
            <a:r>
              <a:rPr lang="en-US" dirty="0" err="1"/>
              <a:t>liệu</a:t>
            </a:r>
            <a:r>
              <a:rPr lang="en-US" dirty="0"/>
              <a:t>. </a:t>
            </a:r>
            <a:r>
              <a:rPr lang="vi-VN" dirty="0"/>
              <a:t>Và đó là lý do Azure AI Document Intelligence được sử dụng</a:t>
            </a:r>
            <a:endParaRPr lang="en-US" dirty="0"/>
          </a:p>
          <a:p>
            <a:r>
              <a:rPr lang="vi-VN" dirty="0"/>
              <a:t>“Service này không chỉ đọc text…”“Mà còn hiểu:</a:t>
            </a:r>
            <a:r>
              <a:rPr lang="en-US" dirty="0"/>
              <a:t> </a:t>
            </a:r>
            <a:r>
              <a:rPr lang="vi-VN" dirty="0"/>
              <a:t>đâu là tiêu đề </a:t>
            </a:r>
            <a:r>
              <a:rPr lang="en-US" dirty="0"/>
              <a:t> </a:t>
            </a:r>
            <a:r>
              <a:rPr lang="vi-VN" dirty="0"/>
              <a:t>đâu là bảng </a:t>
            </a:r>
            <a:r>
              <a:rPr lang="en-US" dirty="0"/>
              <a:t> </a:t>
            </a:r>
            <a:r>
              <a:rPr lang="vi-VN" dirty="0"/>
              <a:t>đâu là key-value như ‘Total amount’” </a:t>
            </a:r>
            <a:endParaRPr lang="en-US" dirty="0"/>
          </a:p>
          <a:p>
            <a:r>
              <a:rPr lang="vi-VN" dirty="0"/>
              <a:t>Ví dụ:</a:t>
            </a:r>
          </a:p>
          <a:p>
            <a:r>
              <a:rPr lang="vi-VN" dirty="0"/>
              <a:t>tự động nhập dữ liệu hóa đơn </a:t>
            </a:r>
          </a:p>
          <a:p>
            <a:r>
              <a:rPr lang="vi-VN" dirty="0"/>
              <a:t>hoặc trích xuất thông tin từ hợp đồng</a:t>
            </a:r>
          </a:p>
          <a:p>
            <a:r>
              <a:rPr lang="vi-VN" dirty="0"/>
              <a:t>Sau khi có structured data…”</a:t>
            </a:r>
          </a:p>
          <a:p>
            <a:r>
              <a:rPr lang="vi-VN" dirty="0"/>
              <a:t>“Chúng ta có thể đưa vào OpenAI để phân tích hoặc tạo báo cáo</a:t>
            </a:r>
          </a:p>
          <a:p>
            <a:r>
              <a:rPr lang="vi-VN" dirty="0"/>
              <a:t>Vì vậy, Document Intelligence là bước chuyển từ document → structured data trong AI pipeline</a:t>
            </a:r>
          </a:p>
          <a:p>
            <a:endParaRPr lang="en-US" dirty="0"/>
          </a:p>
          <a:p>
            <a:endParaRPr lang="vi-VN" dirty="0"/>
          </a:p>
        </p:txBody>
      </p:sp>
      <p:sp>
        <p:nvSpPr>
          <p:cNvPr id="4" name="Slide Number Placeholder 3">
            <a:extLst>
              <a:ext uri="{FF2B5EF4-FFF2-40B4-BE49-F238E27FC236}">
                <a16:creationId xmlns:a16="http://schemas.microsoft.com/office/drawing/2014/main" id="{F2F2B6CB-2FB9-7A24-35C9-40448D6A4300}"/>
              </a:ext>
            </a:extLst>
          </p:cNvPr>
          <p:cNvSpPr>
            <a:spLocks noGrp="1"/>
          </p:cNvSpPr>
          <p:nvPr>
            <p:ph type="sldNum" sz="quarter" idx="5"/>
          </p:nvPr>
        </p:nvSpPr>
        <p:spPr/>
        <p:txBody>
          <a:bodyPr/>
          <a:lstStyle/>
          <a:p>
            <a:fld id="{42224020-3F5F-44AE-896D-09F0AE68775F}" type="slidenum">
              <a:rPr lang="en-US" smtClean="0"/>
              <a:t>9</a:t>
            </a:fld>
            <a:endParaRPr lang="en-US"/>
          </a:p>
        </p:txBody>
      </p:sp>
    </p:spTree>
    <p:extLst>
      <p:ext uri="{BB962C8B-B14F-4D97-AF65-F5344CB8AC3E}">
        <p14:creationId xmlns:p14="http://schemas.microsoft.com/office/powerpoint/2010/main" val="19894511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15F89-819B-3B7C-4519-753C94E93A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E530D3-E0C5-F883-0AE1-D54315DABE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29CC78-6F92-036F-1B64-D6DF0DA7A17F}"/>
              </a:ext>
            </a:extLst>
          </p:cNvPr>
          <p:cNvSpPr>
            <a:spLocks noGrp="1"/>
          </p:cNvSpPr>
          <p:nvPr>
            <p:ph type="body" idx="1"/>
          </p:nvPr>
        </p:nvSpPr>
        <p:spPr/>
        <p:txBody>
          <a:bodyPr/>
          <a:lstStyle/>
          <a:p>
            <a:r>
              <a:rPr lang="en-US" dirty="0"/>
              <a:t>“</a:t>
            </a:r>
            <a:r>
              <a:rPr lang="en-US" dirty="0" err="1"/>
              <a:t>Một</a:t>
            </a:r>
            <a:r>
              <a:rPr lang="en-US" dirty="0"/>
              <a:t> </a:t>
            </a:r>
            <a:r>
              <a:rPr lang="en-US" dirty="0" err="1"/>
              <a:t>vấn</a:t>
            </a:r>
            <a:r>
              <a:rPr lang="en-US" dirty="0"/>
              <a:t> </a:t>
            </a:r>
            <a:r>
              <a:rPr lang="en-US" dirty="0" err="1"/>
              <a:t>đề</a:t>
            </a:r>
            <a:r>
              <a:rPr lang="en-US" dirty="0"/>
              <a:t> </a:t>
            </a:r>
            <a:r>
              <a:rPr lang="en-US" dirty="0" err="1"/>
              <a:t>lớn</a:t>
            </a:r>
            <a:r>
              <a:rPr lang="en-US" dirty="0"/>
              <a:t> </a:t>
            </a:r>
            <a:r>
              <a:rPr lang="en-US" dirty="0" err="1"/>
              <a:t>của</a:t>
            </a:r>
            <a:r>
              <a:rPr lang="en-US" dirty="0"/>
              <a:t> AI </a:t>
            </a:r>
            <a:r>
              <a:rPr lang="en-US" dirty="0" err="1"/>
              <a:t>là</a:t>
            </a:r>
            <a:r>
              <a:rPr lang="en-US" dirty="0"/>
              <a:t>…”</a:t>
            </a:r>
          </a:p>
          <a:p>
            <a:r>
              <a:rPr lang="en-US" dirty="0"/>
              <a:t>“Model </a:t>
            </a:r>
            <a:r>
              <a:rPr lang="en-US" dirty="0" err="1"/>
              <a:t>không</a:t>
            </a:r>
            <a:r>
              <a:rPr lang="en-US" dirty="0"/>
              <a:t> </a:t>
            </a:r>
            <a:r>
              <a:rPr lang="en-US" dirty="0" err="1"/>
              <a:t>biết</a:t>
            </a:r>
            <a:r>
              <a:rPr lang="en-US" dirty="0"/>
              <a:t> </a:t>
            </a:r>
            <a:r>
              <a:rPr lang="en-US" dirty="0" err="1"/>
              <a:t>dữ</a:t>
            </a:r>
            <a:r>
              <a:rPr lang="en-US" dirty="0"/>
              <a:t> </a:t>
            </a:r>
            <a:r>
              <a:rPr lang="en-US" dirty="0" err="1"/>
              <a:t>liệu</a:t>
            </a:r>
            <a:r>
              <a:rPr lang="en-US" dirty="0"/>
              <a:t> </a:t>
            </a:r>
            <a:r>
              <a:rPr lang="en-US" dirty="0" err="1"/>
              <a:t>nội</a:t>
            </a:r>
            <a:r>
              <a:rPr lang="en-US" dirty="0"/>
              <a:t> </a:t>
            </a:r>
            <a:r>
              <a:rPr lang="en-US" dirty="0" err="1"/>
              <a:t>bộ</a:t>
            </a:r>
            <a:r>
              <a:rPr lang="en-US" dirty="0"/>
              <a:t> </a:t>
            </a:r>
            <a:r>
              <a:rPr lang="en-US" dirty="0" err="1"/>
              <a:t>của</a:t>
            </a:r>
            <a:r>
              <a:rPr lang="en-US" dirty="0"/>
              <a:t> </a:t>
            </a:r>
            <a:r>
              <a:rPr lang="en-US" dirty="0" err="1"/>
              <a:t>doanh</a:t>
            </a:r>
            <a:r>
              <a:rPr lang="en-US" dirty="0"/>
              <a:t> </a:t>
            </a:r>
            <a:r>
              <a:rPr lang="en-US" dirty="0" err="1"/>
              <a:t>nghiệp</a:t>
            </a:r>
            <a:r>
              <a:rPr lang="en-US" dirty="0"/>
              <a:t> </a:t>
            </a:r>
            <a:r>
              <a:rPr lang="en-US" dirty="0" err="1"/>
              <a:t>Ví</a:t>
            </a:r>
            <a:r>
              <a:rPr lang="en-US" dirty="0"/>
              <a:t> </a:t>
            </a:r>
            <a:r>
              <a:rPr lang="en-US" dirty="0" err="1"/>
              <a:t>dụ</a:t>
            </a:r>
            <a:r>
              <a:rPr lang="en-US" dirty="0"/>
              <a:t>: chatbot </a:t>
            </a:r>
            <a:r>
              <a:rPr lang="en-US" dirty="0" err="1"/>
              <a:t>không</a:t>
            </a:r>
            <a:r>
              <a:rPr lang="en-US" dirty="0"/>
              <a:t> </a:t>
            </a:r>
            <a:r>
              <a:rPr lang="en-US" dirty="0" err="1"/>
              <a:t>thể</a:t>
            </a:r>
            <a:r>
              <a:rPr lang="en-US" dirty="0"/>
              <a:t> </a:t>
            </a:r>
            <a:r>
              <a:rPr lang="en-US" dirty="0" err="1"/>
              <a:t>trả</a:t>
            </a:r>
            <a:r>
              <a:rPr lang="en-US" dirty="0"/>
              <a:t> </a:t>
            </a:r>
            <a:r>
              <a:rPr lang="en-US" dirty="0" err="1"/>
              <a:t>lời</a:t>
            </a:r>
            <a:r>
              <a:rPr lang="en-US" dirty="0"/>
              <a:t> </a:t>
            </a:r>
            <a:r>
              <a:rPr lang="en-US" dirty="0" err="1"/>
              <a:t>câu</a:t>
            </a:r>
            <a:r>
              <a:rPr lang="en-US" dirty="0"/>
              <a:t> </a:t>
            </a:r>
            <a:r>
              <a:rPr lang="en-US" dirty="0" err="1"/>
              <a:t>hỏi</a:t>
            </a:r>
            <a:r>
              <a:rPr lang="en-US" dirty="0"/>
              <a:t> </a:t>
            </a:r>
            <a:r>
              <a:rPr lang="en-US" dirty="0" err="1"/>
              <a:t>về</a:t>
            </a:r>
            <a:r>
              <a:rPr lang="en-US" dirty="0"/>
              <a:t> </a:t>
            </a:r>
            <a:r>
              <a:rPr lang="en-US" dirty="0" err="1"/>
              <a:t>tài</a:t>
            </a:r>
            <a:r>
              <a:rPr lang="en-US" dirty="0"/>
              <a:t> </a:t>
            </a:r>
            <a:r>
              <a:rPr lang="en-US" dirty="0" err="1"/>
              <a:t>liệu</a:t>
            </a:r>
            <a:r>
              <a:rPr lang="en-US" dirty="0"/>
              <a:t> </a:t>
            </a:r>
            <a:r>
              <a:rPr lang="en-US" dirty="0" err="1"/>
              <a:t>nội</a:t>
            </a:r>
            <a:r>
              <a:rPr lang="en-US" dirty="0"/>
              <a:t> </a:t>
            </a:r>
            <a:r>
              <a:rPr lang="en-US" dirty="0" err="1"/>
              <a:t>bộ</a:t>
            </a:r>
            <a:r>
              <a:rPr lang="en-US" dirty="0"/>
              <a:t> </a:t>
            </a:r>
            <a:r>
              <a:rPr lang="en-US" dirty="0" err="1"/>
              <a:t>nếu</a:t>
            </a:r>
            <a:r>
              <a:rPr lang="en-US" dirty="0"/>
              <a:t> </a:t>
            </a:r>
            <a:r>
              <a:rPr lang="en-US" dirty="0" err="1"/>
              <a:t>không</a:t>
            </a:r>
            <a:r>
              <a:rPr lang="en-US" dirty="0"/>
              <a:t> </a:t>
            </a:r>
            <a:r>
              <a:rPr lang="en-US" dirty="0" err="1"/>
              <a:t>có</a:t>
            </a:r>
            <a:r>
              <a:rPr lang="en-US" dirty="0"/>
              <a:t> </a:t>
            </a:r>
            <a:r>
              <a:rPr lang="en-US" dirty="0" err="1"/>
              <a:t>dữ</a:t>
            </a:r>
            <a:r>
              <a:rPr lang="en-US" dirty="0"/>
              <a:t> </a:t>
            </a:r>
            <a:r>
              <a:rPr lang="en-US" dirty="0" err="1"/>
              <a:t>liệu</a:t>
            </a:r>
            <a:r>
              <a:rPr lang="en-US" dirty="0"/>
              <a:t>.</a:t>
            </a:r>
          </a:p>
          <a:p>
            <a:r>
              <a:rPr lang="en-US" dirty="0"/>
              <a:t>Azure AI Search </a:t>
            </a:r>
            <a:r>
              <a:rPr lang="en-US" dirty="0" err="1"/>
              <a:t>giúp</a:t>
            </a:r>
            <a:r>
              <a:rPr lang="en-US" dirty="0"/>
              <a:t> </a:t>
            </a:r>
            <a:r>
              <a:rPr lang="en-US" dirty="0" err="1"/>
              <a:t>giải</a:t>
            </a:r>
            <a:r>
              <a:rPr lang="en-US" dirty="0"/>
              <a:t> </a:t>
            </a:r>
            <a:r>
              <a:rPr lang="en-US" dirty="0" err="1"/>
              <a:t>quyết</a:t>
            </a:r>
            <a:r>
              <a:rPr lang="en-US" dirty="0"/>
              <a:t> </a:t>
            </a:r>
            <a:r>
              <a:rPr lang="en-US" dirty="0" err="1"/>
              <a:t>vấn</a:t>
            </a:r>
            <a:r>
              <a:rPr lang="en-US" dirty="0"/>
              <a:t> </a:t>
            </a:r>
            <a:r>
              <a:rPr lang="en-US" dirty="0" err="1"/>
              <a:t>đề</a:t>
            </a:r>
            <a:r>
              <a:rPr lang="en-US" dirty="0"/>
              <a:t> </a:t>
            </a:r>
            <a:r>
              <a:rPr lang="en-US" dirty="0" err="1"/>
              <a:t>này</a:t>
            </a:r>
            <a:r>
              <a:rPr lang="en-US" dirty="0"/>
              <a:t>…“</a:t>
            </a:r>
            <a:r>
              <a:rPr lang="en-US" dirty="0" err="1"/>
              <a:t>Bằng</a:t>
            </a:r>
            <a:r>
              <a:rPr lang="en-US" dirty="0"/>
              <a:t> </a:t>
            </a:r>
            <a:r>
              <a:rPr lang="en-US" dirty="0" err="1"/>
              <a:t>cách</a:t>
            </a:r>
            <a:r>
              <a:rPr lang="en-US" dirty="0"/>
              <a:t> index </a:t>
            </a:r>
            <a:r>
              <a:rPr lang="en-US" dirty="0" err="1"/>
              <a:t>dữ</a:t>
            </a:r>
            <a:r>
              <a:rPr lang="en-US" dirty="0"/>
              <a:t> </a:t>
            </a:r>
            <a:r>
              <a:rPr lang="en-US" dirty="0" err="1"/>
              <a:t>liệu</a:t>
            </a:r>
            <a:r>
              <a:rPr lang="en-US" dirty="0"/>
              <a:t> </a:t>
            </a:r>
            <a:r>
              <a:rPr lang="en-US" dirty="0" err="1"/>
              <a:t>và</a:t>
            </a:r>
            <a:r>
              <a:rPr lang="en-US" dirty="0"/>
              <a:t> </a:t>
            </a:r>
            <a:r>
              <a:rPr lang="en-US" dirty="0" err="1"/>
              <a:t>cho</a:t>
            </a:r>
            <a:r>
              <a:rPr lang="en-US" dirty="0"/>
              <a:t> </a:t>
            </a:r>
            <a:r>
              <a:rPr lang="en-US" dirty="0" err="1"/>
              <a:t>phép</a:t>
            </a:r>
            <a:r>
              <a:rPr lang="en-US" dirty="0"/>
              <a:t> </a:t>
            </a:r>
            <a:r>
              <a:rPr lang="en-US" dirty="0" err="1"/>
              <a:t>tìm</a:t>
            </a:r>
            <a:r>
              <a:rPr lang="en-US" dirty="0"/>
              <a:t> </a:t>
            </a:r>
            <a:r>
              <a:rPr lang="en-US" dirty="0" err="1"/>
              <a:t>kiếm</a:t>
            </a:r>
            <a:r>
              <a:rPr lang="en-US" dirty="0"/>
              <a:t> </a:t>
            </a:r>
            <a:r>
              <a:rPr lang="en-US" dirty="0" err="1"/>
              <a:t>thông</a:t>
            </a:r>
            <a:r>
              <a:rPr lang="en-US" dirty="0"/>
              <a:t> </a:t>
            </a:r>
            <a:r>
              <a:rPr lang="en-US" dirty="0" err="1"/>
              <a:t>minh</a:t>
            </a:r>
            <a:r>
              <a:rPr lang="en-US" dirty="0"/>
              <a:t>.</a:t>
            </a:r>
          </a:p>
          <a:p>
            <a:r>
              <a:rPr lang="vi-VN" dirty="0"/>
              <a:t>Không chỉ tìm theo từ khóa</a:t>
            </a:r>
            <a:r>
              <a:rPr lang="en-US" dirty="0"/>
              <a:t> </a:t>
            </a:r>
            <a:r>
              <a:rPr lang="vi-VN" dirty="0"/>
              <a:t>Mà còn hiểu ngữ nghĩa và tìm nội dung tương tự (vector search)”</a:t>
            </a:r>
          </a:p>
          <a:p>
            <a:r>
              <a:rPr lang="vi-VN" dirty="0"/>
              <a:t>Để hiểu rõ hơn cách Azure AI Search hoạt động trong thực tế…”</a:t>
            </a:r>
          </a:p>
          <a:p>
            <a:r>
              <a:rPr lang="vi-VN" dirty="0"/>
              <a:t>“Chúng ta có thể nhìn vào một kiến trúc RAG điển hình</a:t>
            </a:r>
          </a:p>
          <a:p>
            <a:r>
              <a:rPr lang="vi-VN" dirty="0"/>
              <a:t>Đầu tiên, người dùng gửi một câu hỏi từ ứng dụng</a:t>
            </a:r>
            <a:r>
              <a:rPr lang="en-US" dirty="0"/>
              <a:t> </a:t>
            </a:r>
            <a:r>
              <a:rPr lang="en-US" dirty="0" err="1"/>
              <a:t>Ứng</a:t>
            </a:r>
            <a:r>
              <a:rPr lang="en-US" dirty="0"/>
              <a:t> </a:t>
            </a:r>
            <a:r>
              <a:rPr lang="en-US" dirty="0" err="1"/>
              <a:t>dụng</a:t>
            </a:r>
            <a:r>
              <a:rPr lang="en-US" dirty="0"/>
              <a:t> </a:t>
            </a:r>
            <a:r>
              <a:rPr lang="en-US" dirty="0" err="1"/>
              <a:t>sẽ</a:t>
            </a:r>
            <a:r>
              <a:rPr lang="en-US" dirty="0"/>
              <a:t> </a:t>
            </a:r>
            <a:r>
              <a:rPr lang="en-US" dirty="0" err="1"/>
              <a:t>đóng</a:t>
            </a:r>
            <a:r>
              <a:rPr lang="en-US" dirty="0"/>
              <a:t> </a:t>
            </a:r>
            <a:r>
              <a:rPr lang="en-US" dirty="0" err="1"/>
              <a:t>vai</a:t>
            </a:r>
            <a:r>
              <a:rPr lang="en-US" dirty="0"/>
              <a:t> </a:t>
            </a:r>
            <a:r>
              <a:rPr lang="en-US" dirty="0" err="1"/>
              <a:t>trò</a:t>
            </a:r>
            <a:r>
              <a:rPr lang="en-US" dirty="0"/>
              <a:t> </a:t>
            </a:r>
            <a:r>
              <a:rPr lang="en-US" dirty="0" err="1"/>
              <a:t>là</a:t>
            </a:r>
            <a:r>
              <a:rPr lang="en-US" dirty="0"/>
              <a:t> orchestrator, </a:t>
            </a:r>
            <a:r>
              <a:rPr lang="en-US" dirty="0" err="1"/>
              <a:t>điều</a:t>
            </a:r>
            <a:r>
              <a:rPr lang="en-US" dirty="0"/>
              <a:t> </a:t>
            </a:r>
            <a:r>
              <a:rPr lang="en-US" dirty="0" err="1"/>
              <a:t>phối</a:t>
            </a:r>
            <a:r>
              <a:rPr lang="en-US" dirty="0"/>
              <a:t> </a:t>
            </a:r>
            <a:r>
              <a:rPr lang="en-US" dirty="0" err="1"/>
              <a:t>toàn</a:t>
            </a:r>
            <a:r>
              <a:rPr lang="en-US" dirty="0"/>
              <a:t> </a:t>
            </a:r>
            <a:r>
              <a:rPr lang="en-US" dirty="0" err="1"/>
              <a:t>bộ</a:t>
            </a:r>
            <a:r>
              <a:rPr lang="en-US" dirty="0"/>
              <a:t> flow</a:t>
            </a:r>
          </a:p>
          <a:p>
            <a:r>
              <a:rPr lang="en-US" dirty="0"/>
              <a:t>Thay </a:t>
            </a:r>
            <a:r>
              <a:rPr lang="en-US" dirty="0" err="1"/>
              <a:t>vì</a:t>
            </a:r>
            <a:r>
              <a:rPr lang="en-US" dirty="0"/>
              <a:t> </a:t>
            </a:r>
            <a:r>
              <a:rPr lang="en-US" dirty="0" err="1"/>
              <a:t>gửi</a:t>
            </a:r>
            <a:r>
              <a:rPr lang="en-US" dirty="0"/>
              <a:t> </a:t>
            </a:r>
            <a:r>
              <a:rPr lang="en-US" dirty="0" err="1"/>
              <a:t>trực</a:t>
            </a:r>
            <a:r>
              <a:rPr lang="en-US" dirty="0"/>
              <a:t> </a:t>
            </a:r>
            <a:r>
              <a:rPr lang="en-US" dirty="0" err="1"/>
              <a:t>tiếp</a:t>
            </a:r>
            <a:r>
              <a:rPr lang="en-US" dirty="0"/>
              <a:t> </a:t>
            </a:r>
            <a:r>
              <a:rPr lang="en-US" dirty="0" err="1"/>
              <a:t>câu</a:t>
            </a:r>
            <a:r>
              <a:rPr lang="en-US" dirty="0"/>
              <a:t> </a:t>
            </a:r>
            <a:r>
              <a:rPr lang="en-US" dirty="0" err="1"/>
              <a:t>hỏi</a:t>
            </a:r>
            <a:r>
              <a:rPr lang="en-US" dirty="0"/>
              <a:t> </a:t>
            </a:r>
            <a:r>
              <a:rPr lang="en-US" dirty="0" err="1"/>
              <a:t>đến</a:t>
            </a:r>
            <a:r>
              <a:rPr lang="en-US" dirty="0"/>
              <a:t> OpenAI </a:t>
            </a:r>
            <a:r>
              <a:rPr lang="en-US" dirty="0" err="1"/>
              <a:t>Hệ</a:t>
            </a:r>
            <a:r>
              <a:rPr lang="en-US" dirty="0"/>
              <a:t> </a:t>
            </a:r>
            <a:r>
              <a:rPr lang="en-US" dirty="0" err="1"/>
              <a:t>thống</a:t>
            </a:r>
            <a:r>
              <a:rPr lang="en-US" dirty="0"/>
              <a:t> </a:t>
            </a:r>
            <a:r>
              <a:rPr lang="en-US" dirty="0" err="1"/>
              <a:t>sẽ</a:t>
            </a:r>
            <a:r>
              <a:rPr lang="en-US" dirty="0"/>
              <a:t> </a:t>
            </a:r>
            <a:r>
              <a:rPr lang="en-US" dirty="0" err="1"/>
              <a:t>gọi</a:t>
            </a:r>
            <a:r>
              <a:rPr lang="en-US" dirty="0"/>
              <a:t> Azure AI Search </a:t>
            </a:r>
            <a:r>
              <a:rPr lang="en-US" dirty="0" err="1"/>
              <a:t>để</a:t>
            </a:r>
            <a:r>
              <a:rPr lang="en-US" dirty="0"/>
              <a:t> </a:t>
            </a:r>
            <a:r>
              <a:rPr lang="en-US" dirty="0" err="1"/>
              <a:t>tìm</a:t>
            </a:r>
            <a:r>
              <a:rPr lang="en-US" dirty="0"/>
              <a:t> </a:t>
            </a:r>
            <a:r>
              <a:rPr lang="en-US" dirty="0" err="1"/>
              <a:t>các</a:t>
            </a:r>
            <a:r>
              <a:rPr lang="en-US" dirty="0"/>
              <a:t> </a:t>
            </a:r>
            <a:r>
              <a:rPr lang="en-US" dirty="0" err="1"/>
              <a:t>thông</a:t>
            </a:r>
            <a:r>
              <a:rPr lang="en-US" dirty="0"/>
              <a:t> tin </a:t>
            </a:r>
            <a:r>
              <a:rPr lang="en-US" dirty="0" err="1"/>
              <a:t>liên</a:t>
            </a:r>
            <a:r>
              <a:rPr lang="en-US" dirty="0"/>
              <a:t> </a:t>
            </a:r>
            <a:r>
              <a:rPr lang="en-US" dirty="0" err="1"/>
              <a:t>quan</a:t>
            </a:r>
            <a:r>
              <a:rPr lang="en-US" dirty="0"/>
              <a:t> </a:t>
            </a:r>
            <a:r>
              <a:rPr lang="en-US" dirty="0" err="1"/>
              <a:t>từ</a:t>
            </a:r>
            <a:r>
              <a:rPr lang="en-US" dirty="0"/>
              <a:t> </a:t>
            </a:r>
            <a:r>
              <a:rPr lang="en-US" dirty="0" err="1"/>
              <a:t>dữ</a:t>
            </a:r>
            <a:r>
              <a:rPr lang="en-US" dirty="0"/>
              <a:t> </a:t>
            </a:r>
            <a:r>
              <a:rPr lang="en-US" dirty="0" err="1"/>
              <a:t>liệu</a:t>
            </a:r>
            <a:r>
              <a:rPr lang="en-US" dirty="0"/>
              <a:t> </a:t>
            </a:r>
            <a:r>
              <a:rPr lang="en-US" dirty="0" err="1"/>
              <a:t>nội</a:t>
            </a:r>
            <a:r>
              <a:rPr lang="en-US" dirty="0"/>
              <a:t> </a:t>
            </a:r>
            <a:r>
              <a:rPr lang="en-US" dirty="0" err="1"/>
              <a:t>bộ</a:t>
            </a:r>
            <a:r>
              <a:rPr lang="en-US" dirty="0"/>
              <a:t>.</a:t>
            </a:r>
          </a:p>
          <a:p>
            <a:r>
              <a:rPr lang="en-US" dirty="0" err="1"/>
              <a:t>Dữ</a:t>
            </a:r>
            <a:r>
              <a:rPr lang="en-US" dirty="0"/>
              <a:t> </a:t>
            </a:r>
            <a:r>
              <a:rPr lang="en-US" dirty="0" err="1"/>
              <a:t>liệu</a:t>
            </a:r>
            <a:r>
              <a:rPr lang="en-US" dirty="0"/>
              <a:t> </a:t>
            </a:r>
            <a:r>
              <a:rPr lang="en-US" dirty="0" err="1"/>
              <a:t>này</a:t>
            </a:r>
            <a:r>
              <a:rPr lang="en-US" dirty="0"/>
              <a:t> </a:t>
            </a:r>
            <a:r>
              <a:rPr lang="en-US" dirty="0" err="1"/>
              <a:t>có</a:t>
            </a:r>
            <a:r>
              <a:rPr lang="en-US" dirty="0"/>
              <a:t> </a:t>
            </a:r>
            <a:r>
              <a:rPr lang="en-US" dirty="0" err="1"/>
              <a:t>thể</a:t>
            </a:r>
            <a:r>
              <a:rPr lang="en-US" dirty="0"/>
              <a:t> </a:t>
            </a:r>
            <a:r>
              <a:rPr lang="en-US" dirty="0" err="1"/>
              <a:t>đến</a:t>
            </a:r>
            <a:r>
              <a:rPr lang="en-US" dirty="0"/>
              <a:t> </a:t>
            </a:r>
            <a:r>
              <a:rPr lang="en-US" dirty="0" err="1"/>
              <a:t>từ</a:t>
            </a:r>
            <a:r>
              <a:rPr lang="en-US" dirty="0"/>
              <a:t>: file database </a:t>
            </a:r>
            <a:r>
              <a:rPr lang="en-US" dirty="0" err="1"/>
              <a:t>hoặc</a:t>
            </a:r>
            <a:r>
              <a:rPr lang="en-US" dirty="0"/>
              <a:t> </a:t>
            </a:r>
            <a:r>
              <a:rPr lang="en-US" dirty="0" err="1"/>
              <a:t>các</a:t>
            </a:r>
            <a:r>
              <a:rPr lang="en-US" dirty="0"/>
              <a:t> </a:t>
            </a:r>
            <a:r>
              <a:rPr lang="en-US" dirty="0" err="1"/>
              <a:t>hệ</a:t>
            </a:r>
            <a:r>
              <a:rPr lang="en-US" dirty="0"/>
              <a:t> </a:t>
            </a:r>
            <a:r>
              <a:rPr lang="en-US" dirty="0" err="1"/>
              <a:t>thống</a:t>
            </a:r>
            <a:r>
              <a:rPr lang="en-US" dirty="0"/>
              <a:t> </a:t>
            </a:r>
            <a:r>
              <a:rPr lang="en-US" dirty="0" err="1"/>
              <a:t>khác</a:t>
            </a:r>
            <a:r>
              <a:rPr lang="en-US" dirty="0"/>
              <a:t>”</a:t>
            </a:r>
          </a:p>
          <a:p>
            <a:r>
              <a:rPr lang="en-US" dirty="0"/>
              <a:t>Azure AI Search </a:t>
            </a:r>
            <a:r>
              <a:rPr lang="en-US" dirty="0" err="1"/>
              <a:t>sẽ</a:t>
            </a:r>
            <a:r>
              <a:rPr lang="en-US" dirty="0"/>
              <a:t> </a:t>
            </a:r>
            <a:r>
              <a:rPr lang="en-US" dirty="0" err="1"/>
              <a:t>trả</a:t>
            </a:r>
            <a:r>
              <a:rPr lang="en-US" dirty="0"/>
              <a:t> </a:t>
            </a:r>
            <a:r>
              <a:rPr lang="en-US" dirty="0" err="1"/>
              <a:t>về</a:t>
            </a:r>
            <a:r>
              <a:rPr lang="en-US" dirty="0"/>
              <a:t> </a:t>
            </a:r>
            <a:r>
              <a:rPr lang="en-US" dirty="0" err="1"/>
              <a:t>các</a:t>
            </a:r>
            <a:r>
              <a:rPr lang="en-US" dirty="0"/>
              <a:t> </a:t>
            </a:r>
            <a:r>
              <a:rPr lang="en-US" dirty="0" err="1"/>
              <a:t>đoạn</a:t>
            </a:r>
            <a:r>
              <a:rPr lang="en-US" dirty="0"/>
              <a:t> </a:t>
            </a:r>
            <a:r>
              <a:rPr lang="en-US" dirty="0" err="1"/>
              <a:t>thông</a:t>
            </a:r>
            <a:r>
              <a:rPr lang="en-US" dirty="0"/>
              <a:t> tin </a:t>
            </a:r>
            <a:r>
              <a:rPr lang="en-US" dirty="0" err="1"/>
              <a:t>phù</a:t>
            </a:r>
            <a:r>
              <a:rPr lang="en-US" dirty="0"/>
              <a:t> </a:t>
            </a:r>
            <a:r>
              <a:rPr lang="en-US" dirty="0" err="1"/>
              <a:t>hợp</a:t>
            </a:r>
            <a:r>
              <a:rPr lang="en-US" dirty="0"/>
              <a:t> </a:t>
            </a:r>
            <a:r>
              <a:rPr lang="en-US" dirty="0" err="1"/>
              <a:t>nhất</a:t>
            </a:r>
            <a:r>
              <a:rPr lang="en-US" dirty="0"/>
              <a:t> (top results)</a:t>
            </a:r>
          </a:p>
          <a:p>
            <a:r>
              <a:rPr lang="vi-VN" dirty="0"/>
              <a:t>Sau đó, ứng dụng sẽ gửi:</a:t>
            </a:r>
            <a:r>
              <a:rPr lang="en-US" dirty="0"/>
              <a:t> </a:t>
            </a:r>
            <a:r>
              <a:rPr lang="vi-VN" dirty="0"/>
              <a:t>câu hỏi của user thông tin vừa retrieve được </a:t>
            </a:r>
            <a:r>
              <a:rPr lang="en-US" dirty="0"/>
              <a:t> </a:t>
            </a:r>
            <a:r>
              <a:rPr lang="vi-VN" dirty="0"/>
              <a:t>“vào Azure OpenAI”</a:t>
            </a:r>
          </a:p>
          <a:p>
            <a:r>
              <a:rPr lang="vi-VN" dirty="0"/>
              <a:t>OpenAI sẽ sử dụng cả prompt và knowledge này để tạo ra câu trả lời chính xác hơn</a:t>
            </a:r>
            <a:endParaRPr lang="en-US" dirty="0"/>
          </a:p>
          <a:p>
            <a:r>
              <a:rPr lang="en-US" dirty="0" err="1"/>
              <a:t>Đây</a:t>
            </a:r>
            <a:r>
              <a:rPr lang="en-US" dirty="0"/>
              <a:t> </a:t>
            </a:r>
            <a:r>
              <a:rPr lang="en-US" dirty="0" err="1"/>
              <a:t>chính</a:t>
            </a:r>
            <a:r>
              <a:rPr lang="en-US" dirty="0"/>
              <a:t> </a:t>
            </a:r>
            <a:r>
              <a:rPr lang="en-US" dirty="0" err="1"/>
              <a:t>là</a:t>
            </a:r>
            <a:r>
              <a:rPr lang="en-US" dirty="0"/>
              <a:t> </a:t>
            </a:r>
            <a:r>
              <a:rPr lang="en-US" dirty="0" err="1"/>
              <a:t>mô</a:t>
            </a:r>
            <a:r>
              <a:rPr lang="en-US" dirty="0"/>
              <a:t> </a:t>
            </a:r>
            <a:r>
              <a:rPr lang="en-US" dirty="0" err="1"/>
              <a:t>hình</a:t>
            </a:r>
            <a:r>
              <a:rPr lang="en-US" dirty="0"/>
              <a:t> RAG — </a:t>
            </a:r>
            <a:r>
              <a:rPr lang="en-US" dirty="0" err="1"/>
              <a:t>kết</a:t>
            </a:r>
            <a:r>
              <a:rPr lang="en-US" dirty="0"/>
              <a:t> </a:t>
            </a:r>
            <a:r>
              <a:rPr lang="en-US" dirty="0" err="1"/>
              <a:t>hợp</a:t>
            </a:r>
            <a:r>
              <a:rPr lang="en-US" dirty="0"/>
              <a:t> </a:t>
            </a:r>
            <a:r>
              <a:rPr lang="en-US" dirty="0" err="1"/>
              <a:t>giữa</a:t>
            </a:r>
            <a:r>
              <a:rPr lang="en-US" dirty="0"/>
              <a:t> Search </a:t>
            </a:r>
            <a:r>
              <a:rPr lang="en-US" dirty="0" err="1"/>
              <a:t>và</a:t>
            </a:r>
            <a:r>
              <a:rPr lang="en-US" dirty="0"/>
              <a:t> OpenAI </a:t>
            </a:r>
            <a:r>
              <a:rPr lang="en-US" dirty="0" err="1"/>
              <a:t>để</a:t>
            </a:r>
            <a:r>
              <a:rPr lang="en-US" dirty="0"/>
              <a:t> </a:t>
            </a:r>
            <a:r>
              <a:rPr lang="en-US" dirty="0" err="1"/>
              <a:t>giải</a:t>
            </a:r>
            <a:r>
              <a:rPr lang="en-US" dirty="0"/>
              <a:t> </a:t>
            </a:r>
            <a:r>
              <a:rPr lang="en-US" dirty="0" err="1"/>
              <a:t>quyết</a:t>
            </a:r>
            <a:r>
              <a:rPr lang="en-US" dirty="0"/>
              <a:t> </a:t>
            </a:r>
            <a:r>
              <a:rPr lang="en-US" dirty="0" err="1"/>
              <a:t>bài</a:t>
            </a:r>
            <a:r>
              <a:rPr lang="en-US" dirty="0"/>
              <a:t> </a:t>
            </a:r>
            <a:r>
              <a:rPr lang="en-US" dirty="0" err="1"/>
              <a:t>toán</a:t>
            </a:r>
            <a:r>
              <a:rPr lang="en-US" dirty="0"/>
              <a:t> </a:t>
            </a:r>
            <a:r>
              <a:rPr lang="en-US" dirty="0" err="1"/>
              <a:t>dữ</a:t>
            </a:r>
            <a:r>
              <a:rPr lang="en-US" dirty="0"/>
              <a:t> </a:t>
            </a:r>
            <a:r>
              <a:rPr lang="en-US" dirty="0" err="1"/>
              <a:t>liệu</a:t>
            </a:r>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13500EB-C7AE-C58E-4520-A06BA12877E7}"/>
              </a:ext>
            </a:extLst>
          </p:cNvPr>
          <p:cNvSpPr>
            <a:spLocks noGrp="1"/>
          </p:cNvSpPr>
          <p:nvPr>
            <p:ph type="sldNum" sz="quarter" idx="5"/>
          </p:nvPr>
        </p:nvSpPr>
        <p:spPr/>
        <p:txBody>
          <a:bodyPr/>
          <a:lstStyle/>
          <a:p>
            <a:fld id="{42224020-3F5F-44AE-896D-09F0AE68775F}" type="slidenum">
              <a:rPr lang="en-US" smtClean="0"/>
              <a:t>10</a:t>
            </a:fld>
            <a:endParaRPr lang="en-US"/>
          </a:p>
        </p:txBody>
      </p:sp>
    </p:spTree>
    <p:extLst>
      <p:ext uri="{BB962C8B-B14F-4D97-AF65-F5344CB8AC3E}">
        <p14:creationId xmlns:p14="http://schemas.microsoft.com/office/powerpoint/2010/main" val="9882169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8174D-D97B-91BE-F881-89B75AFFBC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65517F-ACCE-2298-3863-25720ABC48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8ECF49-0762-8A0C-8F54-44E863906F9A}"/>
              </a:ext>
            </a:extLst>
          </p:cNvPr>
          <p:cNvSpPr>
            <a:spLocks noGrp="1"/>
          </p:cNvSpPr>
          <p:nvPr>
            <p:ph type="body" idx="1"/>
          </p:nvPr>
        </p:nvSpPr>
        <p:spPr/>
        <p:txBody>
          <a:bodyPr/>
          <a:lstStyle/>
          <a:p>
            <a:r>
              <a:rPr lang="vi-VN" dirty="0"/>
              <a:t>Sau khi đã thấy các service như Vision, Search và OpenAI</a:t>
            </a:r>
            <a:r>
              <a:rPr lang="en-US" dirty="0"/>
              <a:t> </a:t>
            </a:r>
            <a:r>
              <a:rPr lang="it-IT" dirty="0"/>
              <a:t>Chúng ta có Azure AI Language</a:t>
            </a:r>
          </a:p>
          <a:p>
            <a:r>
              <a:rPr lang="en-US" dirty="0"/>
              <a:t>Service </a:t>
            </a:r>
            <a:r>
              <a:rPr lang="en-US" dirty="0" err="1"/>
              <a:t>này</a:t>
            </a:r>
            <a:r>
              <a:rPr lang="en-US" dirty="0"/>
              <a:t> </a:t>
            </a:r>
            <a:r>
              <a:rPr lang="en-US" dirty="0" err="1"/>
              <a:t>tập</a:t>
            </a:r>
            <a:r>
              <a:rPr lang="en-US" dirty="0"/>
              <a:t> </a:t>
            </a:r>
            <a:r>
              <a:rPr lang="en-US" dirty="0" err="1"/>
              <a:t>trung</a:t>
            </a:r>
            <a:r>
              <a:rPr lang="en-US" dirty="0"/>
              <a:t> </a:t>
            </a:r>
            <a:r>
              <a:rPr lang="en-US" dirty="0" err="1"/>
              <a:t>vào</a:t>
            </a:r>
            <a:r>
              <a:rPr lang="en-US" dirty="0"/>
              <a:t> </a:t>
            </a:r>
            <a:r>
              <a:rPr lang="en-US" dirty="0" err="1"/>
              <a:t>việc</a:t>
            </a:r>
            <a:r>
              <a:rPr lang="en-US" dirty="0"/>
              <a:t> </a:t>
            </a:r>
            <a:r>
              <a:rPr lang="en-US" dirty="0" err="1"/>
              <a:t>phân</a:t>
            </a:r>
            <a:r>
              <a:rPr lang="en-US" dirty="0"/>
              <a:t> </a:t>
            </a:r>
            <a:r>
              <a:rPr lang="en-US" dirty="0" err="1"/>
              <a:t>tích</a:t>
            </a:r>
            <a:r>
              <a:rPr lang="en-US" dirty="0"/>
              <a:t> </a:t>
            </a:r>
            <a:r>
              <a:rPr lang="en-US" dirty="0" err="1"/>
              <a:t>và</a:t>
            </a:r>
            <a:r>
              <a:rPr lang="en-US" dirty="0"/>
              <a:t> </a:t>
            </a:r>
            <a:r>
              <a:rPr lang="en-US" dirty="0" err="1"/>
              <a:t>hiểu</a:t>
            </a:r>
            <a:r>
              <a:rPr lang="en-US" dirty="0"/>
              <a:t> text</a:t>
            </a:r>
          </a:p>
          <a:p>
            <a:r>
              <a:rPr lang="en-US" dirty="0" err="1"/>
              <a:t>phân</a:t>
            </a:r>
            <a:r>
              <a:rPr lang="en-US" dirty="0"/>
              <a:t> </a:t>
            </a:r>
            <a:r>
              <a:rPr lang="en-US" dirty="0" err="1"/>
              <a:t>tích</a:t>
            </a:r>
            <a:r>
              <a:rPr lang="en-US" dirty="0"/>
              <a:t> </a:t>
            </a:r>
            <a:r>
              <a:rPr lang="en-US" dirty="0" err="1"/>
              <a:t>cảm</a:t>
            </a:r>
            <a:r>
              <a:rPr lang="en-US" dirty="0"/>
              <a:t> </a:t>
            </a:r>
            <a:r>
              <a:rPr lang="en-US" dirty="0" err="1"/>
              <a:t>xúc</a:t>
            </a:r>
            <a:r>
              <a:rPr lang="en-US" dirty="0"/>
              <a:t> </a:t>
            </a:r>
          </a:p>
          <a:p>
            <a:r>
              <a:rPr lang="en-US" dirty="0" err="1"/>
              <a:t>trích</a:t>
            </a:r>
            <a:r>
              <a:rPr lang="en-US" dirty="0"/>
              <a:t> </a:t>
            </a:r>
            <a:r>
              <a:rPr lang="en-US" dirty="0" err="1"/>
              <a:t>xuất</a:t>
            </a:r>
            <a:r>
              <a:rPr lang="en-US" dirty="0"/>
              <a:t> </a:t>
            </a:r>
            <a:r>
              <a:rPr lang="en-US" dirty="0" err="1"/>
              <a:t>thực</a:t>
            </a:r>
            <a:r>
              <a:rPr lang="en-US" dirty="0"/>
              <a:t> </a:t>
            </a:r>
            <a:r>
              <a:rPr lang="en-US" dirty="0" err="1"/>
              <a:t>thể</a:t>
            </a:r>
            <a:r>
              <a:rPr lang="en-US" dirty="0"/>
              <a:t> </a:t>
            </a:r>
          </a:p>
          <a:p>
            <a:r>
              <a:rPr lang="en-US" dirty="0" err="1"/>
              <a:t>hoặc</a:t>
            </a:r>
            <a:r>
              <a:rPr lang="en-US" dirty="0"/>
              <a:t> </a:t>
            </a:r>
            <a:r>
              <a:rPr lang="en-US" dirty="0" err="1"/>
              <a:t>xác</a:t>
            </a:r>
            <a:r>
              <a:rPr lang="en-US" dirty="0"/>
              <a:t> </a:t>
            </a:r>
            <a:r>
              <a:rPr lang="en-US" dirty="0" err="1"/>
              <a:t>định</a:t>
            </a:r>
            <a:r>
              <a:rPr lang="en-US" dirty="0"/>
              <a:t> intent</a:t>
            </a:r>
          </a:p>
          <a:p>
            <a:r>
              <a:rPr lang="en-US" dirty="0" err="1"/>
              <a:t>Phát</a:t>
            </a:r>
            <a:r>
              <a:rPr lang="en-US" dirty="0"/>
              <a:t> </a:t>
            </a:r>
            <a:r>
              <a:rPr lang="en-US" dirty="0" err="1"/>
              <a:t>hiện</a:t>
            </a:r>
            <a:r>
              <a:rPr lang="en-US" dirty="0"/>
              <a:t> </a:t>
            </a:r>
            <a:r>
              <a:rPr lang="en-US" dirty="0" err="1"/>
              <a:t>và</a:t>
            </a:r>
            <a:r>
              <a:rPr lang="en-US" dirty="0"/>
              <a:t> </a:t>
            </a:r>
            <a:r>
              <a:rPr lang="en-US" dirty="0" err="1"/>
              <a:t>dịch</a:t>
            </a:r>
            <a:r>
              <a:rPr lang="en-US" dirty="0"/>
              <a:t> </a:t>
            </a:r>
            <a:r>
              <a:rPr lang="en-US" dirty="0" err="1"/>
              <a:t>ngôn</a:t>
            </a:r>
            <a:r>
              <a:rPr lang="en-US" dirty="0"/>
              <a:t> </a:t>
            </a:r>
            <a:r>
              <a:rPr lang="en-US" dirty="0" err="1"/>
              <a:t>ngữ</a:t>
            </a:r>
            <a:r>
              <a:rPr lang="en-US" dirty="0"/>
              <a:t> </a:t>
            </a:r>
          </a:p>
          <a:p>
            <a:r>
              <a:rPr lang="vi-VN" dirty="0"/>
              <a:t>Để hiểu rõ hơn Azure AI Language hoạt động như thế nào…”</a:t>
            </a:r>
          </a:p>
          <a:p>
            <a:r>
              <a:rPr lang="vi-VN" dirty="0"/>
              <a:t>“Chúng ta có thể nhìn vào một ví dụ thực tế</a:t>
            </a:r>
          </a:p>
          <a:p>
            <a:r>
              <a:rPr lang="en-US" dirty="0"/>
              <a:t>Ở </a:t>
            </a:r>
            <a:r>
              <a:rPr lang="en-US" dirty="0" err="1"/>
              <a:t>đây</a:t>
            </a:r>
            <a:r>
              <a:rPr lang="en-US" dirty="0"/>
              <a:t> </a:t>
            </a:r>
            <a:r>
              <a:rPr lang="en-US" dirty="0" err="1"/>
              <a:t>là</a:t>
            </a:r>
            <a:r>
              <a:rPr lang="en-US" dirty="0"/>
              <a:t> </a:t>
            </a:r>
            <a:r>
              <a:rPr lang="en-US" dirty="0" err="1"/>
              <a:t>một</a:t>
            </a:r>
            <a:r>
              <a:rPr lang="en-US" dirty="0"/>
              <a:t> </a:t>
            </a:r>
            <a:r>
              <a:rPr lang="en-US" dirty="0" err="1"/>
              <a:t>đoạn</a:t>
            </a:r>
            <a:r>
              <a:rPr lang="en-US" dirty="0"/>
              <a:t> text </a:t>
            </a:r>
            <a:r>
              <a:rPr lang="en-US" dirty="0" err="1"/>
              <a:t>dạng</a:t>
            </a:r>
            <a:r>
              <a:rPr lang="en-US" dirty="0"/>
              <a:t> email </a:t>
            </a:r>
            <a:r>
              <a:rPr lang="vi-VN" dirty="0"/>
              <a:t>Azure AI Language có thể tự động nhận diện các thực thể quan trọng như:</a:t>
            </a:r>
          </a:p>
          <a:p>
            <a:r>
              <a:rPr lang="vi-VN" dirty="0"/>
              <a:t>tên người </a:t>
            </a:r>
          </a:p>
          <a:p>
            <a:r>
              <a:rPr lang="vi-VN" dirty="0"/>
              <a:t>địa điểm </a:t>
            </a:r>
          </a:p>
          <a:p>
            <a:r>
              <a:rPr lang="vi-VN" dirty="0"/>
              <a:t>ngày tháng </a:t>
            </a:r>
          </a:p>
          <a:p>
            <a:r>
              <a:rPr lang="vi-VN" dirty="0"/>
              <a:t>địa chỉ </a:t>
            </a:r>
          </a:p>
          <a:p>
            <a:r>
              <a:rPr lang="vi-VN" dirty="0"/>
              <a:t>số điện thoại</a:t>
            </a:r>
          </a:p>
          <a:p>
            <a:r>
              <a:rPr lang="vi-VN" dirty="0"/>
              <a:t>Và tất cả thông tin này được trả về dưới dạng dữ liệu có cấu trúc</a:t>
            </a:r>
            <a:r>
              <a:rPr lang="en-US" dirty="0"/>
              <a:t> </a:t>
            </a:r>
            <a:r>
              <a:rPr lang="en-US" dirty="0" err="1"/>
              <a:t>Những</a:t>
            </a:r>
            <a:r>
              <a:rPr lang="en-US" dirty="0"/>
              <a:t> </a:t>
            </a:r>
            <a:r>
              <a:rPr lang="en-US" dirty="0" err="1"/>
              <a:t>thông</a:t>
            </a:r>
            <a:r>
              <a:rPr lang="en-US" dirty="0"/>
              <a:t> tin </a:t>
            </a:r>
            <a:r>
              <a:rPr lang="en-US" dirty="0" err="1"/>
              <a:t>này</a:t>
            </a:r>
            <a:r>
              <a:rPr lang="en-US" dirty="0"/>
              <a:t> </a:t>
            </a:r>
            <a:r>
              <a:rPr lang="en-US" dirty="0" err="1"/>
              <a:t>có</a:t>
            </a:r>
            <a:r>
              <a:rPr lang="en-US" dirty="0"/>
              <a:t> </a:t>
            </a:r>
            <a:r>
              <a:rPr lang="en-US" dirty="0" err="1"/>
              <a:t>thể</a:t>
            </a:r>
            <a:r>
              <a:rPr lang="en-US" dirty="0"/>
              <a:t> </a:t>
            </a:r>
            <a:r>
              <a:rPr lang="en-US" dirty="0" err="1"/>
              <a:t>dùng</a:t>
            </a:r>
            <a:r>
              <a:rPr lang="en-US" dirty="0"/>
              <a:t> </a:t>
            </a:r>
            <a:r>
              <a:rPr lang="en-US" dirty="0" err="1"/>
              <a:t>để</a:t>
            </a:r>
            <a:r>
              <a:rPr lang="en-US" dirty="0"/>
              <a:t>:</a:t>
            </a:r>
          </a:p>
          <a:p>
            <a:r>
              <a:rPr lang="en-US" dirty="0" err="1"/>
              <a:t>phân</a:t>
            </a:r>
            <a:r>
              <a:rPr lang="en-US" dirty="0"/>
              <a:t> </a:t>
            </a:r>
            <a:r>
              <a:rPr lang="en-US" dirty="0" err="1"/>
              <a:t>tích</a:t>
            </a:r>
            <a:r>
              <a:rPr lang="en-US" dirty="0"/>
              <a:t> feedback </a:t>
            </a:r>
            <a:r>
              <a:rPr lang="en-US" dirty="0" err="1"/>
              <a:t>khách</a:t>
            </a:r>
            <a:r>
              <a:rPr lang="en-US" dirty="0"/>
              <a:t> </a:t>
            </a:r>
            <a:r>
              <a:rPr lang="en-US" dirty="0" err="1"/>
              <a:t>hàng</a:t>
            </a:r>
            <a:r>
              <a:rPr lang="en-US" dirty="0"/>
              <a:t> </a:t>
            </a:r>
          </a:p>
          <a:p>
            <a:r>
              <a:rPr lang="en-US" dirty="0" err="1"/>
              <a:t>tự</a:t>
            </a:r>
            <a:r>
              <a:rPr lang="en-US" dirty="0"/>
              <a:t> </a:t>
            </a:r>
            <a:r>
              <a:rPr lang="en-US" dirty="0" err="1"/>
              <a:t>động</a:t>
            </a:r>
            <a:r>
              <a:rPr lang="en-US" dirty="0"/>
              <a:t> </a:t>
            </a:r>
            <a:r>
              <a:rPr lang="en-US" dirty="0" err="1"/>
              <a:t>xử</a:t>
            </a:r>
            <a:r>
              <a:rPr lang="en-US" dirty="0"/>
              <a:t> </a:t>
            </a:r>
            <a:r>
              <a:rPr lang="en-US" dirty="0" err="1"/>
              <a:t>lý</a:t>
            </a:r>
            <a:r>
              <a:rPr lang="en-US" dirty="0"/>
              <a:t> email </a:t>
            </a:r>
          </a:p>
          <a:p>
            <a:r>
              <a:rPr lang="en-US" dirty="0" err="1"/>
              <a:t>hoặc</a:t>
            </a:r>
            <a:r>
              <a:rPr lang="en-US" dirty="0"/>
              <a:t> </a:t>
            </a:r>
            <a:r>
              <a:rPr lang="en-US" dirty="0" err="1"/>
              <a:t>làm</a:t>
            </a:r>
            <a:r>
              <a:rPr lang="en-US" dirty="0"/>
              <a:t> input </a:t>
            </a:r>
            <a:r>
              <a:rPr lang="en-US" dirty="0" err="1"/>
              <a:t>cho</a:t>
            </a:r>
            <a:r>
              <a:rPr lang="en-US" dirty="0"/>
              <a:t> chatbot</a:t>
            </a:r>
          </a:p>
          <a:p>
            <a:endParaRPr lang="en-US" dirty="0"/>
          </a:p>
          <a:p>
            <a:endParaRPr lang="en-US" dirty="0"/>
          </a:p>
        </p:txBody>
      </p:sp>
      <p:sp>
        <p:nvSpPr>
          <p:cNvPr id="4" name="Slide Number Placeholder 3">
            <a:extLst>
              <a:ext uri="{FF2B5EF4-FFF2-40B4-BE49-F238E27FC236}">
                <a16:creationId xmlns:a16="http://schemas.microsoft.com/office/drawing/2014/main" id="{22EE429F-A2AB-4E7B-51D7-12EEAD66ACF0}"/>
              </a:ext>
            </a:extLst>
          </p:cNvPr>
          <p:cNvSpPr>
            <a:spLocks noGrp="1"/>
          </p:cNvSpPr>
          <p:nvPr>
            <p:ph type="sldNum" sz="quarter" idx="5"/>
          </p:nvPr>
        </p:nvSpPr>
        <p:spPr/>
        <p:txBody>
          <a:bodyPr/>
          <a:lstStyle/>
          <a:p>
            <a:fld id="{42224020-3F5F-44AE-896D-09F0AE68775F}" type="slidenum">
              <a:rPr lang="en-US" smtClean="0"/>
              <a:t>11</a:t>
            </a:fld>
            <a:endParaRPr lang="en-US"/>
          </a:p>
        </p:txBody>
      </p:sp>
    </p:spTree>
    <p:extLst>
      <p:ext uri="{BB962C8B-B14F-4D97-AF65-F5344CB8AC3E}">
        <p14:creationId xmlns:p14="http://schemas.microsoft.com/office/powerpoint/2010/main" val="35470573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9CE8A-C55F-A8A0-AB11-2F617A9036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CDD6B6-FEFC-E577-0295-F0820E38D7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84AD6D-4B05-0767-537E-F49A8350DF70}"/>
              </a:ext>
            </a:extLst>
          </p:cNvPr>
          <p:cNvSpPr>
            <a:spLocks noGrp="1"/>
          </p:cNvSpPr>
          <p:nvPr>
            <p:ph type="body" idx="1"/>
          </p:nvPr>
        </p:nvSpPr>
        <p:spPr/>
        <p:txBody>
          <a:bodyPr/>
          <a:lstStyle/>
          <a:p>
            <a:r>
              <a:rPr lang="vi-VN" dirty="0"/>
              <a:t>rong lab này, mình sẽ sử dụng Azure AI Language để phân tích văn bản…”</a:t>
            </a:r>
          </a:p>
          <a:p>
            <a:r>
              <a:rPr lang="vi-VN" dirty="0"/>
              <a:t>“Cụ thể, hệ thống có thể:</a:t>
            </a:r>
          </a:p>
          <a:p>
            <a:r>
              <a:rPr lang="vi-VN" dirty="0"/>
              <a:t>nhận diện ngôn ngữ </a:t>
            </a:r>
          </a:p>
          <a:p>
            <a:r>
              <a:rPr lang="vi-VN" dirty="0"/>
              <a:t>phân tích cảm xúc </a:t>
            </a:r>
          </a:p>
          <a:p>
            <a:r>
              <a:rPr lang="vi-VN" dirty="0"/>
              <a:t>và trích xuất các thông tin quan trọng như entity” </a:t>
            </a:r>
          </a:p>
          <a:p>
            <a:r>
              <a:rPr lang="vi-VN" dirty="0"/>
              <a:t>“Sau khi gửi text vào API…”</a:t>
            </a:r>
          </a:p>
          <a:p>
            <a:r>
              <a:rPr lang="vi-VN" dirty="0"/>
              <a:t>“Chúng ta sẽ nhận được kết quả </a:t>
            </a:r>
            <a:r>
              <a:rPr lang="en-US" dirty="0" err="1"/>
              <a:t>sẽ</a:t>
            </a:r>
            <a:r>
              <a:rPr lang="en-US" dirty="0"/>
              <a:t> </a:t>
            </a:r>
            <a:r>
              <a:rPr lang="en-US" dirty="0" err="1"/>
              <a:t>được</a:t>
            </a:r>
            <a:r>
              <a:rPr lang="en-US" dirty="0"/>
              <a:t> in </a:t>
            </a:r>
            <a:r>
              <a:rPr lang="en-US" dirty="0" err="1"/>
              <a:t>ra</a:t>
            </a:r>
            <a:r>
              <a:rPr lang="en-US" dirty="0"/>
              <a:t> </a:t>
            </a:r>
            <a:r>
              <a:rPr lang="en-US" dirty="0" err="1"/>
              <a:t>màn</a:t>
            </a:r>
            <a:r>
              <a:rPr lang="en-US" dirty="0"/>
              <a:t> </a:t>
            </a:r>
            <a:r>
              <a:rPr lang="en-US" dirty="0" err="1"/>
              <a:t>hình</a:t>
            </a:r>
            <a:r>
              <a:rPr lang="vi-VN" dirty="0"/>
              <a:t>”</a:t>
            </a:r>
            <a:endParaRPr lang="en-US" dirty="0"/>
          </a:p>
          <a:p>
            <a:endParaRPr lang="vi-VN" dirty="0"/>
          </a:p>
        </p:txBody>
      </p:sp>
      <p:sp>
        <p:nvSpPr>
          <p:cNvPr id="4" name="Slide Number Placeholder 3">
            <a:extLst>
              <a:ext uri="{FF2B5EF4-FFF2-40B4-BE49-F238E27FC236}">
                <a16:creationId xmlns:a16="http://schemas.microsoft.com/office/drawing/2014/main" id="{ED9476E6-5FCA-BC02-E698-5C00EB1D7008}"/>
              </a:ext>
            </a:extLst>
          </p:cNvPr>
          <p:cNvSpPr>
            <a:spLocks noGrp="1"/>
          </p:cNvSpPr>
          <p:nvPr>
            <p:ph type="sldNum" sz="quarter" idx="5"/>
          </p:nvPr>
        </p:nvSpPr>
        <p:spPr/>
        <p:txBody>
          <a:bodyPr/>
          <a:lstStyle/>
          <a:p>
            <a:fld id="{42224020-3F5F-44AE-896D-09F0AE68775F}" type="slidenum">
              <a:rPr lang="en-US" smtClean="0"/>
              <a:t>12</a:t>
            </a:fld>
            <a:endParaRPr lang="en-US"/>
          </a:p>
        </p:txBody>
      </p:sp>
    </p:spTree>
    <p:extLst>
      <p:ext uri="{BB962C8B-B14F-4D97-AF65-F5344CB8AC3E}">
        <p14:creationId xmlns:p14="http://schemas.microsoft.com/office/powerpoint/2010/main" val="16802004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6B68E-A3CB-AF68-DCED-8414BD939F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3DACB-3E27-5EAD-C117-5A2BA69539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CB3085-3337-81B4-9B8B-6B9A0F93D6D6}"/>
              </a:ext>
            </a:extLst>
          </p:cNvPr>
          <p:cNvSpPr>
            <a:spLocks noGrp="1"/>
          </p:cNvSpPr>
          <p:nvPr>
            <p:ph type="body" idx="1"/>
          </p:nvPr>
        </p:nvSpPr>
        <p:spPr/>
        <p:txBody>
          <a:bodyPr/>
          <a:lstStyle/>
          <a:p>
            <a:r>
              <a:rPr lang="vi-VN" dirty="0"/>
              <a:t>rong lab này, mình sẽ sử dụng Azure AI Language để phân tích văn bản…”</a:t>
            </a:r>
          </a:p>
          <a:p>
            <a:r>
              <a:rPr lang="vi-VN" dirty="0"/>
              <a:t>“Cụ thể, hệ thống có thể:</a:t>
            </a:r>
          </a:p>
          <a:p>
            <a:r>
              <a:rPr lang="vi-VN" dirty="0"/>
              <a:t>nhận diện ngôn ngữ </a:t>
            </a:r>
          </a:p>
          <a:p>
            <a:r>
              <a:rPr lang="vi-VN" dirty="0"/>
              <a:t>phân tích cảm xúc </a:t>
            </a:r>
          </a:p>
          <a:p>
            <a:r>
              <a:rPr lang="vi-VN" dirty="0"/>
              <a:t>và trích xuất các thông tin quan trọng như entity” </a:t>
            </a:r>
          </a:p>
          <a:p>
            <a:r>
              <a:rPr lang="vi-VN" dirty="0"/>
              <a:t>“Sau khi gửi text vào API…”</a:t>
            </a:r>
          </a:p>
          <a:p>
            <a:r>
              <a:rPr lang="vi-VN" dirty="0"/>
              <a:t>“Chúng ta sẽ nhận được kết quả </a:t>
            </a:r>
            <a:r>
              <a:rPr lang="en-US" dirty="0" err="1"/>
              <a:t>sẽ</a:t>
            </a:r>
            <a:r>
              <a:rPr lang="en-US" dirty="0"/>
              <a:t> </a:t>
            </a:r>
            <a:r>
              <a:rPr lang="en-US" dirty="0" err="1"/>
              <a:t>được</a:t>
            </a:r>
            <a:r>
              <a:rPr lang="en-US" dirty="0"/>
              <a:t> in </a:t>
            </a:r>
            <a:r>
              <a:rPr lang="en-US" dirty="0" err="1"/>
              <a:t>ra</a:t>
            </a:r>
            <a:r>
              <a:rPr lang="en-US" dirty="0"/>
              <a:t> </a:t>
            </a:r>
            <a:r>
              <a:rPr lang="en-US" dirty="0" err="1"/>
              <a:t>màn</a:t>
            </a:r>
            <a:r>
              <a:rPr lang="en-US" dirty="0"/>
              <a:t> </a:t>
            </a:r>
            <a:r>
              <a:rPr lang="en-US" dirty="0" err="1"/>
              <a:t>hình</a:t>
            </a:r>
            <a:r>
              <a:rPr lang="vi-VN" dirty="0"/>
              <a:t>”</a:t>
            </a:r>
            <a:endParaRPr lang="en-US" dirty="0"/>
          </a:p>
          <a:p>
            <a:r>
              <a:rPr lang="en-US" sz="1200" b="0" i="0" kern="1200" dirty="0">
                <a:solidFill>
                  <a:schemeClr val="tx1"/>
                </a:solidFill>
                <a:effectLst/>
                <a:latin typeface="+mn-lt"/>
                <a:ea typeface="+mn-ea"/>
                <a:cs typeface="+mn-cs"/>
              </a:rPr>
              <a:t>To access the secret in the key vault, your application must use a service principal that has access to the secret. You’ll use the Azure command line interface (CLI) to create the service principal, find its object ID, and grant access to the secret in Azure Vault.</a:t>
            </a:r>
            <a:endParaRPr lang="en-US" dirty="0"/>
          </a:p>
          <a:p>
            <a:endParaRPr lang="vi-VN" dirty="0"/>
          </a:p>
        </p:txBody>
      </p:sp>
      <p:sp>
        <p:nvSpPr>
          <p:cNvPr id="4" name="Slide Number Placeholder 3">
            <a:extLst>
              <a:ext uri="{FF2B5EF4-FFF2-40B4-BE49-F238E27FC236}">
                <a16:creationId xmlns:a16="http://schemas.microsoft.com/office/drawing/2014/main" id="{4AD011DB-8E22-91A9-894D-50BA1A8B6B87}"/>
              </a:ext>
            </a:extLst>
          </p:cNvPr>
          <p:cNvSpPr>
            <a:spLocks noGrp="1"/>
          </p:cNvSpPr>
          <p:nvPr>
            <p:ph type="sldNum" sz="quarter" idx="5"/>
          </p:nvPr>
        </p:nvSpPr>
        <p:spPr/>
        <p:txBody>
          <a:bodyPr/>
          <a:lstStyle/>
          <a:p>
            <a:fld id="{42224020-3F5F-44AE-896D-09F0AE68775F}" type="slidenum">
              <a:rPr lang="en-US" smtClean="0"/>
              <a:t>13</a:t>
            </a:fld>
            <a:endParaRPr lang="en-US"/>
          </a:p>
        </p:txBody>
      </p:sp>
    </p:spTree>
    <p:extLst>
      <p:ext uri="{BB962C8B-B14F-4D97-AF65-F5344CB8AC3E}">
        <p14:creationId xmlns:p14="http://schemas.microsoft.com/office/powerpoint/2010/main" val="2651422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sv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sv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sv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7.emf"/><Relationship Id="rId4" Type="http://schemas.openxmlformats.org/officeDocument/2006/relationships/oleObject" Target="../embeddings/oleObject1.bin"/></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7.emf"/><Relationship Id="rId4"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506841" y="-144637"/>
            <a:ext cx="10786223" cy="10576274"/>
            <a:chOff x="0" y="0"/>
            <a:chExt cx="14381630" cy="14101698"/>
          </a:xfrm>
        </p:grpSpPr>
        <p:sp>
          <p:nvSpPr>
            <p:cNvPr id="3" name="Freeform 3"/>
            <p:cNvSpPr/>
            <p:nvPr/>
          </p:nvSpPr>
          <p:spPr>
            <a:xfrm>
              <a:off x="0" y="7042815"/>
              <a:ext cx="12363028" cy="7058883"/>
            </a:xfrm>
            <a:custGeom>
              <a:avLst/>
              <a:gdLst/>
              <a:ahLst/>
              <a:cxnLst/>
              <a:rect l="l" t="t" r="r" b="b"/>
              <a:pathLst>
                <a:path w="12363028" h="7058883">
                  <a:moveTo>
                    <a:pt x="0" y="0"/>
                  </a:moveTo>
                  <a:lnTo>
                    <a:pt x="12363028" y="0"/>
                  </a:lnTo>
                  <a:lnTo>
                    <a:pt x="12363028" y="7058883"/>
                  </a:lnTo>
                  <a:lnTo>
                    <a:pt x="0" y="7058883"/>
                  </a:lnTo>
                  <a:lnTo>
                    <a:pt x="0" y="0"/>
                  </a:lnTo>
                  <a:close/>
                </a:path>
              </a:pathLst>
            </a:custGeom>
            <a:blipFill>
              <a:blip>
                <a:extLst>
                  <a:ext uri="{96DAC541-7B7A-43D3-8B79-37D633B846F1}">
                    <asvg:svgBlip xmlns:asvg="http://schemas.microsoft.com/office/drawing/2016/SVG/main" r:embed="rId2"/>
                  </a:ext>
                </a:extLst>
              </a:blip>
              <a:stretch>
                <a:fillRect t="-51576"/>
              </a:stretch>
            </a:blipFill>
          </p:spPr>
          <p:txBody>
            <a:bodyPr/>
            <a:lstStyle/>
            <a:p>
              <a:endParaRPr lang="en-US"/>
            </a:p>
          </p:txBody>
        </p:sp>
        <p:sp>
          <p:nvSpPr>
            <p:cNvPr id="4" name="Freeform 4"/>
            <p:cNvSpPr/>
            <p:nvPr/>
          </p:nvSpPr>
          <p:spPr>
            <a:xfrm>
              <a:off x="2018602" y="0"/>
              <a:ext cx="12363028" cy="7058883"/>
            </a:xfrm>
            <a:custGeom>
              <a:avLst/>
              <a:gdLst/>
              <a:ahLst/>
              <a:cxnLst/>
              <a:rect l="l" t="t" r="r" b="b"/>
              <a:pathLst>
                <a:path w="12363028" h="7058883">
                  <a:moveTo>
                    <a:pt x="0" y="0"/>
                  </a:moveTo>
                  <a:lnTo>
                    <a:pt x="12363028" y="0"/>
                  </a:lnTo>
                  <a:lnTo>
                    <a:pt x="12363028" y="7058883"/>
                  </a:lnTo>
                  <a:lnTo>
                    <a:pt x="0" y="7058883"/>
                  </a:lnTo>
                  <a:lnTo>
                    <a:pt x="0" y="0"/>
                  </a:lnTo>
                  <a:close/>
                </a:path>
              </a:pathLst>
            </a:custGeom>
            <a:blipFill>
              <a:blip>
                <a:extLst>
                  <a:ext uri="{96DAC541-7B7A-43D3-8B79-37D633B846F1}">
                    <asvg:svgBlip xmlns:asvg="http://schemas.microsoft.com/office/drawing/2016/SVG/main" r:embed="rId2"/>
                  </a:ext>
                </a:extLst>
              </a:blip>
              <a:stretch>
                <a:fillRect t="-51576"/>
              </a:stretch>
            </a:blipFill>
          </p:spPr>
          <p:txBody>
            <a:bodyPr/>
            <a:lstStyle/>
            <a:p>
              <a:endParaRPr lang="en-US"/>
            </a:p>
          </p:txBody>
        </p:sp>
      </p:grpSp>
      <p:sp>
        <p:nvSpPr>
          <p:cNvPr id="5" name="AutoShape 5"/>
          <p:cNvSpPr/>
          <p:nvPr/>
        </p:nvSpPr>
        <p:spPr>
          <a:xfrm rot="-10800000">
            <a:off x="1028700" y="5284343"/>
            <a:ext cx="10211441" cy="0"/>
          </a:xfrm>
          <a:prstGeom prst="line">
            <a:avLst/>
          </a:prstGeom>
          <a:ln w="28575" cap="rnd">
            <a:solidFill>
              <a:srgbClr val="86C7ED"/>
            </a:solidFill>
            <a:prstDash val="solid"/>
            <a:headEnd type="none" w="sm" len="sm"/>
            <a:tailEnd type="none" w="sm" len="sm"/>
          </a:ln>
        </p:spPr>
        <p:txBody>
          <a:bodyPr/>
          <a:lstStyle/>
          <a:p>
            <a:endParaRPr lang="en-US"/>
          </a:p>
        </p:txBody>
      </p:sp>
      <p:sp>
        <p:nvSpPr>
          <p:cNvPr id="10" name="TextBox 10"/>
          <p:cNvSpPr txBox="1"/>
          <p:nvPr/>
        </p:nvSpPr>
        <p:spPr>
          <a:xfrm>
            <a:off x="1028700" y="893880"/>
            <a:ext cx="12676166" cy="2658805"/>
          </a:xfrm>
          <a:prstGeom prst="rect">
            <a:avLst/>
          </a:prstGeom>
        </p:spPr>
        <p:txBody>
          <a:bodyPr lIns="0" tIns="0" rIns="0" bIns="0" rtlCol="0" anchor="t">
            <a:spAutoFit/>
          </a:bodyPr>
          <a:lstStyle/>
          <a:p>
            <a:pPr algn="l">
              <a:lnSpc>
                <a:spcPts val="10667"/>
              </a:lnSpc>
            </a:pPr>
            <a:r>
              <a:rPr lang="en-US" sz="8399" b="1" spc="251" dirty="0" err="1">
                <a:solidFill>
                  <a:srgbClr val="1836B2"/>
                </a:solidFill>
                <a:latin typeface="Segoe UI" panose="020B0502040204020203" pitchFamily="34" charset="0"/>
                <a:ea typeface="Muli Bold"/>
                <a:cs typeface="Segoe UI" panose="020B0502040204020203" pitchFamily="34" charset="0"/>
                <a:sym typeface="Muli Bold"/>
              </a:rPr>
              <a:t>Giải</a:t>
            </a:r>
            <a:r>
              <a:rPr lang="en-US" sz="8399" b="1" spc="251" dirty="0">
                <a:solidFill>
                  <a:srgbClr val="1836B2"/>
                </a:solidFill>
                <a:latin typeface="Segoe UI" panose="020B0502040204020203" pitchFamily="34" charset="0"/>
                <a:ea typeface="Muli Bold"/>
                <a:cs typeface="Segoe UI" panose="020B0502040204020203" pitchFamily="34" charset="0"/>
                <a:sym typeface="Muli Bold"/>
              </a:rPr>
              <a:t> </a:t>
            </a:r>
            <a:r>
              <a:rPr lang="en-US" sz="8399" b="1" spc="251" dirty="0" err="1">
                <a:solidFill>
                  <a:srgbClr val="1836B2"/>
                </a:solidFill>
                <a:latin typeface="Segoe UI" panose="020B0502040204020203" pitchFamily="34" charset="0"/>
                <a:ea typeface="Muli Bold"/>
                <a:cs typeface="Segoe UI" panose="020B0502040204020203" pitchFamily="34" charset="0"/>
                <a:sym typeface="Muli Bold"/>
              </a:rPr>
              <a:t>pháp</a:t>
            </a:r>
            <a:r>
              <a:rPr lang="en-US" sz="8399" b="1" spc="251" dirty="0">
                <a:solidFill>
                  <a:srgbClr val="1836B2"/>
                </a:solidFill>
                <a:latin typeface="Segoe UI" panose="020B0502040204020203" pitchFamily="34" charset="0"/>
                <a:ea typeface="Muli Bold"/>
                <a:cs typeface="Segoe UI" panose="020B0502040204020203" pitchFamily="34" charset="0"/>
                <a:sym typeface="Muli Bold"/>
              </a:rPr>
              <a:t> AI </a:t>
            </a:r>
            <a:r>
              <a:rPr lang="en-US" sz="8399" b="1" spc="251" dirty="0" err="1">
                <a:solidFill>
                  <a:srgbClr val="1836B2"/>
                </a:solidFill>
                <a:latin typeface="Segoe UI" panose="020B0502040204020203" pitchFamily="34" charset="0"/>
                <a:ea typeface="Muli Bold"/>
                <a:cs typeface="Segoe UI" panose="020B0502040204020203" pitchFamily="34" charset="0"/>
                <a:sym typeface="Muli Bold"/>
              </a:rPr>
              <a:t>toàn</a:t>
            </a:r>
            <a:r>
              <a:rPr lang="en-US" sz="8399" b="1" spc="251" dirty="0">
                <a:solidFill>
                  <a:srgbClr val="1836B2"/>
                </a:solidFill>
                <a:latin typeface="Segoe UI" panose="020B0502040204020203" pitchFamily="34" charset="0"/>
                <a:ea typeface="Muli Bold"/>
                <a:cs typeface="Segoe UI" panose="020B0502040204020203" pitchFamily="34" charset="0"/>
                <a:sym typeface="Muli Bold"/>
              </a:rPr>
              <a:t> </a:t>
            </a:r>
            <a:r>
              <a:rPr lang="en-US" sz="8399" b="1" spc="251" dirty="0" err="1">
                <a:solidFill>
                  <a:srgbClr val="1836B2"/>
                </a:solidFill>
                <a:latin typeface="Segoe UI" panose="020B0502040204020203" pitchFamily="34" charset="0"/>
                <a:ea typeface="Muli Bold"/>
                <a:cs typeface="Segoe UI" panose="020B0502040204020203" pitchFamily="34" charset="0"/>
                <a:sym typeface="Muli Bold"/>
              </a:rPr>
              <a:t>diện</a:t>
            </a:r>
            <a:r>
              <a:rPr lang="en-US" sz="8399" b="1" spc="251" dirty="0">
                <a:solidFill>
                  <a:srgbClr val="1836B2"/>
                </a:solidFill>
                <a:latin typeface="Segoe UI" panose="020B0502040204020203" pitchFamily="34" charset="0"/>
                <a:ea typeface="Muli Bold"/>
                <a:cs typeface="Segoe UI" panose="020B0502040204020203" pitchFamily="34" charset="0"/>
                <a:sym typeface="Muli Bold"/>
              </a:rPr>
              <a:t> </a:t>
            </a:r>
            <a:r>
              <a:rPr lang="en-US" sz="8399" b="1" spc="251" dirty="0" err="1">
                <a:solidFill>
                  <a:srgbClr val="1836B2"/>
                </a:solidFill>
                <a:latin typeface="Segoe UI" panose="020B0502040204020203" pitchFamily="34" charset="0"/>
                <a:ea typeface="Muli Bold"/>
                <a:cs typeface="Segoe UI" panose="020B0502040204020203" pitchFamily="34" charset="0"/>
                <a:sym typeface="Muli Bold"/>
              </a:rPr>
              <a:t>với</a:t>
            </a:r>
            <a:r>
              <a:rPr lang="en-US" sz="8399" b="1" spc="251" dirty="0">
                <a:solidFill>
                  <a:srgbClr val="1836B2"/>
                </a:solidFill>
                <a:latin typeface="Segoe UI" panose="020B0502040204020203" pitchFamily="34" charset="0"/>
                <a:ea typeface="Muli Bold"/>
                <a:cs typeface="Segoe UI" panose="020B0502040204020203" pitchFamily="34" charset="0"/>
                <a:sym typeface="Muli Bold"/>
              </a:rPr>
              <a:t> Azure</a:t>
            </a:r>
          </a:p>
        </p:txBody>
      </p:sp>
      <p:sp>
        <p:nvSpPr>
          <p:cNvPr id="11" name="TextBox 11"/>
          <p:cNvSpPr txBox="1"/>
          <p:nvPr/>
        </p:nvSpPr>
        <p:spPr>
          <a:xfrm>
            <a:off x="1028700" y="3771873"/>
            <a:ext cx="12219339" cy="538609"/>
          </a:xfrm>
          <a:prstGeom prst="rect">
            <a:avLst/>
          </a:prstGeom>
        </p:spPr>
        <p:txBody>
          <a:bodyPr lIns="0" tIns="0" rIns="0" bIns="0" rtlCol="0" anchor="t">
            <a:spAutoFit/>
          </a:bodyPr>
          <a:lstStyle/>
          <a:p>
            <a:pPr algn="l">
              <a:lnSpc>
                <a:spcPts val="4200"/>
              </a:lnSpc>
            </a:pPr>
            <a:r>
              <a:rPr lang="en-US" sz="3500" b="1" spc="105" dirty="0">
                <a:solidFill>
                  <a:srgbClr val="A066CB"/>
                </a:solidFill>
                <a:latin typeface="Segoe UI" panose="020B0502040204020203" pitchFamily="34" charset="0"/>
                <a:ea typeface="Muli Ultra-Bold"/>
                <a:cs typeface="Segoe UI" panose="020B0502040204020203" pitchFamily="34" charset="0"/>
                <a:sym typeface="Muli Ultra-Bold"/>
              </a:rPr>
              <a:t>Cao Van Bach (cv.bach1)</a:t>
            </a:r>
          </a:p>
        </p:txBody>
      </p:sp>
      <p:sp>
        <p:nvSpPr>
          <p:cNvPr id="12" name="TextBox 12"/>
          <p:cNvSpPr txBox="1"/>
          <p:nvPr/>
        </p:nvSpPr>
        <p:spPr>
          <a:xfrm>
            <a:off x="1028700" y="4437990"/>
            <a:ext cx="12219339" cy="491096"/>
          </a:xfrm>
          <a:prstGeom prst="rect">
            <a:avLst/>
          </a:prstGeom>
        </p:spPr>
        <p:txBody>
          <a:bodyPr lIns="0" tIns="0" rIns="0" bIns="0" rtlCol="0" anchor="t">
            <a:spAutoFit/>
          </a:bodyPr>
          <a:lstStyle/>
          <a:p>
            <a:pPr algn="l">
              <a:lnSpc>
                <a:spcPts val="4200"/>
              </a:lnSpc>
            </a:pPr>
            <a:r>
              <a:rPr lang="en-US" sz="3000" spc="15" dirty="0">
                <a:solidFill>
                  <a:srgbClr val="000000"/>
                </a:solidFill>
                <a:latin typeface="Segoe UI" panose="020B0502040204020203" pitchFamily="34" charset="0"/>
                <a:ea typeface="Muli Light"/>
                <a:cs typeface="Segoe UI" panose="020B0502040204020203" pitchFamily="34" charset="0"/>
                <a:sym typeface="Muli Light"/>
              </a:rPr>
              <a:t>E-MIS (Azure)</a:t>
            </a:r>
          </a:p>
        </p:txBody>
      </p:sp>
      <p:grpSp>
        <p:nvGrpSpPr>
          <p:cNvPr id="13" name="Group 13"/>
          <p:cNvGrpSpPr/>
          <p:nvPr/>
        </p:nvGrpSpPr>
        <p:grpSpPr>
          <a:xfrm>
            <a:off x="1028699" y="5303526"/>
            <a:ext cx="10211441" cy="2181213"/>
            <a:chOff x="0" y="-38100"/>
            <a:chExt cx="13615255" cy="2243667"/>
          </a:xfrm>
        </p:grpSpPr>
        <p:sp>
          <p:nvSpPr>
            <p:cNvPr id="14" name="TextBox 14"/>
            <p:cNvSpPr txBox="1"/>
            <p:nvPr/>
          </p:nvSpPr>
          <p:spPr>
            <a:xfrm>
              <a:off x="0" y="-38100"/>
              <a:ext cx="13615255" cy="551007"/>
            </a:xfrm>
            <a:prstGeom prst="rect">
              <a:avLst/>
            </a:prstGeom>
          </p:spPr>
          <p:txBody>
            <a:bodyPr lIns="0" tIns="0" rIns="0" bIns="0" rtlCol="0" anchor="t">
              <a:spAutoFit/>
            </a:bodyPr>
            <a:lstStyle/>
            <a:p>
              <a:pPr algn="l">
                <a:lnSpc>
                  <a:spcPts val="3499"/>
                </a:lnSpc>
              </a:pPr>
              <a:endParaRPr lang="en-US" sz="2499" spc="12" dirty="0">
                <a:solidFill>
                  <a:srgbClr val="000000"/>
                </a:solidFill>
                <a:latin typeface="Muli Light"/>
                <a:ea typeface="Muli Light"/>
                <a:cs typeface="Muli Light"/>
                <a:sym typeface="Muli Light"/>
              </a:endParaRPr>
            </a:p>
          </p:txBody>
        </p:sp>
        <p:sp>
          <p:nvSpPr>
            <p:cNvPr id="15" name="TextBox 15"/>
            <p:cNvSpPr txBox="1"/>
            <p:nvPr/>
          </p:nvSpPr>
          <p:spPr>
            <a:xfrm>
              <a:off x="0" y="873268"/>
              <a:ext cx="13615255" cy="420932"/>
            </a:xfrm>
            <a:prstGeom prst="rect">
              <a:avLst/>
            </a:prstGeom>
          </p:spPr>
          <p:txBody>
            <a:bodyPr lIns="0" tIns="0" rIns="0" bIns="0" rtlCol="0" anchor="t">
              <a:spAutoFit/>
            </a:bodyPr>
            <a:lstStyle/>
            <a:p>
              <a:pPr algn="l">
                <a:lnSpc>
                  <a:spcPts val="3499"/>
                </a:lnSpc>
              </a:pPr>
              <a:r>
                <a:rPr lang="en-US" sz="2499" spc="12" dirty="0">
                  <a:solidFill>
                    <a:srgbClr val="000000"/>
                  </a:solidFill>
                  <a:latin typeface="Segoe UI" panose="020B0502040204020203" pitchFamily="34" charset="0"/>
                  <a:ea typeface="Muli Light"/>
                  <a:cs typeface="Segoe UI" panose="020B0502040204020203" pitchFamily="34" charset="0"/>
                  <a:sym typeface="Muli Light"/>
                </a:rPr>
                <a:t>caovanbach18@gmail.com</a:t>
              </a:r>
            </a:p>
          </p:txBody>
        </p:sp>
        <p:sp>
          <p:nvSpPr>
            <p:cNvPr id="16" name="TextBox 16"/>
            <p:cNvSpPr txBox="1"/>
            <p:nvPr/>
          </p:nvSpPr>
          <p:spPr>
            <a:xfrm>
              <a:off x="0" y="1784635"/>
              <a:ext cx="13615255" cy="420932"/>
            </a:xfrm>
            <a:prstGeom prst="rect">
              <a:avLst/>
            </a:prstGeom>
          </p:spPr>
          <p:txBody>
            <a:bodyPr lIns="0" tIns="0" rIns="0" bIns="0" rtlCol="0" anchor="t">
              <a:spAutoFit/>
            </a:bodyPr>
            <a:lstStyle/>
            <a:p>
              <a:pPr algn="l">
                <a:lnSpc>
                  <a:spcPts val="3499"/>
                </a:lnSpc>
              </a:pPr>
              <a:r>
                <a:rPr lang="en-US" sz="2499" spc="12" dirty="0">
                  <a:solidFill>
                    <a:srgbClr val="000000"/>
                  </a:solidFill>
                  <a:latin typeface="Segoe UI" panose="020B0502040204020203" pitchFamily="34" charset="0"/>
                  <a:ea typeface="Muli Light"/>
                  <a:cs typeface="Segoe UI" panose="020B0502040204020203" pitchFamily="34" charset="0"/>
                  <a:sym typeface="Muli Light"/>
                </a:rPr>
                <a:t>+84 869227136</a:t>
              </a:r>
            </a:p>
          </p:txBody>
        </p:sp>
      </p:grpSp>
      <p:pic>
        <p:nvPicPr>
          <p:cNvPr id="1026" name="Picture 2" descr="Microsoft Azure Icon 2022">
            <a:extLst>
              <a:ext uri="{FF2B5EF4-FFF2-40B4-BE49-F238E27FC236}">
                <a16:creationId xmlns:a16="http://schemas.microsoft.com/office/drawing/2014/main" id="{8F2BFAD3-2B27-F04B-8D3A-D3C0D419F7C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232" y="7940356"/>
            <a:ext cx="3507081" cy="197273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Diagram 29">
            <a:extLst>
              <a:ext uri="{FF2B5EF4-FFF2-40B4-BE49-F238E27FC236}">
                <a16:creationId xmlns:a16="http://schemas.microsoft.com/office/drawing/2014/main" id="{296A2180-3A7B-0BB5-3BA6-692F95DA5DAB}"/>
              </a:ext>
            </a:extLst>
          </p:cNvPr>
          <p:cNvGraphicFramePr/>
          <p:nvPr>
            <p:extLst>
              <p:ext uri="{D42A27DB-BD31-4B8C-83A1-F6EECF244321}">
                <p14:modId xmlns:p14="http://schemas.microsoft.com/office/powerpoint/2010/main" val="2733893245"/>
              </p:ext>
            </p:extLst>
          </p:nvPr>
        </p:nvGraphicFramePr>
        <p:xfrm>
          <a:off x="3048000" y="1638300"/>
          <a:ext cx="12192000" cy="812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1" name="TextBox 8">
            <a:extLst>
              <a:ext uri="{FF2B5EF4-FFF2-40B4-BE49-F238E27FC236}">
                <a16:creationId xmlns:a16="http://schemas.microsoft.com/office/drawing/2014/main" id="{B3A89309-6952-A2B0-306F-1A824158D7A3}"/>
              </a:ext>
            </a:extLst>
          </p:cNvPr>
          <p:cNvSpPr txBox="1"/>
          <p:nvPr/>
        </p:nvSpPr>
        <p:spPr>
          <a:xfrm>
            <a:off x="838200" y="419100"/>
            <a:ext cx="11132246" cy="1068819"/>
          </a:xfrm>
          <a:prstGeom prst="rect">
            <a:avLst/>
          </a:prstGeom>
        </p:spPr>
        <p:txBody>
          <a:bodyPr lIns="0" tIns="0" rIns="0" bIns="0" rtlCol="0" anchor="t">
            <a:spAutoFit/>
          </a:bodyPr>
          <a:lstStyle/>
          <a:p>
            <a:pPr algn="l">
              <a:lnSpc>
                <a:spcPts val="9240"/>
              </a:lnSpc>
            </a:pPr>
            <a:r>
              <a:rPr lang="en-US" sz="6000" b="1" dirty="0" err="1">
                <a:solidFill>
                  <a:srgbClr val="1836B2"/>
                </a:solidFill>
                <a:latin typeface="Segoe UI" panose="020B0502040204020203" pitchFamily="34" charset="0"/>
                <a:ea typeface="Muli Bold"/>
                <a:cs typeface="Segoe UI" panose="020B0502040204020203" pitchFamily="34" charset="0"/>
                <a:sym typeface="Muli Bold"/>
              </a:rPr>
              <a:t>Mục</a:t>
            </a:r>
            <a:r>
              <a:rPr lang="en-US" sz="6000" b="1" dirty="0">
                <a:solidFill>
                  <a:srgbClr val="1836B2"/>
                </a:solidFill>
                <a:latin typeface="Segoe UI" panose="020B0502040204020203" pitchFamily="34" charset="0"/>
                <a:ea typeface="Muli Bold"/>
                <a:cs typeface="Segoe UI" panose="020B0502040204020203" pitchFamily="34" charset="0"/>
                <a:sym typeface="Muli Bold"/>
              </a:rPr>
              <a:t> </a:t>
            </a:r>
            <a:r>
              <a:rPr lang="en-US" sz="6000" b="1" dirty="0" err="1">
                <a:solidFill>
                  <a:srgbClr val="1836B2"/>
                </a:solidFill>
                <a:latin typeface="Segoe UI" panose="020B0502040204020203" pitchFamily="34" charset="0"/>
                <a:ea typeface="Muli Bold"/>
                <a:cs typeface="Segoe UI" panose="020B0502040204020203" pitchFamily="34" charset="0"/>
                <a:sym typeface="Muli Bold"/>
              </a:rPr>
              <a:t>lục</a:t>
            </a:r>
            <a:endParaRPr lang="en-US" sz="6000" b="1" dirty="0">
              <a:solidFill>
                <a:srgbClr val="1836B2"/>
              </a:solidFill>
              <a:latin typeface="Segoe UI" panose="020B0502040204020203" pitchFamily="34" charset="0"/>
              <a:ea typeface="Muli Bold"/>
              <a:cs typeface="Segoe UI" panose="020B0502040204020203" pitchFamily="34" charset="0"/>
              <a:sym typeface="Muli 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355896" y="6003011"/>
            <a:ext cx="15752927" cy="538609"/>
          </a:xfrm>
          <a:prstGeom prst="rect">
            <a:avLst/>
          </a:prstGeom>
        </p:spPr>
        <p:txBody>
          <a:bodyPr wrap="square" lIns="0" tIns="0" rIns="0" bIns="0" rtlCol="0" anchor="t">
            <a:spAutoFit/>
          </a:bodyPr>
          <a:lstStyle/>
          <a:p>
            <a:pPr algn="l">
              <a:lnSpc>
                <a:spcPts val="4200"/>
              </a:lnSpc>
            </a:pPr>
            <a:r>
              <a:rPr lang="en-US" sz="3500" b="1" spc="105" dirty="0" err="1">
                <a:solidFill>
                  <a:srgbClr val="1836B2"/>
                </a:solidFill>
                <a:latin typeface="Segoe UI" panose="020B0502040204020203" pitchFamily="34" charset="0"/>
                <a:ea typeface="Muli Ultra-Bold"/>
                <a:cs typeface="Segoe UI" panose="020B0502040204020203" pitchFamily="34" charset="0"/>
                <a:sym typeface="Muli Ultra-Bold"/>
              </a:rPr>
              <a:t>Vấn</a:t>
            </a:r>
            <a:r>
              <a:rPr lang="en-US" sz="3500" b="1" spc="105" dirty="0">
                <a:solidFill>
                  <a:srgbClr val="1836B2"/>
                </a:solidFill>
                <a:latin typeface="Segoe UI" panose="020B0502040204020203" pitchFamily="34" charset="0"/>
                <a:ea typeface="Muli Ultra-Bold"/>
                <a:cs typeface="Segoe UI" panose="020B0502040204020203" pitchFamily="34" charset="0"/>
                <a:sym typeface="Muli Ultra-Bold"/>
              </a:rPr>
              <a:t> </a:t>
            </a:r>
            <a:r>
              <a:rPr lang="en-US" sz="3500" b="1" spc="105" dirty="0" err="1">
                <a:solidFill>
                  <a:srgbClr val="1836B2"/>
                </a:solidFill>
                <a:latin typeface="Segoe UI" panose="020B0502040204020203" pitchFamily="34" charset="0"/>
                <a:ea typeface="Muli Ultra-Bold"/>
                <a:cs typeface="Segoe UI" panose="020B0502040204020203" pitchFamily="34" charset="0"/>
                <a:sym typeface="Muli Ultra-Bold"/>
              </a:rPr>
              <a:t>đề</a:t>
            </a:r>
            <a:r>
              <a:rPr lang="en-US" sz="3500" b="1" spc="105" dirty="0">
                <a:solidFill>
                  <a:srgbClr val="1836B2"/>
                </a:solidFill>
                <a:latin typeface="Segoe UI" panose="020B0502040204020203" pitchFamily="34" charset="0"/>
                <a:ea typeface="Muli Ultra-Bold"/>
                <a:cs typeface="Segoe UI" panose="020B0502040204020203" pitchFamily="34" charset="0"/>
                <a:sym typeface="Muli Ultra-Bold"/>
              </a:rPr>
              <a:t> : </a:t>
            </a:r>
            <a:r>
              <a:rPr lang="en-US" sz="3000" spc="15" dirty="0" err="1">
                <a:solidFill>
                  <a:srgbClr val="000000"/>
                </a:solidFill>
                <a:latin typeface="Segoe UI" panose="020B0502040204020203" pitchFamily="34" charset="0"/>
                <a:cs typeface="Segoe UI" panose="020B0502040204020203" pitchFamily="34" charset="0"/>
                <a:sym typeface="Muli Ultra-Bold"/>
              </a:rPr>
              <a:t>Xây</a:t>
            </a:r>
            <a:r>
              <a:rPr lang="en-US" sz="3000" spc="15" dirty="0">
                <a:solidFill>
                  <a:srgbClr val="000000"/>
                </a:solidFill>
                <a:latin typeface="Segoe UI" panose="020B0502040204020203" pitchFamily="34" charset="0"/>
                <a:cs typeface="Segoe UI" panose="020B0502040204020203" pitchFamily="34" charset="0"/>
                <a:sym typeface="Muli Ultra-Bold"/>
              </a:rPr>
              <a:t> </a:t>
            </a:r>
            <a:r>
              <a:rPr lang="en-US" sz="3000" spc="15" dirty="0" err="1">
                <a:solidFill>
                  <a:srgbClr val="000000"/>
                </a:solidFill>
                <a:latin typeface="Segoe UI" panose="020B0502040204020203" pitchFamily="34" charset="0"/>
                <a:cs typeface="Segoe UI" panose="020B0502040204020203" pitchFamily="34" charset="0"/>
                <a:sym typeface="Muli Ultra-Bold"/>
              </a:rPr>
              <a:t>dựng</a:t>
            </a:r>
            <a:r>
              <a:rPr lang="en-US" sz="3000" spc="15" dirty="0">
                <a:solidFill>
                  <a:srgbClr val="000000"/>
                </a:solidFill>
                <a:latin typeface="Segoe UI" panose="020B0502040204020203" pitchFamily="34" charset="0"/>
                <a:cs typeface="Segoe UI" panose="020B0502040204020203" pitchFamily="34" charset="0"/>
                <a:sym typeface="Muli Ultra-Bold"/>
              </a:rPr>
              <a:t> </a:t>
            </a:r>
            <a:r>
              <a:rPr lang="en-US" sz="3000" spc="15" dirty="0" err="1">
                <a:solidFill>
                  <a:srgbClr val="000000"/>
                </a:solidFill>
                <a:latin typeface="Segoe UI" panose="020B0502040204020203" pitchFamily="34" charset="0"/>
                <a:cs typeface="Segoe UI" panose="020B0502040204020203" pitchFamily="34" charset="0"/>
                <a:sym typeface="Muli Ultra-Bold"/>
              </a:rPr>
              <a:t>mô</a:t>
            </a:r>
            <a:r>
              <a:rPr lang="en-US" sz="3000" spc="15" dirty="0">
                <a:solidFill>
                  <a:srgbClr val="000000"/>
                </a:solidFill>
                <a:latin typeface="Segoe UI" panose="020B0502040204020203" pitchFamily="34" charset="0"/>
                <a:cs typeface="Segoe UI" panose="020B0502040204020203" pitchFamily="34" charset="0"/>
                <a:sym typeface="Muli Ultra-Bold"/>
              </a:rPr>
              <a:t> </a:t>
            </a:r>
            <a:r>
              <a:rPr lang="en-US" sz="3000" spc="15" dirty="0" err="1">
                <a:solidFill>
                  <a:srgbClr val="000000"/>
                </a:solidFill>
                <a:latin typeface="Segoe UI" panose="020B0502040204020203" pitchFamily="34" charset="0"/>
                <a:cs typeface="Segoe UI" panose="020B0502040204020203" pitchFamily="34" charset="0"/>
                <a:sym typeface="Muli Ultra-Bold"/>
              </a:rPr>
              <a:t>hình</a:t>
            </a:r>
            <a:r>
              <a:rPr lang="en-US" sz="3000" spc="15" dirty="0">
                <a:solidFill>
                  <a:srgbClr val="000000"/>
                </a:solidFill>
                <a:latin typeface="Segoe UI" panose="020B0502040204020203" pitchFamily="34" charset="0"/>
                <a:cs typeface="Segoe UI" panose="020B0502040204020203" pitchFamily="34" charset="0"/>
                <a:sym typeface="Muli Ultra-Bold"/>
              </a:rPr>
              <a:t> AI </a:t>
            </a:r>
            <a:r>
              <a:rPr lang="en-US" sz="3000" spc="15" dirty="0" err="1">
                <a:solidFill>
                  <a:srgbClr val="000000"/>
                </a:solidFill>
                <a:latin typeface="Segoe UI" panose="020B0502040204020203" pitchFamily="34" charset="0"/>
                <a:cs typeface="Segoe UI" panose="020B0502040204020203" pitchFamily="34" charset="0"/>
                <a:sym typeface="Muli Ultra-Bold"/>
              </a:rPr>
              <a:t>thì</a:t>
            </a:r>
            <a:r>
              <a:rPr lang="en-US" sz="3000" spc="15" dirty="0">
                <a:solidFill>
                  <a:srgbClr val="000000"/>
                </a:solidFill>
                <a:latin typeface="Segoe UI" panose="020B0502040204020203" pitchFamily="34" charset="0"/>
                <a:cs typeface="Segoe UI" panose="020B0502040204020203" pitchFamily="34" charset="0"/>
                <a:sym typeface="Muli Ultra-Bold"/>
              </a:rPr>
              <a:t> </a:t>
            </a:r>
            <a:r>
              <a:rPr lang="en-US" sz="3000" spc="15" dirty="0" err="1">
                <a:solidFill>
                  <a:srgbClr val="000000"/>
                </a:solidFill>
                <a:latin typeface="Segoe UI" panose="020B0502040204020203" pitchFamily="34" charset="0"/>
                <a:cs typeface="Segoe UI" panose="020B0502040204020203" pitchFamily="34" charset="0"/>
                <a:sym typeface="Muli Ultra-Bold"/>
              </a:rPr>
              <a:t>đòi</a:t>
            </a:r>
            <a:r>
              <a:rPr lang="en-US" sz="3000" spc="15" dirty="0">
                <a:solidFill>
                  <a:srgbClr val="000000"/>
                </a:solidFill>
                <a:latin typeface="Segoe UI" panose="020B0502040204020203" pitchFamily="34" charset="0"/>
                <a:cs typeface="Segoe UI" panose="020B0502040204020203" pitchFamily="34" charset="0"/>
                <a:sym typeface="Muli Ultra-Bold"/>
              </a:rPr>
              <a:t> </a:t>
            </a:r>
            <a:r>
              <a:rPr lang="en-US" sz="3000" spc="15" dirty="0" err="1">
                <a:solidFill>
                  <a:srgbClr val="000000"/>
                </a:solidFill>
                <a:latin typeface="Segoe UI" panose="020B0502040204020203" pitchFamily="34" charset="0"/>
                <a:cs typeface="Segoe UI" panose="020B0502040204020203" pitchFamily="34" charset="0"/>
                <a:sym typeface="Muli Ultra-Bold"/>
              </a:rPr>
              <a:t>hỏi</a:t>
            </a:r>
            <a:r>
              <a:rPr lang="en-US" sz="3000" spc="15" dirty="0">
                <a:solidFill>
                  <a:srgbClr val="000000"/>
                </a:solidFill>
                <a:latin typeface="Segoe UI" panose="020B0502040204020203" pitchFamily="34" charset="0"/>
                <a:cs typeface="Segoe UI" panose="020B0502040204020203" pitchFamily="34" charset="0"/>
                <a:sym typeface="Muli Ultra-Bold"/>
              </a:rPr>
              <a:t> </a:t>
            </a:r>
            <a:r>
              <a:rPr lang="en-US" sz="3000" spc="15" dirty="0" err="1">
                <a:solidFill>
                  <a:srgbClr val="000000"/>
                </a:solidFill>
                <a:latin typeface="Segoe UI" panose="020B0502040204020203" pitchFamily="34" charset="0"/>
                <a:cs typeface="Segoe UI" panose="020B0502040204020203" pitchFamily="34" charset="0"/>
                <a:sym typeface="Muli Ultra-Bold"/>
              </a:rPr>
              <a:t>thời</a:t>
            </a:r>
            <a:r>
              <a:rPr lang="en-US" sz="3000" spc="15" dirty="0">
                <a:solidFill>
                  <a:srgbClr val="000000"/>
                </a:solidFill>
                <a:latin typeface="Segoe UI" panose="020B0502040204020203" pitchFamily="34" charset="0"/>
                <a:cs typeface="Segoe UI" panose="020B0502040204020203" pitchFamily="34" charset="0"/>
                <a:sym typeface="Muli Ultra-Bold"/>
              </a:rPr>
              <a:t> </a:t>
            </a:r>
            <a:r>
              <a:rPr lang="en-US" sz="3000" spc="15" dirty="0" err="1">
                <a:solidFill>
                  <a:srgbClr val="000000"/>
                </a:solidFill>
                <a:latin typeface="Segoe UI" panose="020B0502040204020203" pitchFamily="34" charset="0"/>
                <a:cs typeface="Segoe UI" panose="020B0502040204020203" pitchFamily="34" charset="0"/>
                <a:sym typeface="Muli Ultra-Bold"/>
              </a:rPr>
              <a:t>gian</a:t>
            </a:r>
            <a:r>
              <a:rPr lang="en-US" sz="3000" spc="15" dirty="0">
                <a:solidFill>
                  <a:srgbClr val="000000"/>
                </a:solidFill>
                <a:latin typeface="Segoe UI" panose="020B0502040204020203" pitchFamily="34" charset="0"/>
                <a:cs typeface="Segoe UI" panose="020B0502040204020203" pitchFamily="34" charset="0"/>
                <a:sym typeface="Muli Ultra-Bold"/>
              </a:rPr>
              <a:t> chi </a:t>
            </a:r>
            <a:r>
              <a:rPr lang="en-US" sz="3000" spc="15" dirty="0" err="1">
                <a:solidFill>
                  <a:srgbClr val="000000"/>
                </a:solidFill>
                <a:latin typeface="Segoe UI" panose="020B0502040204020203" pitchFamily="34" charset="0"/>
                <a:cs typeface="Segoe UI" panose="020B0502040204020203" pitchFamily="34" charset="0"/>
                <a:sym typeface="Muli Ultra-Bold"/>
              </a:rPr>
              <a:t>phí</a:t>
            </a:r>
            <a:r>
              <a:rPr lang="en-US" sz="3000" spc="15" dirty="0">
                <a:solidFill>
                  <a:srgbClr val="000000"/>
                </a:solidFill>
                <a:latin typeface="Segoe UI" panose="020B0502040204020203" pitchFamily="34" charset="0"/>
                <a:cs typeface="Segoe UI" panose="020B0502040204020203" pitchFamily="34" charset="0"/>
                <a:sym typeface="Muli Ultra-Bold"/>
              </a:rPr>
              <a:t> </a:t>
            </a:r>
            <a:r>
              <a:rPr lang="en-US" sz="3000" spc="15" dirty="0" err="1">
                <a:solidFill>
                  <a:srgbClr val="000000"/>
                </a:solidFill>
                <a:latin typeface="Segoe UI" panose="020B0502040204020203" pitchFamily="34" charset="0"/>
                <a:cs typeface="Segoe UI" panose="020B0502040204020203" pitchFamily="34" charset="0"/>
                <a:sym typeface="Muli Ultra-Bold"/>
              </a:rPr>
              <a:t>và</a:t>
            </a:r>
            <a:r>
              <a:rPr lang="en-US" sz="3000" spc="15" dirty="0">
                <a:solidFill>
                  <a:srgbClr val="000000"/>
                </a:solidFill>
                <a:latin typeface="Segoe UI" panose="020B0502040204020203" pitchFamily="34" charset="0"/>
                <a:cs typeface="Segoe UI" panose="020B0502040204020203" pitchFamily="34" charset="0"/>
                <a:sym typeface="Muli Ultra-Bold"/>
              </a:rPr>
              <a:t> </a:t>
            </a:r>
            <a:r>
              <a:rPr lang="en-US" sz="3000" spc="15" dirty="0" err="1">
                <a:solidFill>
                  <a:srgbClr val="000000"/>
                </a:solidFill>
                <a:latin typeface="Segoe UI" panose="020B0502040204020203" pitchFamily="34" charset="0"/>
                <a:cs typeface="Segoe UI" panose="020B0502040204020203" pitchFamily="34" charset="0"/>
                <a:sym typeface="Muli Ultra-Bold"/>
              </a:rPr>
              <a:t>đội</a:t>
            </a:r>
            <a:r>
              <a:rPr lang="en-US" sz="3000" spc="15" dirty="0">
                <a:solidFill>
                  <a:srgbClr val="000000"/>
                </a:solidFill>
                <a:latin typeface="Segoe UI" panose="020B0502040204020203" pitchFamily="34" charset="0"/>
                <a:cs typeface="Segoe UI" panose="020B0502040204020203" pitchFamily="34" charset="0"/>
                <a:sym typeface="Muli Ultra-Bold"/>
              </a:rPr>
              <a:t> </a:t>
            </a:r>
            <a:r>
              <a:rPr lang="en-US" sz="3000" spc="15" dirty="0" err="1">
                <a:solidFill>
                  <a:srgbClr val="000000"/>
                </a:solidFill>
                <a:latin typeface="Segoe UI" panose="020B0502040204020203" pitchFamily="34" charset="0"/>
                <a:cs typeface="Segoe UI" panose="020B0502040204020203" pitchFamily="34" charset="0"/>
                <a:sym typeface="Muli Ultra-Bold"/>
              </a:rPr>
              <a:t>ngũ</a:t>
            </a:r>
            <a:r>
              <a:rPr lang="en-US" sz="3000" spc="15" dirty="0">
                <a:solidFill>
                  <a:srgbClr val="000000"/>
                </a:solidFill>
                <a:latin typeface="Segoe UI" panose="020B0502040204020203" pitchFamily="34" charset="0"/>
                <a:cs typeface="Segoe UI" panose="020B0502040204020203" pitchFamily="34" charset="0"/>
                <a:sym typeface="Muli Ultra-Bold"/>
              </a:rPr>
              <a:t> ML </a:t>
            </a:r>
            <a:r>
              <a:rPr lang="en-US" sz="3000" spc="15" dirty="0" err="1">
                <a:solidFill>
                  <a:srgbClr val="000000"/>
                </a:solidFill>
                <a:latin typeface="Segoe UI" panose="020B0502040204020203" pitchFamily="34" charset="0"/>
                <a:cs typeface="Segoe UI" panose="020B0502040204020203" pitchFamily="34" charset="0"/>
                <a:sym typeface="Muli Ultra-Bold"/>
              </a:rPr>
              <a:t>chuyên</a:t>
            </a:r>
            <a:r>
              <a:rPr lang="en-US" sz="3000" spc="15" dirty="0">
                <a:solidFill>
                  <a:srgbClr val="000000"/>
                </a:solidFill>
                <a:latin typeface="Segoe UI" panose="020B0502040204020203" pitchFamily="34" charset="0"/>
                <a:cs typeface="Segoe UI" panose="020B0502040204020203" pitchFamily="34" charset="0"/>
                <a:sym typeface="Muli Ultra-Bold"/>
              </a:rPr>
              <a:t> </a:t>
            </a:r>
            <a:r>
              <a:rPr lang="en-US" sz="3000" spc="15" dirty="0" err="1">
                <a:solidFill>
                  <a:srgbClr val="000000"/>
                </a:solidFill>
                <a:latin typeface="Segoe UI" panose="020B0502040204020203" pitchFamily="34" charset="0"/>
                <a:cs typeface="Segoe UI" panose="020B0502040204020203" pitchFamily="34" charset="0"/>
                <a:sym typeface="Muli Ultra-Bold"/>
              </a:rPr>
              <a:t>sâu</a:t>
            </a:r>
            <a:endParaRPr lang="en-US" sz="3000" spc="15" dirty="0">
              <a:solidFill>
                <a:srgbClr val="000000"/>
              </a:solidFill>
              <a:latin typeface="Segoe UI" panose="020B0502040204020203" pitchFamily="34" charset="0"/>
              <a:cs typeface="Segoe UI" panose="020B0502040204020203" pitchFamily="34" charset="0"/>
              <a:sym typeface="Muli Ultra-Bold"/>
            </a:endParaRPr>
          </a:p>
        </p:txBody>
      </p:sp>
      <p:sp>
        <p:nvSpPr>
          <p:cNvPr id="5" name="TextBox 5"/>
          <p:cNvSpPr txBox="1"/>
          <p:nvPr/>
        </p:nvSpPr>
        <p:spPr>
          <a:xfrm>
            <a:off x="1383606" y="7547311"/>
            <a:ext cx="15392400" cy="1034514"/>
          </a:xfrm>
          <a:prstGeom prst="rect">
            <a:avLst/>
          </a:prstGeom>
        </p:spPr>
        <p:txBody>
          <a:bodyPr wrap="square" lIns="0" tIns="0" rIns="0" bIns="0" rtlCol="0" anchor="t">
            <a:spAutoFit/>
          </a:bodyPr>
          <a:lstStyle/>
          <a:p>
            <a:pPr algn="l">
              <a:lnSpc>
                <a:spcPts val="4200"/>
              </a:lnSpc>
            </a:pPr>
            <a:r>
              <a:rPr lang="en-US" sz="3500" b="1" spc="105" dirty="0" err="1">
                <a:solidFill>
                  <a:srgbClr val="1836B2"/>
                </a:solidFill>
                <a:latin typeface="Segoe UI" panose="020B0502040204020203" pitchFamily="34" charset="0"/>
                <a:ea typeface="Muli Ultra-Bold"/>
                <a:cs typeface="Segoe UI" panose="020B0502040204020203" pitchFamily="34" charset="0"/>
                <a:sym typeface="Muli Ultra-Bold"/>
              </a:rPr>
              <a:t>Giải</a:t>
            </a:r>
            <a:r>
              <a:rPr lang="en-US" sz="3500" b="1" spc="105" dirty="0">
                <a:solidFill>
                  <a:srgbClr val="1836B2"/>
                </a:solidFill>
                <a:latin typeface="Segoe UI" panose="020B0502040204020203" pitchFamily="34" charset="0"/>
                <a:ea typeface="Muli Ultra-Bold"/>
                <a:cs typeface="Segoe UI" panose="020B0502040204020203" pitchFamily="34" charset="0"/>
                <a:sym typeface="Muli Ultra-Bold"/>
              </a:rPr>
              <a:t> </a:t>
            </a:r>
            <a:r>
              <a:rPr lang="en-US" sz="3500" b="1" spc="105" dirty="0" err="1">
                <a:solidFill>
                  <a:srgbClr val="1836B2"/>
                </a:solidFill>
                <a:latin typeface="Segoe UI" panose="020B0502040204020203" pitchFamily="34" charset="0"/>
                <a:ea typeface="Muli Ultra-Bold"/>
                <a:cs typeface="Segoe UI" panose="020B0502040204020203" pitchFamily="34" charset="0"/>
                <a:sym typeface="Muli Ultra-Bold"/>
              </a:rPr>
              <a:t>pháp</a:t>
            </a:r>
            <a:r>
              <a:rPr lang="en-US" sz="3500" b="1" spc="105" dirty="0">
                <a:solidFill>
                  <a:srgbClr val="1836B2"/>
                </a:solidFill>
                <a:latin typeface="Segoe UI" panose="020B0502040204020203" pitchFamily="34" charset="0"/>
                <a:ea typeface="Muli Ultra-Bold"/>
                <a:cs typeface="Segoe UI" panose="020B0502040204020203" pitchFamily="34" charset="0"/>
                <a:sym typeface="Muli Ultra-Bold"/>
              </a:rPr>
              <a:t>: </a:t>
            </a:r>
            <a:r>
              <a:rPr lang="en-US" sz="3000" spc="15" dirty="0">
                <a:solidFill>
                  <a:srgbClr val="000000"/>
                </a:solidFill>
                <a:latin typeface="Segoe UI" panose="020B0502040204020203" pitchFamily="34" charset="0"/>
                <a:cs typeface="Segoe UI" panose="020B0502040204020203" pitchFamily="34" charset="0"/>
                <a:sym typeface="Muli Ultra-Bold"/>
              </a:rPr>
              <a:t>Azure AI </a:t>
            </a:r>
            <a:r>
              <a:rPr lang="en-US" sz="3000" spc="15" dirty="0" err="1">
                <a:solidFill>
                  <a:srgbClr val="000000"/>
                </a:solidFill>
                <a:latin typeface="Segoe UI" panose="020B0502040204020203" pitchFamily="34" charset="0"/>
                <a:cs typeface="Segoe UI" panose="020B0502040204020203" pitchFamily="34" charset="0"/>
                <a:sym typeface="Muli Ultra-Bold"/>
              </a:rPr>
              <a:t>cung</a:t>
            </a:r>
            <a:r>
              <a:rPr lang="en-US" sz="3000" spc="15" dirty="0">
                <a:solidFill>
                  <a:srgbClr val="000000"/>
                </a:solidFill>
                <a:latin typeface="Segoe UI" panose="020B0502040204020203" pitchFamily="34" charset="0"/>
                <a:cs typeface="Segoe UI" panose="020B0502040204020203" pitchFamily="34" charset="0"/>
                <a:sym typeface="Muli Ultra-Bold"/>
              </a:rPr>
              <a:t> </a:t>
            </a:r>
            <a:r>
              <a:rPr lang="en-US" sz="3000" spc="15" dirty="0" err="1">
                <a:solidFill>
                  <a:srgbClr val="000000"/>
                </a:solidFill>
                <a:latin typeface="Segoe UI" panose="020B0502040204020203" pitchFamily="34" charset="0"/>
                <a:cs typeface="Segoe UI" panose="020B0502040204020203" pitchFamily="34" charset="0"/>
                <a:sym typeface="Muli Ultra-Bold"/>
              </a:rPr>
              <a:t>cấp</a:t>
            </a:r>
            <a:r>
              <a:rPr lang="en-US" sz="3000" spc="15" dirty="0">
                <a:solidFill>
                  <a:srgbClr val="000000"/>
                </a:solidFill>
                <a:latin typeface="Segoe UI" panose="020B0502040204020203" pitchFamily="34" charset="0"/>
                <a:cs typeface="Segoe UI" panose="020B0502040204020203" pitchFamily="34" charset="0"/>
                <a:sym typeface="Muli Ultra-Bold"/>
              </a:rPr>
              <a:t> </a:t>
            </a:r>
            <a:r>
              <a:rPr lang="en-US" sz="3000" spc="15" dirty="0" err="1">
                <a:solidFill>
                  <a:srgbClr val="000000"/>
                </a:solidFill>
                <a:latin typeface="Segoe UI" panose="020B0502040204020203" pitchFamily="34" charset="0"/>
                <a:cs typeface="Segoe UI" panose="020B0502040204020203" pitchFamily="34" charset="0"/>
                <a:sym typeface="Muli Ultra-Bold"/>
              </a:rPr>
              <a:t>các</a:t>
            </a:r>
            <a:r>
              <a:rPr lang="en-US" sz="3000" spc="15" dirty="0">
                <a:solidFill>
                  <a:srgbClr val="000000"/>
                </a:solidFill>
                <a:latin typeface="Segoe UI" panose="020B0502040204020203" pitchFamily="34" charset="0"/>
                <a:cs typeface="Segoe UI" panose="020B0502040204020203" pitchFamily="34" charset="0"/>
                <a:sym typeface="Muli Ultra-Bold"/>
              </a:rPr>
              <a:t> </a:t>
            </a:r>
            <a:r>
              <a:rPr lang="en-US" sz="3000" spc="15" dirty="0" err="1">
                <a:solidFill>
                  <a:srgbClr val="000000"/>
                </a:solidFill>
                <a:latin typeface="Segoe UI" panose="020B0502040204020203" pitchFamily="34" charset="0"/>
                <a:cs typeface="Segoe UI" panose="020B0502040204020203" pitchFamily="34" charset="0"/>
                <a:sym typeface="Muli Ultra-Bold"/>
              </a:rPr>
              <a:t>bộ</a:t>
            </a:r>
            <a:r>
              <a:rPr lang="en-US" sz="3000" spc="15" dirty="0">
                <a:solidFill>
                  <a:srgbClr val="000000"/>
                </a:solidFill>
                <a:latin typeface="Segoe UI" panose="020B0502040204020203" pitchFamily="34" charset="0"/>
                <a:cs typeface="Segoe UI" panose="020B0502040204020203" pitchFamily="34" charset="0"/>
                <a:sym typeface="Muli Ultra-Bold"/>
              </a:rPr>
              <a:t> </a:t>
            </a:r>
            <a:r>
              <a:rPr lang="en-US" sz="3000" spc="15" dirty="0" err="1">
                <a:solidFill>
                  <a:srgbClr val="000000"/>
                </a:solidFill>
                <a:latin typeface="Segoe UI" panose="020B0502040204020203" pitchFamily="34" charset="0"/>
                <a:cs typeface="Segoe UI" panose="020B0502040204020203" pitchFamily="34" charset="0"/>
                <a:sym typeface="Muli Ultra-Bold"/>
              </a:rPr>
              <a:t>dịch</a:t>
            </a:r>
            <a:r>
              <a:rPr lang="en-US" sz="3000" spc="15" dirty="0">
                <a:solidFill>
                  <a:srgbClr val="000000"/>
                </a:solidFill>
                <a:latin typeface="Segoe UI" panose="020B0502040204020203" pitchFamily="34" charset="0"/>
                <a:cs typeface="Segoe UI" panose="020B0502040204020203" pitchFamily="34" charset="0"/>
                <a:sym typeface="Muli Ultra-Bold"/>
              </a:rPr>
              <a:t> </a:t>
            </a:r>
            <a:r>
              <a:rPr lang="en-US" sz="3000" spc="15" dirty="0" err="1">
                <a:solidFill>
                  <a:srgbClr val="000000"/>
                </a:solidFill>
                <a:latin typeface="Segoe UI" panose="020B0502040204020203" pitchFamily="34" charset="0"/>
                <a:cs typeface="Segoe UI" panose="020B0502040204020203" pitchFamily="34" charset="0"/>
                <a:sym typeface="Muli Ultra-Bold"/>
              </a:rPr>
              <a:t>vụ</a:t>
            </a:r>
            <a:r>
              <a:rPr lang="en-US" sz="3000" spc="15" dirty="0">
                <a:solidFill>
                  <a:srgbClr val="000000"/>
                </a:solidFill>
                <a:latin typeface="Segoe UI" panose="020B0502040204020203" pitchFamily="34" charset="0"/>
                <a:cs typeface="Segoe UI" panose="020B0502040204020203" pitchFamily="34" charset="0"/>
                <a:sym typeface="Muli Ultra-Bold"/>
              </a:rPr>
              <a:t> </a:t>
            </a:r>
            <a:r>
              <a:rPr lang="en-US" sz="3000" spc="15" dirty="0" err="1">
                <a:solidFill>
                  <a:srgbClr val="000000"/>
                </a:solidFill>
                <a:latin typeface="Segoe UI" panose="020B0502040204020203" pitchFamily="34" charset="0"/>
                <a:cs typeface="Segoe UI" panose="020B0502040204020203" pitchFamily="34" charset="0"/>
                <a:sym typeface="Muli Ultra-Bold"/>
              </a:rPr>
              <a:t>có</a:t>
            </a:r>
            <a:r>
              <a:rPr lang="en-US" sz="3000" spc="15" dirty="0">
                <a:solidFill>
                  <a:srgbClr val="000000"/>
                </a:solidFill>
                <a:latin typeface="Segoe UI" panose="020B0502040204020203" pitchFamily="34" charset="0"/>
                <a:cs typeface="Segoe UI" panose="020B0502040204020203" pitchFamily="34" charset="0"/>
                <a:sym typeface="Muli Ultra-Bold"/>
              </a:rPr>
              <a:t> </a:t>
            </a:r>
            <a:r>
              <a:rPr lang="en-US" sz="3000" spc="15" dirty="0" err="1">
                <a:solidFill>
                  <a:srgbClr val="000000"/>
                </a:solidFill>
                <a:latin typeface="Segoe UI" panose="020B0502040204020203" pitchFamily="34" charset="0"/>
                <a:cs typeface="Segoe UI" panose="020B0502040204020203" pitchFamily="34" charset="0"/>
                <a:sym typeface="Muli Ultra-Bold"/>
              </a:rPr>
              <a:t>sẵn</a:t>
            </a:r>
            <a:r>
              <a:rPr lang="en-US" sz="3000" spc="15" dirty="0">
                <a:solidFill>
                  <a:srgbClr val="000000"/>
                </a:solidFill>
                <a:latin typeface="Segoe UI" panose="020B0502040204020203" pitchFamily="34" charset="0"/>
                <a:cs typeface="Segoe UI" panose="020B0502040204020203" pitchFamily="34" charset="0"/>
                <a:sym typeface="Muli Ultra-Bold"/>
              </a:rPr>
              <a:t> (</a:t>
            </a:r>
            <a:r>
              <a:rPr lang="en-US" sz="3000" b="1" spc="15" dirty="0">
                <a:solidFill>
                  <a:srgbClr val="000000"/>
                </a:solidFill>
                <a:latin typeface="Segoe UI" panose="020B0502040204020203" pitchFamily="34" charset="0"/>
                <a:cs typeface="Segoe UI" panose="020B0502040204020203" pitchFamily="34" charset="0"/>
                <a:sym typeface="Muli Ultra-Bold"/>
              </a:rPr>
              <a:t>prebuilt</a:t>
            </a:r>
            <a:r>
              <a:rPr lang="en-US" sz="3000" spc="15" dirty="0">
                <a:solidFill>
                  <a:srgbClr val="000000"/>
                </a:solidFill>
                <a:latin typeface="Segoe UI" panose="020B0502040204020203" pitchFamily="34" charset="0"/>
                <a:cs typeface="Segoe UI" panose="020B0502040204020203" pitchFamily="34" charset="0"/>
                <a:sym typeface="Muli Ultra-Bold"/>
              </a:rPr>
              <a:t>) </a:t>
            </a:r>
            <a:r>
              <a:rPr lang="en-US" sz="3000" spc="15" dirty="0" err="1">
                <a:solidFill>
                  <a:srgbClr val="000000"/>
                </a:solidFill>
                <a:latin typeface="Segoe UI" panose="020B0502040204020203" pitchFamily="34" charset="0"/>
                <a:cs typeface="Segoe UI" panose="020B0502040204020203" pitchFamily="34" charset="0"/>
                <a:sym typeface="Muli Ultra-Bold"/>
              </a:rPr>
              <a:t>giúp</a:t>
            </a:r>
            <a:r>
              <a:rPr lang="en-US" sz="3000" spc="15" dirty="0">
                <a:solidFill>
                  <a:srgbClr val="000000"/>
                </a:solidFill>
                <a:latin typeface="Segoe UI" panose="020B0502040204020203" pitchFamily="34" charset="0"/>
                <a:cs typeface="Segoe UI" panose="020B0502040204020203" pitchFamily="34" charset="0"/>
                <a:sym typeface="Muli Ultra-Bold"/>
              </a:rPr>
              <a:t> </a:t>
            </a:r>
            <a:r>
              <a:rPr lang="en-US" sz="3000" spc="15" dirty="0" err="1">
                <a:solidFill>
                  <a:srgbClr val="000000"/>
                </a:solidFill>
                <a:latin typeface="Segoe UI" panose="020B0502040204020203" pitchFamily="34" charset="0"/>
                <a:cs typeface="Segoe UI" panose="020B0502040204020203" pitchFamily="34" charset="0"/>
                <a:sym typeface="Muli Ultra-Bold"/>
              </a:rPr>
              <a:t>mở</a:t>
            </a:r>
            <a:r>
              <a:rPr lang="en-US" sz="3000" spc="15" dirty="0">
                <a:solidFill>
                  <a:srgbClr val="000000"/>
                </a:solidFill>
                <a:latin typeface="Segoe UI" panose="020B0502040204020203" pitchFamily="34" charset="0"/>
                <a:cs typeface="Segoe UI" panose="020B0502040204020203" pitchFamily="34" charset="0"/>
                <a:sym typeface="Muli Ultra-Bold"/>
              </a:rPr>
              <a:t> </a:t>
            </a:r>
            <a:r>
              <a:rPr lang="en-US" sz="3000" spc="15" dirty="0" err="1">
                <a:solidFill>
                  <a:srgbClr val="000000"/>
                </a:solidFill>
                <a:latin typeface="Segoe UI" panose="020B0502040204020203" pitchFamily="34" charset="0"/>
                <a:cs typeface="Segoe UI" panose="020B0502040204020203" pitchFamily="34" charset="0"/>
                <a:sym typeface="Muli Ultra-Bold"/>
              </a:rPr>
              <a:t>rộng</a:t>
            </a:r>
            <a:r>
              <a:rPr lang="en-US" sz="3000" spc="15" dirty="0">
                <a:solidFill>
                  <a:srgbClr val="000000"/>
                </a:solidFill>
                <a:latin typeface="Segoe UI" panose="020B0502040204020203" pitchFamily="34" charset="0"/>
                <a:cs typeface="Segoe UI" panose="020B0502040204020203" pitchFamily="34" charset="0"/>
                <a:sym typeface="Muli Ultra-Bold"/>
              </a:rPr>
              <a:t> </a:t>
            </a:r>
            <a:r>
              <a:rPr lang="en-US" sz="3000" spc="15" dirty="0" err="1">
                <a:solidFill>
                  <a:srgbClr val="000000"/>
                </a:solidFill>
                <a:latin typeface="Segoe UI" panose="020B0502040204020203" pitchFamily="34" charset="0"/>
                <a:cs typeface="Segoe UI" panose="020B0502040204020203" pitchFamily="34" charset="0"/>
                <a:sym typeface="Muli Ultra-Bold"/>
              </a:rPr>
              <a:t>tính</a:t>
            </a:r>
            <a:r>
              <a:rPr lang="en-US" sz="3000" spc="15" dirty="0">
                <a:solidFill>
                  <a:srgbClr val="000000"/>
                </a:solidFill>
                <a:latin typeface="Segoe UI" panose="020B0502040204020203" pitchFamily="34" charset="0"/>
                <a:cs typeface="Segoe UI" panose="020B0502040204020203" pitchFamily="34" charset="0"/>
                <a:sym typeface="Muli Ultra-Bold"/>
              </a:rPr>
              <a:t> </a:t>
            </a:r>
            <a:r>
              <a:rPr lang="en-US" sz="3000" spc="15" dirty="0" err="1">
                <a:solidFill>
                  <a:srgbClr val="000000"/>
                </a:solidFill>
                <a:latin typeface="Segoe UI" panose="020B0502040204020203" pitchFamily="34" charset="0"/>
                <a:cs typeface="Segoe UI" panose="020B0502040204020203" pitchFamily="34" charset="0"/>
                <a:sym typeface="Muli Ultra-Bold"/>
              </a:rPr>
              <a:t>năng</a:t>
            </a:r>
            <a:r>
              <a:rPr lang="en-US" sz="3000" spc="15" dirty="0">
                <a:solidFill>
                  <a:srgbClr val="000000"/>
                </a:solidFill>
                <a:latin typeface="Segoe UI" panose="020B0502040204020203" pitchFamily="34" charset="0"/>
                <a:cs typeface="Segoe UI" panose="020B0502040204020203" pitchFamily="34" charset="0"/>
                <a:sym typeface="Muli Ultra-Bold"/>
              </a:rPr>
              <a:t> </a:t>
            </a:r>
            <a:r>
              <a:rPr lang="en-US" sz="3000" spc="15" dirty="0" err="1">
                <a:solidFill>
                  <a:srgbClr val="000000"/>
                </a:solidFill>
                <a:latin typeface="Segoe UI" panose="020B0502040204020203" pitchFamily="34" charset="0"/>
                <a:cs typeface="Segoe UI" panose="020B0502040204020203" pitchFamily="34" charset="0"/>
                <a:sym typeface="Muli Ultra-Bold"/>
              </a:rPr>
              <a:t>chỉ</a:t>
            </a:r>
            <a:r>
              <a:rPr lang="en-US" sz="3000" spc="15" dirty="0">
                <a:solidFill>
                  <a:srgbClr val="000000"/>
                </a:solidFill>
                <a:latin typeface="Segoe UI" panose="020B0502040204020203" pitchFamily="34" charset="0"/>
                <a:cs typeface="Segoe UI" panose="020B0502040204020203" pitchFamily="34" charset="0"/>
                <a:sym typeface="Muli Ultra-Bold"/>
              </a:rPr>
              <a:t> qua </a:t>
            </a:r>
            <a:r>
              <a:rPr lang="en-US" sz="3000" spc="15" dirty="0" err="1">
                <a:solidFill>
                  <a:srgbClr val="000000"/>
                </a:solidFill>
                <a:latin typeface="Segoe UI" panose="020B0502040204020203" pitchFamily="34" charset="0"/>
                <a:cs typeface="Segoe UI" panose="020B0502040204020203" pitchFamily="34" charset="0"/>
                <a:sym typeface="Muli Ultra-Bold"/>
              </a:rPr>
              <a:t>việc</a:t>
            </a:r>
            <a:r>
              <a:rPr lang="en-US" sz="3000" spc="15" dirty="0">
                <a:solidFill>
                  <a:srgbClr val="000000"/>
                </a:solidFill>
                <a:latin typeface="Segoe UI" panose="020B0502040204020203" pitchFamily="34" charset="0"/>
                <a:cs typeface="Segoe UI" panose="020B0502040204020203" pitchFamily="34" charset="0"/>
                <a:sym typeface="Muli Ultra-Bold"/>
              </a:rPr>
              <a:t> </a:t>
            </a:r>
            <a:r>
              <a:rPr lang="en-US" sz="3000" spc="15" dirty="0" err="1">
                <a:solidFill>
                  <a:srgbClr val="000000"/>
                </a:solidFill>
                <a:latin typeface="Segoe UI" panose="020B0502040204020203" pitchFamily="34" charset="0"/>
                <a:cs typeface="Segoe UI" panose="020B0502040204020203" pitchFamily="34" charset="0"/>
                <a:sym typeface="Muli Ultra-Bold"/>
              </a:rPr>
              <a:t>gọi</a:t>
            </a:r>
            <a:r>
              <a:rPr lang="en-US" sz="3000" spc="15" dirty="0">
                <a:solidFill>
                  <a:srgbClr val="000000"/>
                </a:solidFill>
                <a:latin typeface="Segoe UI" panose="020B0502040204020203" pitchFamily="34" charset="0"/>
                <a:cs typeface="Segoe UI" panose="020B0502040204020203" pitchFamily="34" charset="0"/>
                <a:sym typeface="Muli Ultra-Bold"/>
              </a:rPr>
              <a:t> API</a:t>
            </a:r>
          </a:p>
        </p:txBody>
      </p:sp>
      <p:sp>
        <p:nvSpPr>
          <p:cNvPr id="8" name="TextBox 8"/>
          <p:cNvSpPr txBox="1"/>
          <p:nvPr/>
        </p:nvSpPr>
        <p:spPr>
          <a:xfrm>
            <a:off x="1295400" y="899263"/>
            <a:ext cx="11132246" cy="1068819"/>
          </a:xfrm>
          <a:prstGeom prst="rect">
            <a:avLst/>
          </a:prstGeom>
        </p:spPr>
        <p:txBody>
          <a:bodyPr lIns="0" tIns="0" rIns="0" bIns="0" rtlCol="0" anchor="t">
            <a:spAutoFit/>
          </a:bodyPr>
          <a:lstStyle/>
          <a:p>
            <a:pPr algn="l">
              <a:lnSpc>
                <a:spcPts val="9240"/>
              </a:lnSpc>
            </a:pPr>
            <a:r>
              <a:rPr lang="en-US" sz="6000" b="1" dirty="0" err="1">
                <a:solidFill>
                  <a:srgbClr val="1836B2"/>
                </a:solidFill>
                <a:latin typeface="Segoe UI" panose="020B0502040204020203" pitchFamily="34" charset="0"/>
                <a:ea typeface="Muli Bold"/>
                <a:cs typeface="Segoe UI" panose="020B0502040204020203" pitchFamily="34" charset="0"/>
                <a:sym typeface="Muli Bold"/>
              </a:rPr>
              <a:t>Thách</a:t>
            </a:r>
            <a:r>
              <a:rPr lang="en-US" sz="6000" b="1" dirty="0">
                <a:solidFill>
                  <a:srgbClr val="1836B2"/>
                </a:solidFill>
                <a:latin typeface="Segoe UI" panose="020B0502040204020203" pitchFamily="34" charset="0"/>
                <a:ea typeface="Muli Bold"/>
                <a:cs typeface="Segoe UI" panose="020B0502040204020203" pitchFamily="34" charset="0"/>
                <a:sym typeface="Muli Bold"/>
              </a:rPr>
              <a:t> </a:t>
            </a:r>
            <a:r>
              <a:rPr lang="en-US" sz="6000" b="1" dirty="0" err="1">
                <a:solidFill>
                  <a:srgbClr val="1836B2"/>
                </a:solidFill>
                <a:latin typeface="Segoe UI" panose="020B0502040204020203" pitchFamily="34" charset="0"/>
                <a:ea typeface="Muli Bold"/>
                <a:cs typeface="Segoe UI" panose="020B0502040204020203" pitchFamily="34" charset="0"/>
                <a:sym typeface="Muli Bold"/>
              </a:rPr>
              <a:t>thức</a:t>
            </a:r>
            <a:r>
              <a:rPr lang="en-US" sz="6000" b="1" dirty="0">
                <a:solidFill>
                  <a:srgbClr val="1836B2"/>
                </a:solidFill>
                <a:latin typeface="Segoe UI" panose="020B0502040204020203" pitchFamily="34" charset="0"/>
                <a:ea typeface="Muli Bold"/>
                <a:cs typeface="Segoe UI" panose="020B0502040204020203" pitchFamily="34" charset="0"/>
                <a:sym typeface="Muli Bold"/>
              </a:rPr>
              <a:t> </a:t>
            </a:r>
            <a:r>
              <a:rPr lang="en-US" sz="6000" b="1" dirty="0" err="1">
                <a:solidFill>
                  <a:srgbClr val="1836B2"/>
                </a:solidFill>
                <a:latin typeface="Segoe UI" panose="020B0502040204020203" pitchFamily="34" charset="0"/>
                <a:ea typeface="Muli Bold"/>
                <a:cs typeface="Segoe UI" panose="020B0502040204020203" pitchFamily="34" charset="0"/>
                <a:sym typeface="Muli Bold"/>
              </a:rPr>
              <a:t>hiện</a:t>
            </a:r>
            <a:r>
              <a:rPr lang="en-US" sz="6000" b="1" dirty="0">
                <a:solidFill>
                  <a:srgbClr val="1836B2"/>
                </a:solidFill>
                <a:latin typeface="Segoe UI" panose="020B0502040204020203" pitchFamily="34" charset="0"/>
                <a:ea typeface="Muli Bold"/>
                <a:cs typeface="Segoe UI" panose="020B0502040204020203" pitchFamily="34" charset="0"/>
                <a:sym typeface="Muli Bold"/>
              </a:rPr>
              <a:t> nay</a:t>
            </a:r>
          </a:p>
        </p:txBody>
      </p:sp>
      <p:sp>
        <p:nvSpPr>
          <p:cNvPr id="9" name="TextBox 9"/>
          <p:cNvSpPr txBox="1"/>
          <p:nvPr/>
        </p:nvSpPr>
        <p:spPr>
          <a:xfrm>
            <a:off x="1383605" y="2346980"/>
            <a:ext cx="15752927" cy="2650341"/>
          </a:xfrm>
          <a:prstGeom prst="rect">
            <a:avLst/>
          </a:prstGeom>
        </p:spPr>
        <p:txBody>
          <a:bodyPr wrap="square" lIns="0" tIns="0" rIns="0" bIns="0" rtlCol="0" anchor="t">
            <a:spAutoFit/>
          </a:bodyPr>
          <a:lstStyle/>
          <a:p>
            <a:pPr algn="l">
              <a:lnSpc>
                <a:spcPts val="4200"/>
              </a:lnSpc>
            </a:pP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Việc</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tích</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hợp</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AI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vào</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ứng</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dụng</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đang</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trờ</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thành</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nhu</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cầu</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cấp</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thiết</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cho</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mọi</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doanh</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nghiệp</a:t>
            </a:r>
            <a:endParaRPr lang="en-US" sz="3000" spc="15" dirty="0">
              <a:solidFill>
                <a:srgbClr val="000000"/>
              </a:solidFill>
              <a:latin typeface="Segoe UI" panose="020B0502040204020203" pitchFamily="34" charset="0"/>
              <a:ea typeface="Muli Light"/>
              <a:cs typeface="Segoe UI" panose="020B0502040204020203" pitchFamily="34" charset="0"/>
              <a:sym typeface="Muli Light"/>
            </a:endParaRPr>
          </a:p>
          <a:p>
            <a:pPr marL="457200" indent="-457200" algn="l">
              <a:lnSpc>
                <a:spcPts val="4200"/>
              </a:lnSpc>
              <a:buFont typeface="Arial" panose="020B0604020202020204" pitchFamily="34" charset="0"/>
              <a:buChar char="•"/>
            </a:pPr>
            <a:r>
              <a:rPr lang="en-US" sz="3000" spc="15" dirty="0">
                <a:solidFill>
                  <a:srgbClr val="000000"/>
                </a:solidFill>
                <a:latin typeface="Segoe UI" panose="020B0502040204020203" pitchFamily="34" charset="0"/>
                <a:ea typeface="Muli Light"/>
                <a:cs typeface="Segoe UI" panose="020B0502040204020203" pitchFamily="34" charset="0"/>
                <a:sym typeface="Muli Light"/>
              </a:rPr>
              <a:t>Chatbot &amp;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hỗ</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trợ</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KH: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Tự</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động</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hóa</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trả</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lời</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thông</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minh</a:t>
            </a:r>
            <a:endParaRPr lang="en-US" sz="3000" spc="15" dirty="0">
              <a:solidFill>
                <a:srgbClr val="000000"/>
              </a:solidFill>
              <a:latin typeface="Segoe UI" panose="020B0502040204020203" pitchFamily="34" charset="0"/>
              <a:ea typeface="Muli Light"/>
              <a:cs typeface="Segoe UI" panose="020B0502040204020203" pitchFamily="34" charset="0"/>
              <a:sym typeface="Muli Light"/>
            </a:endParaRPr>
          </a:p>
          <a:p>
            <a:pPr marL="457200" indent="-457200" algn="l">
              <a:lnSpc>
                <a:spcPts val="4200"/>
              </a:lnSpc>
              <a:buFont typeface="Arial" panose="020B0604020202020204" pitchFamily="34" charset="0"/>
              <a:buChar char="•"/>
            </a:pP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Xử</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lý</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tài</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liệu</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OCR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hóa</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đơn</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nhập</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liệu</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tự</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động</a:t>
            </a:r>
            <a:endParaRPr lang="en-US" sz="3000" spc="15" dirty="0">
              <a:solidFill>
                <a:srgbClr val="000000"/>
              </a:solidFill>
              <a:latin typeface="Segoe UI" panose="020B0502040204020203" pitchFamily="34" charset="0"/>
              <a:ea typeface="Muli Light"/>
              <a:cs typeface="Segoe UI" panose="020B0502040204020203" pitchFamily="34" charset="0"/>
              <a:sym typeface="Muli Light"/>
            </a:endParaRPr>
          </a:p>
          <a:p>
            <a:pPr marL="457200" indent="-457200" algn="l">
              <a:lnSpc>
                <a:spcPts val="4200"/>
              </a:lnSpc>
              <a:buFont typeface="Arial" panose="020B0604020202020204" pitchFamily="34" charset="0"/>
              <a:buChar char="•"/>
            </a:pP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Kiểm</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duyệt</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nội</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dung: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Lọc</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hình</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ảnh</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văn</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bản</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xấu</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p>
          <a:p>
            <a:pPr marL="457200" indent="-457200" algn="l">
              <a:lnSpc>
                <a:spcPts val="4200"/>
              </a:lnSpc>
              <a:buFont typeface="Arial" panose="020B0604020202020204" pitchFamily="34" charset="0"/>
              <a:buChar char="•"/>
            </a:pP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Gắn</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thẻ</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phân</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loại</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sản</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phẩm</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phân</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tích</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cảm</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xúc</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từ</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bình</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a:t>
            </a:r>
            <a:r>
              <a:rPr lang="en-US" sz="3000" spc="15" dirty="0" err="1">
                <a:solidFill>
                  <a:srgbClr val="000000"/>
                </a:solidFill>
                <a:latin typeface="Segoe UI" panose="020B0502040204020203" pitchFamily="34" charset="0"/>
                <a:ea typeface="Muli Light"/>
                <a:cs typeface="Segoe UI" panose="020B0502040204020203" pitchFamily="34" charset="0"/>
                <a:sym typeface="Muli Light"/>
              </a:rPr>
              <a:t>luận</a:t>
            </a:r>
            <a:r>
              <a:rPr lang="en-US" sz="3000" spc="15" dirty="0">
                <a:solidFill>
                  <a:srgbClr val="000000"/>
                </a:solidFill>
                <a:latin typeface="Segoe UI" panose="020B0502040204020203" pitchFamily="34" charset="0"/>
                <a:ea typeface="Muli Light"/>
                <a:cs typeface="Segoe UI" panose="020B0502040204020203" pitchFamily="34" charset="0"/>
                <a:sym typeface="Muli Light"/>
              </a:rPr>
              <a:t> , ….</a:t>
            </a:r>
          </a:p>
        </p:txBody>
      </p:sp>
      <p:pic>
        <p:nvPicPr>
          <p:cNvPr id="2050" name="Picture 2" descr="Microsoft Azure Icon 2022">
            <a:extLst>
              <a:ext uri="{FF2B5EF4-FFF2-40B4-BE49-F238E27FC236}">
                <a16:creationId xmlns:a16="http://schemas.microsoft.com/office/drawing/2014/main" id="{6A0AE6F5-B2F5-7DDB-7B36-40F438DE658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560600" y="167857"/>
            <a:ext cx="3200400" cy="18002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D4011-F1F0-09E3-C6EC-6EAC162E2089}"/>
            </a:ext>
          </a:extLst>
        </p:cNvPr>
        <p:cNvGrpSpPr/>
        <p:nvPr/>
      </p:nvGrpSpPr>
      <p:grpSpPr>
        <a:xfrm>
          <a:off x="0" y="0"/>
          <a:ext cx="0" cy="0"/>
          <a:chOff x="0" y="0"/>
          <a:chExt cx="0" cy="0"/>
        </a:xfrm>
      </p:grpSpPr>
      <p:sp>
        <p:nvSpPr>
          <p:cNvPr id="8" name="TextBox 8">
            <a:extLst>
              <a:ext uri="{FF2B5EF4-FFF2-40B4-BE49-F238E27FC236}">
                <a16:creationId xmlns:a16="http://schemas.microsoft.com/office/drawing/2014/main" id="{5A9A374F-48EF-A5B7-7FFF-1F072EFC39F0}"/>
              </a:ext>
            </a:extLst>
          </p:cNvPr>
          <p:cNvSpPr txBox="1"/>
          <p:nvPr/>
        </p:nvSpPr>
        <p:spPr>
          <a:xfrm>
            <a:off x="1295400" y="899263"/>
            <a:ext cx="11132246" cy="1068819"/>
          </a:xfrm>
          <a:prstGeom prst="rect">
            <a:avLst/>
          </a:prstGeom>
        </p:spPr>
        <p:txBody>
          <a:bodyPr lIns="0" tIns="0" rIns="0" bIns="0" rtlCol="0" anchor="t">
            <a:spAutoFit/>
          </a:bodyPr>
          <a:lstStyle/>
          <a:p>
            <a:pPr algn="l">
              <a:lnSpc>
                <a:spcPts val="9240"/>
              </a:lnSpc>
            </a:pPr>
            <a:r>
              <a:rPr lang="en-US" sz="6000" b="1" dirty="0" err="1">
                <a:solidFill>
                  <a:srgbClr val="1836B2"/>
                </a:solidFill>
                <a:latin typeface="Segoe UI" panose="020B0502040204020203" pitchFamily="34" charset="0"/>
                <a:ea typeface="Muli Bold"/>
                <a:cs typeface="Segoe UI" panose="020B0502040204020203" pitchFamily="34" charset="0"/>
                <a:sym typeface="Muli Bold"/>
              </a:rPr>
              <a:t>Hệ</a:t>
            </a:r>
            <a:r>
              <a:rPr lang="en-US" sz="6000" b="1" dirty="0">
                <a:solidFill>
                  <a:srgbClr val="1836B2"/>
                </a:solidFill>
                <a:latin typeface="Segoe UI" panose="020B0502040204020203" pitchFamily="34" charset="0"/>
                <a:ea typeface="Muli Bold"/>
                <a:cs typeface="Segoe UI" panose="020B0502040204020203" pitchFamily="34" charset="0"/>
                <a:sym typeface="Muli Bold"/>
              </a:rPr>
              <a:t> </a:t>
            </a:r>
            <a:r>
              <a:rPr lang="en-US" sz="6000" b="1" dirty="0" err="1">
                <a:solidFill>
                  <a:srgbClr val="1836B2"/>
                </a:solidFill>
                <a:latin typeface="Segoe UI" panose="020B0502040204020203" pitchFamily="34" charset="0"/>
                <a:ea typeface="Muli Bold"/>
                <a:cs typeface="Segoe UI" panose="020B0502040204020203" pitchFamily="34" charset="0"/>
                <a:sym typeface="Muli Bold"/>
              </a:rPr>
              <a:t>sinh</a:t>
            </a:r>
            <a:r>
              <a:rPr lang="en-US" sz="6000" b="1" dirty="0">
                <a:solidFill>
                  <a:srgbClr val="1836B2"/>
                </a:solidFill>
                <a:latin typeface="Segoe UI" panose="020B0502040204020203" pitchFamily="34" charset="0"/>
                <a:ea typeface="Muli Bold"/>
                <a:cs typeface="Segoe UI" panose="020B0502040204020203" pitchFamily="34" charset="0"/>
                <a:sym typeface="Muli Bold"/>
              </a:rPr>
              <a:t> </a:t>
            </a:r>
            <a:r>
              <a:rPr lang="en-US" sz="6000" b="1" dirty="0" err="1">
                <a:solidFill>
                  <a:srgbClr val="1836B2"/>
                </a:solidFill>
                <a:latin typeface="Segoe UI" panose="020B0502040204020203" pitchFamily="34" charset="0"/>
                <a:ea typeface="Muli Bold"/>
                <a:cs typeface="Segoe UI" panose="020B0502040204020203" pitchFamily="34" charset="0"/>
                <a:sym typeface="Muli Bold"/>
              </a:rPr>
              <a:t>thái</a:t>
            </a:r>
            <a:r>
              <a:rPr lang="en-US" sz="6000" b="1" dirty="0">
                <a:solidFill>
                  <a:srgbClr val="1836B2"/>
                </a:solidFill>
                <a:latin typeface="Segoe UI" panose="020B0502040204020203" pitchFamily="34" charset="0"/>
                <a:ea typeface="Muli Bold"/>
                <a:cs typeface="Segoe UI" panose="020B0502040204020203" pitchFamily="34" charset="0"/>
                <a:sym typeface="Muli Bold"/>
              </a:rPr>
              <a:t> Azure AI</a:t>
            </a:r>
          </a:p>
        </p:txBody>
      </p:sp>
      <p:pic>
        <p:nvPicPr>
          <p:cNvPr id="2050" name="Picture 2" descr="Microsoft Azure Icon 2022">
            <a:extLst>
              <a:ext uri="{FF2B5EF4-FFF2-40B4-BE49-F238E27FC236}">
                <a16:creationId xmlns:a16="http://schemas.microsoft.com/office/drawing/2014/main" id="{67FF4671-B380-C3C7-36F5-5074CF8AA95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560600" y="167857"/>
            <a:ext cx="3200400" cy="18002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a:extLst>
              <a:ext uri="{FF2B5EF4-FFF2-40B4-BE49-F238E27FC236}">
                <a16:creationId xmlns:a16="http://schemas.microsoft.com/office/drawing/2014/main" id="{1E33C8F9-4AC0-1671-C788-CAB0F63C0297}"/>
              </a:ext>
            </a:extLst>
          </p:cNvPr>
          <p:cNvGraphicFramePr>
            <a:graphicFrameLocks noGrp="1"/>
          </p:cNvGraphicFramePr>
          <p:nvPr>
            <p:extLst>
              <p:ext uri="{D42A27DB-BD31-4B8C-83A1-F6EECF244321}">
                <p14:modId xmlns:p14="http://schemas.microsoft.com/office/powerpoint/2010/main" val="1193991523"/>
              </p:ext>
            </p:extLst>
          </p:nvPr>
        </p:nvGraphicFramePr>
        <p:xfrm>
          <a:off x="1371600" y="2552700"/>
          <a:ext cx="15849600" cy="6553198"/>
        </p:xfrm>
        <a:graphic>
          <a:graphicData uri="http://schemas.openxmlformats.org/drawingml/2006/table">
            <a:tbl>
              <a:tblPr firstRow="1" bandRow="1">
                <a:tableStyleId>{5C22544A-7EE6-4342-B048-85BDC9FD1C3A}</a:tableStyleId>
              </a:tblPr>
              <a:tblGrid>
                <a:gridCol w="5283200">
                  <a:extLst>
                    <a:ext uri="{9D8B030D-6E8A-4147-A177-3AD203B41FA5}">
                      <a16:colId xmlns:a16="http://schemas.microsoft.com/office/drawing/2014/main" val="598881176"/>
                    </a:ext>
                  </a:extLst>
                </a:gridCol>
                <a:gridCol w="5283200">
                  <a:extLst>
                    <a:ext uri="{9D8B030D-6E8A-4147-A177-3AD203B41FA5}">
                      <a16:colId xmlns:a16="http://schemas.microsoft.com/office/drawing/2014/main" val="1033623451"/>
                    </a:ext>
                  </a:extLst>
                </a:gridCol>
                <a:gridCol w="5283200">
                  <a:extLst>
                    <a:ext uri="{9D8B030D-6E8A-4147-A177-3AD203B41FA5}">
                      <a16:colId xmlns:a16="http://schemas.microsoft.com/office/drawing/2014/main" val="967479846"/>
                    </a:ext>
                  </a:extLst>
                </a:gridCol>
              </a:tblGrid>
              <a:tr h="704396">
                <a:tc>
                  <a:txBody>
                    <a:bodyPr/>
                    <a:lstStyle/>
                    <a:p>
                      <a:pPr rtl="0">
                        <a:buNone/>
                      </a:pPr>
                      <a:r>
                        <a:rPr lang="vi-VN" b="1" dirty="0">
                          <a:solidFill>
                            <a:srgbClr val="1F1F1F"/>
                          </a:solidFill>
                          <a:effectLst/>
                          <a:latin typeface="Segoe UI" panose="020B0502040204020203" pitchFamily="34" charset="0"/>
                          <a:cs typeface="Segoe UI" panose="020B0502040204020203" pitchFamily="34" charset="0"/>
                        </a:rPr>
                        <a:t>Bước</a:t>
                      </a:r>
                      <a:endParaRPr lang="vi-VN" dirty="0">
                        <a:solidFill>
                          <a:srgbClr val="1F1F1F"/>
                        </a:solidFill>
                        <a:effectLst/>
                        <a:latin typeface="Segoe UI" panose="020B0502040204020203" pitchFamily="34" charset="0"/>
                        <a:cs typeface="Segoe UI" panose="020B0502040204020203" pitchFamily="34" charset="0"/>
                      </a:endParaRPr>
                    </a:p>
                  </a:txBody>
                  <a:tcPr marR="76200" marT="101600" marB="101600" anchor="ctr"/>
                </a:tc>
                <a:tc>
                  <a:txBody>
                    <a:bodyPr/>
                    <a:lstStyle/>
                    <a:p>
                      <a:pPr algn="ctr" rtl="0">
                        <a:buNone/>
                      </a:pPr>
                      <a:r>
                        <a:rPr lang="en-US" b="1" dirty="0">
                          <a:solidFill>
                            <a:srgbClr val="1F1F1F"/>
                          </a:solidFill>
                          <a:effectLst/>
                          <a:latin typeface="Segoe UI" panose="020B0502040204020203" pitchFamily="34" charset="0"/>
                          <a:cs typeface="Segoe UI" panose="020B0502040204020203" pitchFamily="34" charset="0"/>
                        </a:rPr>
                        <a:t>Thành </a:t>
                      </a:r>
                      <a:r>
                        <a:rPr lang="en-US" b="1" dirty="0" err="1">
                          <a:solidFill>
                            <a:srgbClr val="1F1F1F"/>
                          </a:solidFill>
                          <a:effectLst/>
                          <a:latin typeface="Segoe UI" panose="020B0502040204020203" pitchFamily="34" charset="0"/>
                          <a:cs typeface="Segoe UI" panose="020B0502040204020203" pitchFamily="34" charset="0"/>
                        </a:rPr>
                        <a:t>phần</a:t>
                      </a:r>
                      <a:endParaRPr lang="en-US" dirty="0">
                        <a:solidFill>
                          <a:srgbClr val="1F1F1F"/>
                        </a:solidFill>
                        <a:effectLst/>
                        <a:latin typeface="Segoe UI" panose="020B0502040204020203" pitchFamily="34" charset="0"/>
                        <a:cs typeface="Segoe UI" panose="020B0502040204020203" pitchFamily="34" charset="0"/>
                      </a:endParaRPr>
                    </a:p>
                  </a:txBody>
                  <a:tcPr marR="76200" marT="101600" marB="101600" anchor="ctr"/>
                </a:tc>
                <a:tc>
                  <a:txBody>
                    <a:bodyPr/>
                    <a:lstStyle/>
                    <a:p>
                      <a:pPr rtl="0">
                        <a:buNone/>
                      </a:pPr>
                      <a:r>
                        <a:rPr lang="en-US" b="1">
                          <a:solidFill>
                            <a:srgbClr val="1F1F1F"/>
                          </a:solidFill>
                          <a:effectLst/>
                          <a:latin typeface="Segoe UI" panose="020B0502040204020203" pitchFamily="34" charset="0"/>
                          <a:cs typeface="Segoe UI" panose="020B0502040204020203" pitchFamily="34" charset="0"/>
                        </a:rPr>
                        <a:t>Vai trò chính</a:t>
                      </a:r>
                      <a:endParaRPr lang="en-US">
                        <a:solidFill>
                          <a:srgbClr val="1F1F1F"/>
                        </a:solidFill>
                        <a:effectLst/>
                        <a:latin typeface="Segoe UI" panose="020B0502040204020203" pitchFamily="34" charset="0"/>
                        <a:cs typeface="Segoe UI" panose="020B0502040204020203" pitchFamily="34" charset="0"/>
                      </a:endParaRPr>
                    </a:p>
                  </a:txBody>
                  <a:tcPr marT="101600" marB="101600" anchor="ctr"/>
                </a:tc>
                <a:extLst>
                  <a:ext uri="{0D108BD9-81ED-4DB2-BD59-A6C34878D82A}">
                    <a16:rowId xmlns:a16="http://schemas.microsoft.com/office/drawing/2014/main" val="3468445720"/>
                  </a:ext>
                </a:extLst>
              </a:tr>
              <a:tr h="869099">
                <a:tc>
                  <a:txBody>
                    <a:bodyPr/>
                    <a:lstStyle/>
                    <a:p>
                      <a:pPr rtl="0">
                        <a:buNone/>
                      </a:pPr>
                      <a:r>
                        <a:rPr lang="en-US" b="1" dirty="0">
                          <a:solidFill>
                            <a:srgbClr val="1F1F1F"/>
                          </a:solidFill>
                          <a:effectLst/>
                          <a:latin typeface="Segoe UI" panose="020B0502040204020203" pitchFamily="34" charset="0"/>
                          <a:cs typeface="Segoe UI" panose="020B0502040204020203" pitchFamily="34" charset="0"/>
                        </a:rPr>
                        <a:t>1. Input</a:t>
                      </a:r>
                      <a:endParaRPr lang="en-US" dirty="0">
                        <a:solidFill>
                          <a:srgbClr val="1F1F1F"/>
                        </a:solidFill>
                        <a:effectLst/>
                        <a:latin typeface="Segoe UI" panose="020B0502040204020203" pitchFamily="34" charset="0"/>
                        <a:cs typeface="Segoe UI" panose="020B0502040204020203" pitchFamily="34" charset="0"/>
                      </a:endParaRPr>
                    </a:p>
                  </a:txBody>
                  <a:tcPr marR="76200" marT="101600" marB="101600" anchor="ctr"/>
                </a:tc>
                <a:tc>
                  <a:txBody>
                    <a:bodyPr/>
                    <a:lstStyle/>
                    <a:p>
                      <a:pPr algn="ctr" rtl="0">
                        <a:buNone/>
                      </a:pPr>
                      <a:r>
                        <a:rPr lang="en-US" b="1" dirty="0">
                          <a:solidFill>
                            <a:srgbClr val="1F1F1F"/>
                          </a:solidFill>
                          <a:effectLst/>
                          <a:latin typeface="Segoe UI" panose="020B0502040204020203" pitchFamily="34" charset="0"/>
                          <a:cs typeface="Segoe UI" panose="020B0502040204020203" pitchFamily="34" charset="0"/>
                        </a:rPr>
                        <a:t>Raw Data</a:t>
                      </a:r>
                      <a:endParaRPr lang="en-US" dirty="0">
                        <a:solidFill>
                          <a:srgbClr val="1F1F1F"/>
                        </a:solidFill>
                        <a:effectLst/>
                        <a:latin typeface="Segoe UI" panose="020B0502040204020203" pitchFamily="34" charset="0"/>
                        <a:cs typeface="Segoe UI" panose="020B0502040204020203" pitchFamily="34" charset="0"/>
                      </a:endParaRPr>
                    </a:p>
                  </a:txBody>
                  <a:tcPr marR="76200" marT="101600" marB="101600" anchor="ctr"/>
                </a:tc>
                <a:tc>
                  <a:txBody>
                    <a:bodyPr/>
                    <a:lstStyle/>
                    <a:p>
                      <a:pPr rtl="0">
                        <a:buNone/>
                      </a:pPr>
                      <a:r>
                        <a:rPr lang="vi-VN">
                          <a:solidFill>
                            <a:srgbClr val="1F1F1F"/>
                          </a:solidFill>
                          <a:effectLst/>
                          <a:latin typeface="Segoe UI" panose="020B0502040204020203" pitchFamily="34" charset="0"/>
                          <a:cs typeface="Segoe UI" panose="020B0502040204020203" pitchFamily="34" charset="0"/>
                        </a:rPr>
                        <a:t>Tiếp nhận dữ liệu thô đa phương thức: Hình ảnh, Văn bản, Tài liệu (PDF/Scan).</a:t>
                      </a:r>
                    </a:p>
                  </a:txBody>
                  <a:tcPr marT="101600" marB="101600" anchor="ctr"/>
                </a:tc>
                <a:extLst>
                  <a:ext uri="{0D108BD9-81ED-4DB2-BD59-A6C34878D82A}">
                    <a16:rowId xmlns:a16="http://schemas.microsoft.com/office/drawing/2014/main" val="4215704556"/>
                  </a:ext>
                </a:extLst>
              </a:tr>
              <a:tr h="1186203">
                <a:tc>
                  <a:txBody>
                    <a:bodyPr/>
                    <a:lstStyle/>
                    <a:p>
                      <a:pPr rtl="0">
                        <a:buNone/>
                      </a:pPr>
                      <a:r>
                        <a:rPr lang="en-US" b="1">
                          <a:solidFill>
                            <a:srgbClr val="1F1F1F"/>
                          </a:solidFill>
                          <a:effectLst/>
                          <a:latin typeface="Segoe UI" panose="020B0502040204020203" pitchFamily="34" charset="0"/>
                          <a:cs typeface="Segoe UI" panose="020B0502040204020203" pitchFamily="34" charset="0"/>
                        </a:rPr>
                        <a:t>2. Perception</a:t>
                      </a:r>
                      <a:endParaRPr lang="en-US">
                        <a:solidFill>
                          <a:srgbClr val="1F1F1F"/>
                        </a:solidFill>
                        <a:effectLst/>
                        <a:latin typeface="Segoe UI" panose="020B0502040204020203" pitchFamily="34" charset="0"/>
                        <a:cs typeface="Segoe UI" panose="020B0502040204020203" pitchFamily="34" charset="0"/>
                      </a:endParaRPr>
                    </a:p>
                  </a:txBody>
                  <a:tcPr marR="76200" marT="101600" marB="101600" anchor="ctr"/>
                </a:tc>
                <a:tc>
                  <a:txBody>
                    <a:bodyPr/>
                    <a:lstStyle/>
                    <a:p>
                      <a:pPr algn="ctr" rtl="0">
                        <a:buNone/>
                      </a:pPr>
                      <a:r>
                        <a:rPr lang="en-US" b="1" dirty="0">
                          <a:solidFill>
                            <a:srgbClr val="1F1F1F"/>
                          </a:solidFill>
                          <a:effectLst/>
                          <a:latin typeface="Segoe UI" panose="020B0502040204020203" pitchFamily="34" charset="0"/>
                          <a:cs typeface="Segoe UI" panose="020B0502040204020203" pitchFamily="34" charset="0"/>
                        </a:rPr>
                        <a:t>Vision / Doc. Intelligence</a:t>
                      </a:r>
                      <a:endParaRPr lang="en-US" dirty="0">
                        <a:solidFill>
                          <a:srgbClr val="1F1F1F"/>
                        </a:solidFill>
                        <a:effectLst/>
                        <a:latin typeface="Segoe UI" panose="020B0502040204020203" pitchFamily="34" charset="0"/>
                        <a:cs typeface="Segoe UI" panose="020B0502040204020203" pitchFamily="34" charset="0"/>
                      </a:endParaRPr>
                    </a:p>
                  </a:txBody>
                  <a:tcPr marR="76200" marT="101600" marB="101600" anchor="ctr"/>
                </a:tc>
                <a:tc>
                  <a:txBody>
                    <a:bodyPr/>
                    <a:lstStyle/>
                    <a:p>
                      <a:pPr rtl="0">
                        <a:buNone/>
                      </a:pPr>
                      <a:r>
                        <a:rPr lang="en-US" b="1" dirty="0" err="1">
                          <a:solidFill>
                            <a:srgbClr val="1F1F1F"/>
                          </a:solidFill>
                          <a:effectLst/>
                          <a:latin typeface="Segoe UI" panose="020B0502040204020203" pitchFamily="34" charset="0"/>
                          <a:cs typeface="Segoe UI" panose="020B0502040204020203" pitchFamily="34" charset="0"/>
                        </a:rPr>
                        <a:t>Số</a:t>
                      </a:r>
                      <a:r>
                        <a:rPr lang="en-US" b="1" dirty="0">
                          <a:solidFill>
                            <a:srgbClr val="1F1F1F"/>
                          </a:solidFill>
                          <a:effectLst/>
                          <a:latin typeface="Segoe UI" panose="020B0502040204020203" pitchFamily="34" charset="0"/>
                          <a:cs typeface="Segoe UI" panose="020B0502040204020203" pitchFamily="34" charset="0"/>
                        </a:rPr>
                        <a:t> </a:t>
                      </a:r>
                      <a:r>
                        <a:rPr lang="en-US" b="1" dirty="0" err="1">
                          <a:solidFill>
                            <a:srgbClr val="1F1F1F"/>
                          </a:solidFill>
                          <a:effectLst/>
                          <a:latin typeface="Segoe UI" panose="020B0502040204020203" pitchFamily="34" charset="0"/>
                          <a:cs typeface="Segoe UI" panose="020B0502040204020203" pitchFamily="34" charset="0"/>
                        </a:rPr>
                        <a:t>hóa</a:t>
                      </a:r>
                      <a:r>
                        <a:rPr lang="en-US" b="1" dirty="0">
                          <a:solidFill>
                            <a:srgbClr val="1F1F1F"/>
                          </a:solidFill>
                          <a:effectLst/>
                          <a:latin typeface="Segoe UI" panose="020B0502040204020203" pitchFamily="34" charset="0"/>
                          <a:cs typeface="Segoe UI" panose="020B0502040204020203" pitchFamily="34" charset="0"/>
                        </a:rPr>
                        <a:t>:</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Chuyển</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hình</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ảnh</a:t>
                      </a:r>
                      <a:r>
                        <a:rPr lang="en-US" dirty="0">
                          <a:solidFill>
                            <a:srgbClr val="1F1F1F"/>
                          </a:solidFill>
                          <a:effectLst/>
                          <a:latin typeface="Segoe UI" panose="020B0502040204020203" pitchFamily="34" charset="0"/>
                          <a:cs typeface="Segoe UI" panose="020B0502040204020203" pitchFamily="34" charset="0"/>
                        </a:rPr>
                        <a:t>/</a:t>
                      </a:r>
                      <a:r>
                        <a:rPr lang="en-US" dirty="0" err="1">
                          <a:solidFill>
                            <a:srgbClr val="1F1F1F"/>
                          </a:solidFill>
                          <a:effectLst/>
                          <a:latin typeface="Segoe UI" panose="020B0502040204020203" pitchFamily="34" charset="0"/>
                          <a:cs typeface="Segoe UI" panose="020B0502040204020203" pitchFamily="34" charset="0"/>
                        </a:rPr>
                        <a:t>giấy</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tờ</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thành</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dữ</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liệu</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máy</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tính</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có</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thể</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hiểu</a:t>
                      </a:r>
                      <a:r>
                        <a:rPr lang="en-US" dirty="0">
                          <a:solidFill>
                            <a:srgbClr val="1F1F1F"/>
                          </a:solidFill>
                          <a:effectLst/>
                          <a:latin typeface="Segoe UI" panose="020B0502040204020203" pitchFamily="34" charset="0"/>
                          <a:cs typeface="Segoe UI" panose="020B0502040204020203" pitchFamily="34" charset="0"/>
                        </a:rPr>
                        <a:t> (OCR, </a:t>
                      </a:r>
                      <a:r>
                        <a:rPr lang="en-US" dirty="0" err="1">
                          <a:solidFill>
                            <a:srgbClr val="1F1F1F"/>
                          </a:solidFill>
                          <a:effectLst/>
                          <a:latin typeface="Segoe UI" panose="020B0502040204020203" pitchFamily="34" charset="0"/>
                          <a:cs typeface="Segoe UI" panose="020B0502040204020203" pitchFamily="34" charset="0"/>
                        </a:rPr>
                        <a:t>Phân</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tích</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bố</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cục</a:t>
                      </a:r>
                      <a:r>
                        <a:rPr lang="en-US" dirty="0">
                          <a:solidFill>
                            <a:srgbClr val="1F1F1F"/>
                          </a:solidFill>
                          <a:effectLst/>
                          <a:latin typeface="Segoe UI" panose="020B0502040204020203" pitchFamily="34" charset="0"/>
                          <a:cs typeface="Segoe UI" panose="020B0502040204020203" pitchFamily="34" charset="0"/>
                        </a:rPr>
                        <a:t>).</a:t>
                      </a:r>
                    </a:p>
                  </a:txBody>
                  <a:tcPr marT="101600" marB="101600" anchor="ctr"/>
                </a:tc>
                <a:extLst>
                  <a:ext uri="{0D108BD9-81ED-4DB2-BD59-A6C34878D82A}">
                    <a16:rowId xmlns:a16="http://schemas.microsoft.com/office/drawing/2014/main" val="2763000033"/>
                  </a:ext>
                </a:extLst>
              </a:tr>
              <a:tr h="869099">
                <a:tc>
                  <a:txBody>
                    <a:bodyPr/>
                    <a:lstStyle/>
                    <a:p>
                      <a:pPr rtl="0">
                        <a:buNone/>
                      </a:pPr>
                      <a:r>
                        <a:rPr lang="en-US" b="1">
                          <a:solidFill>
                            <a:srgbClr val="1F1F1F"/>
                          </a:solidFill>
                          <a:effectLst/>
                          <a:latin typeface="Segoe UI" panose="020B0502040204020203" pitchFamily="34" charset="0"/>
                          <a:cs typeface="Segoe UI" panose="020B0502040204020203" pitchFamily="34" charset="0"/>
                        </a:rPr>
                        <a:t>3. Understanding</a:t>
                      </a:r>
                      <a:endParaRPr lang="en-US">
                        <a:solidFill>
                          <a:srgbClr val="1F1F1F"/>
                        </a:solidFill>
                        <a:effectLst/>
                        <a:latin typeface="Segoe UI" panose="020B0502040204020203" pitchFamily="34" charset="0"/>
                        <a:cs typeface="Segoe UI" panose="020B0502040204020203" pitchFamily="34" charset="0"/>
                      </a:endParaRPr>
                    </a:p>
                  </a:txBody>
                  <a:tcPr marR="76200" marT="101600" marB="101600" anchor="ctr"/>
                </a:tc>
                <a:tc>
                  <a:txBody>
                    <a:bodyPr/>
                    <a:lstStyle/>
                    <a:p>
                      <a:pPr algn="ctr" rtl="0">
                        <a:buNone/>
                      </a:pPr>
                      <a:r>
                        <a:rPr lang="en-US" b="1" dirty="0">
                          <a:solidFill>
                            <a:srgbClr val="1F1F1F"/>
                          </a:solidFill>
                          <a:effectLst/>
                          <a:latin typeface="Segoe UI" panose="020B0502040204020203" pitchFamily="34" charset="0"/>
                          <a:cs typeface="Segoe UI" panose="020B0502040204020203" pitchFamily="34" charset="0"/>
                        </a:rPr>
                        <a:t>AI Language</a:t>
                      </a:r>
                      <a:endParaRPr lang="en-US" dirty="0">
                        <a:solidFill>
                          <a:srgbClr val="1F1F1F"/>
                        </a:solidFill>
                        <a:effectLst/>
                        <a:latin typeface="Segoe UI" panose="020B0502040204020203" pitchFamily="34" charset="0"/>
                        <a:cs typeface="Segoe UI" panose="020B0502040204020203" pitchFamily="34" charset="0"/>
                      </a:endParaRPr>
                    </a:p>
                  </a:txBody>
                  <a:tcPr marR="76200" marT="101600" marB="101600" anchor="ctr"/>
                </a:tc>
                <a:tc>
                  <a:txBody>
                    <a:bodyPr/>
                    <a:lstStyle/>
                    <a:p>
                      <a:pPr rtl="0">
                        <a:buNone/>
                      </a:pPr>
                      <a:r>
                        <a:rPr lang="en-US" b="1" dirty="0" err="1">
                          <a:solidFill>
                            <a:srgbClr val="1F1F1F"/>
                          </a:solidFill>
                          <a:effectLst/>
                          <a:latin typeface="Segoe UI" panose="020B0502040204020203" pitchFamily="34" charset="0"/>
                          <a:cs typeface="Segoe UI" panose="020B0502040204020203" pitchFamily="34" charset="0"/>
                        </a:rPr>
                        <a:t>Thấu</a:t>
                      </a:r>
                      <a:r>
                        <a:rPr lang="en-US" b="1" dirty="0">
                          <a:solidFill>
                            <a:srgbClr val="1F1F1F"/>
                          </a:solidFill>
                          <a:effectLst/>
                          <a:latin typeface="Segoe UI" panose="020B0502040204020203" pitchFamily="34" charset="0"/>
                          <a:cs typeface="Segoe UI" panose="020B0502040204020203" pitchFamily="34" charset="0"/>
                        </a:rPr>
                        <a:t> </a:t>
                      </a:r>
                      <a:r>
                        <a:rPr lang="en-US" b="1" dirty="0" err="1">
                          <a:solidFill>
                            <a:srgbClr val="1F1F1F"/>
                          </a:solidFill>
                          <a:effectLst/>
                          <a:latin typeface="Segoe UI" panose="020B0502040204020203" pitchFamily="34" charset="0"/>
                          <a:cs typeface="Segoe UI" panose="020B0502040204020203" pitchFamily="34" charset="0"/>
                        </a:rPr>
                        <a:t>hiểu</a:t>
                      </a:r>
                      <a:r>
                        <a:rPr lang="en-US" b="1" dirty="0">
                          <a:solidFill>
                            <a:srgbClr val="1F1F1F"/>
                          </a:solidFill>
                          <a:effectLst/>
                          <a:latin typeface="Segoe UI" panose="020B0502040204020203" pitchFamily="34" charset="0"/>
                          <a:cs typeface="Segoe UI" panose="020B0502040204020203" pitchFamily="34" charset="0"/>
                        </a:rPr>
                        <a:t>:</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Phân</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tích</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cảm</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xúc</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trích</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xuất</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thực</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thể</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tên</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địa</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chỉ</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và</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tóm</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tắt</a:t>
                      </a:r>
                      <a:r>
                        <a:rPr lang="en-US" dirty="0">
                          <a:solidFill>
                            <a:srgbClr val="1F1F1F"/>
                          </a:solidFill>
                          <a:effectLst/>
                          <a:latin typeface="Segoe UI" panose="020B0502040204020203" pitchFamily="34" charset="0"/>
                          <a:cs typeface="Segoe UI" panose="020B0502040204020203" pitchFamily="34" charset="0"/>
                        </a:rPr>
                        <a:t> ý </a:t>
                      </a:r>
                      <a:r>
                        <a:rPr lang="en-US" dirty="0" err="1">
                          <a:solidFill>
                            <a:srgbClr val="1F1F1F"/>
                          </a:solidFill>
                          <a:effectLst/>
                          <a:latin typeface="Segoe UI" panose="020B0502040204020203" pitchFamily="34" charset="0"/>
                          <a:cs typeface="Segoe UI" panose="020B0502040204020203" pitchFamily="34" charset="0"/>
                        </a:rPr>
                        <a:t>chính</a:t>
                      </a:r>
                      <a:r>
                        <a:rPr lang="en-US" dirty="0">
                          <a:solidFill>
                            <a:srgbClr val="1F1F1F"/>
                          </a:solidFill>
                          <a:effectLst/>
                          <a:latin typeface="Segoe UI" panose="020B0502040204020203" pitchFamily="34" charset="0"/>
                          <a:cs typeface="Segoe UI" panose="020B0502040204020203" pitchFamily="34" charset="0"/>
                        </a:rPr>
                        <a:t>.</a:t>
                      </a:r>
                    </a:p>
                  </a:txBody>
                  <a:tcPr marT="101600" marB="101600" anchor="ctr"/>
                </a:tc>
                <a:extLst>
                  <a:ext uri="{0D108BD9-81ED-4DB2-BD59-A6C34878D82A}">
                    <a16:rowId xmlns:a16="http://schemas.microsoft.com/office/drawing/2014/main" val="123365465"/>
                  </a:ext>
                </a:extLst>
              </a:tr>
              <a:tr h="869099">
                <a:tc>
                  <a:txBody>
                    <a:bodyPr/>
                    <a:lstStyle/>
                    <a:p>
                      <a:pPr rtl="0">
                        <a:buNone/>
                      </a:pPr>
                      <a:r>
                        <a:rPr lang="en-US" b="1">
                          <a:solidFill>
                            <a:srgbClr val="1F1F1F"/>
                          </a:solidFill>
                          <a:effectLst/>
                          <a:latin typeface="Segoe UI" panose="020B0502040204020203" pitchFamily="34" charset="0"/>
                          <a:cs typeface="Segoe UI" panose="020B0502040204020203" pitchFamily="34" charset="0"/>
                        </a:rPr>
                        <a:t>4. Retrieval</a:t>
                      </a:r>
                      <a:endParaRPr lang="en-US">
                        <a:solidFill>
                          <a:srgbClr val="1F1F1F"/>
                        </a:solidFill>
                        <a:effectLst/>
                        <a:latin typeface="Segoe UI" panose="020B0502040204020203" pitchFamily="34" charset="0"/>
                        <a:cs typeface="Segoe UI" panose="020B0502040204020203" pitchFamily="34" charset="0"/>
                      </a:endParaRPr>
                    </a:p>
                  </a:txBody>
                  <a:tcPr marR="76200" marT="101600" marB="101600" anchor="ctr"/>
                </a:tc>
                <a:tc>
                  <a:txBody>
                    <a:bodyPr/>
                    <a:lstStyle/>
                    <a:p>
                      <a:pPr algn="ctr" rtl="0">
                        <a:buNone/>
                      </a:pPr>
                      <a:r>
                        <a:rPr lang="en-US" b="1" dirty="0">
                          <a:solidFill>
                            <a:srgbClr val="1F1F1F"/>
                          </a:solidFill>
                          <a:effectLst/>
                          <a:latin typeface="Segoe UI" panose="020B0502040204020203" pitchFamily="34" charset="0"/>
                          <a:cs typeface="Segoe UI" panose="020B0502040204020203" pitchFamily="34" charset="0"/>
                        </a:rPr>
                        <a:t>AI Search</a:t>
                      </a:r>
                      <a:endParaRPr lang="en-US" dirty="0">
                        <a:solidFill>
                          <a:srgbClr val="1F1F1F"/>
                        </a:solidFill>
                        <a:effectLst/>
                        <a:latin typeface="Segoe UI" panose="020B0502040204020203" pitchFamily="34" charset="0"/>
                        <a:cs typeface="Segoe UI" panose="020B0502040204020203" pitchFamily="34" charset="0"/>
                      </a:endParaRPr>
                    </a:p>
                  </a:txBody>
                  <a:tcPr marR="76200" marT="101600" marB="101600" anchor="ctr"/>
                </a:tc>
                <a:tc>
                  <a:txBody>
                    <a:bodyPr/>
                    <a:lstStyle/>
                    <a:p>
                      <a:pPr rtl="0">
                        <a:buNone/>
                      </a:pPr>
                      <a:r>
                        <a:rPr lang="en-US" b="1" dirty="0" err="1">
                          <a:solidFill>
                            <a:srgbClr val="1F1F1F"/>
                          </a:solidFill>
                          <a:effectLst/>
                          <a:latin typeface="Segoe UI" panose="020B0502040204020203" pitchFamily="34" charset="0"/>
                          <a:cs typeface="Segoe UI" panose="020B0502040204020203" pitchFamily="34" charset="0"/>
                        </a:rPr>
                        <a:t>Truy</a:t>
                      </a:r>
                      <a:r>
                        <a:rPr lang="en-US" b="1" dirty="0">
                          <a:solidFill>
                            <a:srgbClr val="1F1F1F"/>
                          </a:solidFill>
                          <a:effectLst/>
                          <a:latin typeface="Segoe UI" panose="020B0502040204020203" pitchFamily="34" charset="0"/>
                          <a:cs typeface="Segoe UI" panose="020B0502040204020203" pitchFamily="34" charset="0"/>
                        </a:rPr>
                        <a:t> </a:t>
                      </a:r>
                      <a:r>
                        <a:rPr lang="en-US" b="1" dirty="0" err="1">
                          <a:solidFill>
                            <a:srgbClr val="1F1F1F"/>
                          </a:solidFill>
                          <a:effectLst/>
                          <a:latin typeface="Segoe UI" panose="020B0502040204020203" pitchFamily="34" charset="0"/>
                          <a:cs typeface="Segoe UI" panose="020B0502040204020203" pitchFamily="34" charset="0"/>
                        </a:rPr>
                        <a:t>vấn</a:t>
                      </a:r>
                      <a:r>
                        <a:rPr lang="en-US" b="1" dirty="0">
                          <a:solidFill>
                            <a:srgbClr val="1F1F1F"/>
                          </a:solidFill>
                          <a:effectLst/>
                          <a:latin typeface="Segoe UI" panose="020B0502040204020203" pitchFamily="34" charset="0"/>
                          <a:cs typeface="Segoe UI" panose="020B0502040204020203" pitchFamily="34" charset="0"/>
                        </a:rPr>
                        <a:t>:</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Tìm</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kiếm</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thông</a:t>
                      </a:r>
                      <a:r>
                        <a:rPr lang="en-US" dirty="0">
                          <a:solidFill>
                            <a:srgbClr val="1F1F1F"/>
                          </a:solidFill>
                          <a:effectLst/>
                          <a:latin typeface="Segoe UI" panose="020B0502040204020203" pitchFamily="34" charset="0"/>
                          <a:cs typeface="Segoe UI" panose="020B0502040204020203" pitchFamily="34" charset="0"/>
                        </a:rPr>
                        <a:t> tin </a:t>
                      </a:r>
                      <a:r>
                        <a:rPr lang="en-US" dirty="0" err="1">
                          <a:solidFill>
                            <a:srgbClr val="1F1F1F"/>
                          </a:solidFill>
                          <a:effectLst/>
                          <a:latin typeface="Segoe UI" panose="020B0502040204020203" pitchFamily="34" charset="0"/>
                          <a:cs typeface="Segoe UI" panose="020B0502040204020203" pitchFamily="34" charset="0"/>
                        </a:rPr>
                        <a:t>liên</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quan</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từ</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kho</a:t>
                      </a:r>
                      <a:r>
                        <a:rPr lang="en-US" dirty="0">
                          <a:solidFill>
                            <a:srgbClr val="1F1F1F"/>
                          </a:solidFill>
                          <a:effectLst/>
                          <a:latin typeface="Segoe UI" panose="020B0502040204020203" pitchFamily="34" charset="0"/>
                          <a:cs typeface="Segoe UI" panose="020B0502040204020203" pitchFamily="34" charset="0"/>
                        </a:rPr>
                        <a:t> tri </a:t>
                      </a:r>
                      <a:r>
                        <a:rPr lang="en-US" dirty="0" err="1">
                          <a:solidFill>
                            <a:srgbClr val="1F1F1F"/>
                          </a:solidFill>
                          <a:effectLst/>
                          <a:latin typeface="Segoe UI" panose="020B0502040204020203" pitchFamily="34" charset="0"/>
                          <a:cs typeface="Segoe UI" panose="020B0502040204020203" pitchFamily="34" charset="0"/>
                        </a:rPr>
                        <a:t>thức</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doanh</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nghiệp</a:t>
                      </a:r>
                      <a:r>
                        <a:rPr lang="en-US" dirty="0">
                          <a:solidFill>
                            <a:srgbClr val="1F1F1F"/>
                          </a:solidFill>
                          <a:effectLst/>
                          <a:latin typeface="Segoe UI" panose="020B0502040204020203" pitchFamily="34" charset="0"/>
                          <a:cs typeface="Segoe UI" panose="020B0502040204020203" pitchFamily="34" charset="0"/>
                        </a:rPr>
                        <a:t> (RAG pattern).</a:t>
                      </a:r>
                    </a:p>
                  </a:txBody>
                  <a:tcPr marT="101600" marB="101600" anchor="ctr"/>
                </a:tc>
                <a:extLst>
                  <a:ext uri="{0D108BD9-81ED-4DB2-BD59-A6C34878D82A}">
                    <a16:rowId xmlns:a16="http://schemas.microsoft.com/office/drawing/2014/main" val="3315860799"/>
                  </a:ext>
                </a:extLst>
              </a:tr>
              <a:tr h="869099">
                <a:tc>
                  <a:txBody>
                    <a:bodyPr/>
                    <a:lstStyle/>
                    <a:p>
                      <a:pPr rtl="0">
                        <a:buNone/>
                      </a:pPr>
                      <a:r>
                        <a:rPr lang="en-US" b="1">
                          <a:solidFill>
                            <a:srgbClr val="1F1F1F"/>
                          </a:solidFill>
                          <a:effectLst/>
                          <a:latin typeface="Segoe UI" panose="020B0502040204020203" pitchFamily="34" charset="0"/>
                          <a:cs typeface="Segoe UI" panose="020B0502040204020203" pitchFamily="34" charset="0"/>
                        </a:rPr>
                        <a:t>5. Synthesis</a:t>
                      </a:r>
                      <a:endParaRPr lang="en-US">
                        <a:solidFill>
                          <a:srgbClr val="1F1F1F"/>
                        </a:solidFill>
                        <a:effectLst/>
                        <a:latin typeface="Segoe UI" panose="020B0502040204020203" pitchFamily="34" charset="0"/>
                        <a:cs typeface="Segoe UI" panose="020B0502040204020203" pitchFamily="34" charset="0"/>
                      </a:endParaRPr>
                    </a:p>
                  </a:txBody>
                  <a:tcPr marR="76200" marT="101600" marB="101600" anchor="ctr"/>
                </a:tc>
                <a:tc>
                  <a:txBody>
                    <a:bodyPr/>
                    <a:lstStyle/>
                    <a:p>
                      <a:pPr algn="ctr" rtl="0">
                        <a:buNone/>
                      </a:pPr>
                      <a:r>
                        <a:rPr lang="en-US" b="1" dirty="0">
                          <a:solidFill>
                            <a:srgbClr val="1F1F1F"/>
                          </a:solidFill>
                          <a:effectLst/>
                          <a:latin typeface="Segoe UI" panose="020B0502040204020203" pitchFamily="34" charset="0"/>
                          <a:cs typeface="Segoe UI" panose="020B0502040204020203" pitchFamily="34" charset="0"/>
                        </a:rPr>
                        <a:t>Azure OpenAI</a:t>
                      </a:r>
                      <a:endParaRPr lang="en-US" dirty="0">
                        <a:solidFill>
                          <a:srgbClr val="1F1F1F"/>
                        </a:solidFill>
                        <a:effectLst/>
                        <a:latin typeface="Segoe UI" panose="020B0502040204020203" pitchFamily="34" charset="0"/>
                        <a:cs typeface="Segoe UI" panose="020B0502040204020203" pitchFamily="34" charset="0"/>
                      </a:endParaRPr>
                    </a:p>
                  </a:txBody>
                  <a:tcPr marR="76200" marT="101600" marB="101600" anchor="ctr"/>
                </a:tc>
                <a:tc>
                  <a:txBody>
                    <a:bodyPr/>
                    <a:lstStyle/>
                    <a:p>
                      <a:pPr rtl="0">
                        <a:buNone/>
                      </a:pPr>
                      <a:r>
                        <a:rPr lang="en-US" b="1">
                          <a:solidFill>
                            <a:srgbClr val="1F1F1F"/>
                          </a:solidFill>
                          <a:effectLst/>
                          <a:latin typeface="Segoe UI" panose="020B0502040204020203" pitchFamily="34" charset="0"/>
                          <a:cs typeface="Segoe UI" panose="020B0502040204020203" pitchFamily="34" charset="0"/>
                        </a:rPr>
                        <a:t>Sáng tạo:</a:t>
                      </a:r>
                      <a:r>
                        <a:rPr lang="en-US">
                          <a:solidFill>
                            <a:srgbClr val="1F1F1F"/>
                          </a:solidFill>
                          <a:effectLst/>
                          <a:latin typeface="Segoe UI" panose="020B0502040204020203" pitchFamily="34" charset="0"/>
                          <a:cs typeface="Segoe UI" panose="020B0502040204020203" pitchFamily="34" charset="0"/>
                        </a:rPr>
                        <a:t> Tổng hợp toàn bộ dữ liệu trên để tạo câu trả lời tự nhiên, chính xác.</a:t>
                      </a:r>
                    </a:p>
                  </a:txBody>
                  <a:tcPr marT="101600" marB="101600" anchor="ctr"/>
                </a:tc>
                <a:extLst>
                  <a:ext uri="{0D108BD9-81ED-4DB2-BD59-A6C34878D82A}">
                    <a16:rowId xmlns:a16="http://schemas.microsoft.com/office/drawing/2014/main" val="3001173086"/>
                  </a:ext>
                </a:extLst>
              </a:tr>
              <a:tr h="1186203">
                <a:tc>
                  <a:txBody>
                    <a:bodyPr/>
                    <a:lstStyle/>
                    <a:p>
                      <a:pPr rtl="0">
                        <a:buNone/>
                      </a:pPr>
                      <a:r>
                        <a:rPr lang="en-US" b="1">
                          <a:solidFill>
                            <a:srgbClr val="1F1F1F"/>
                          </a:solidFill>
                          <a:effectLst/>
                          <a:latin typeface="Segoe UI" panose="020B0502040204020203" pitchFamily="34" charset="0"/>
                          <a:cs typeface="Segoe UI" panose="020B0502040204020203" pitchFamily="34" charset="0"/>
                        </a:rPr>
                        <a:t>6. Guardrail</a:t>
                      </a:r>
                      <a:endParaRPr lang="en-US">
                        <a:solidFill>
                          <a:srgbClr val="1F1F1F"/>
                        </a:solidFill>
                        <a:effectLst/>
                        <a:latin typeface="Segoe UI" panose="020B0502040204020203" pitchFamily="34" charset="0"/>
                        <a:cs typeface="Segoe UI" panose="020B0502040204020203" pitchFamily="34" charset="0"/>
                      </a:endParaRPr>
                    </a:p>
                  </a:txBody>
                  <a:tcPr marR="76200" marT="101600" marB="101600" anchor="ctr"/>
                </a:tc>
                <a:tc>
                  <a:txBody>
                    <a:bodyPr/>
                    <a:lstStyle/>
                    <a:p>
                      <a:pPr algn="ctr" rtl="0">
                        <a:buNone/>
                      </a:pPr>
                      <a:r>
                        <a:rPr lang="en-US" b="1" dirty="0">
                          <a:solidFill>
                            <a:srgbClr val="1F1F1F"/>
                          </a:solidFill>
                          <a:effectLst/>
                          <a:latin typeface="Segoe UI" panose="020B0502040204020203" pitchFamily="34" charset="0"/>
                          <a:cs typeface="Segoe UI" panose="020B0502040204020203" pitchFamily="34" charset="0"/>
                        </a:rPr>
                        <a:t>Content Safety</a:t>
                      </a:r>
                      <a:endParaRPr lang="en-US" dirty="0">
                        <a:solidFill>
                          <a:srgbClr val="1F1F1F"/>
                        </a:solidFill>
                        <a:effectLst/>
                        <a:latin typeface="Segoe UI" panose="020B0502040204020203" pitchFamily="34" charset="0"/>
                        <a:cs typeface="Segoe UI" panose="020B0502040204020203" pitchFamily="34" charset="0"/>
                      </a:endParaRPr>
                    </a:p>
                  </a:txBody>
                  <a:tcPr marR="76200" marT="101600" marB="101600" anchor="ctr"/>
                </a:tc>
                <a:tc>
                  <a:txBody>
                    <a:bodyPr/>
                    <a:lstStyle/>
                    <a:p>
                      <a:pPr rtl="0">
                        <a:buNone/>
                      </a:pPr>
                      <a:r>
                        <a:rPr lang="en-US" b="1" dirty="0" err="1">
                          <a:solidFill>
                            <a:srgbClr val="1F1F1F"/>
                          </a:solidFill>
                          <a:effectLst/>
                          <a:latin typeface="Segoe UI" panose="020B0502040204020203" pitchFamily="34" charset="0"/>
                          <a:cs typeface="Segoe UI" panose="020B0502040204020203" pitchFamily="34" charset="0"/>
                        </a:rPr>
                        <a:t>Kiểm</a:t>
                      </a:r>
                      <a:r>
                        <a:rPr lang="en-US" b="1" dirty="0">
                          <a:solidFill>
                            <a:srgbClr val="1F1F1F"/>
                          </a:solidFill>
                          <a:effectLst/>
                          <a:latin typeface="Segoe UI" panose="020B0502040204020203" pitchFamily="34" charset="0"/>
                          <a:cs typeface="Segoe UI" panose="020B0502040204020203" pitchFamily="34" charset="0"/>
                        </a:rPr>
                        <a:t> </a:t>
                      </a:r>
                      <a:r>
                        <a:rPr lang="en-US" b="1" dirty="0" err="1">
                          <a:solidFill>
                            <a:srgbClr val="1F1F1F"/>
                          </a:solidFill>
                          <a:effectLst/>
                          <a:latin typeface="Segoe UI" panose="020B0502040204020203" pitchFamily="34" charset="0"/>
                          <a:cs typeface="Segoe UI" panose="020B0502040204020203" pitchFamily="34" charset="0"/>
                        </a:rPr>
                        <a:t>soát</a:t>
                      </a:r>
                      <a:r>
                        <a:rPr lang="en-US" b="1" dirty="0">
                          <a:solidFill>
                            <a:srgbClr val="1F1F1F"/>
                          </a:solidFill>
                          <a:effectLst/>
                          <a:latin typeface="Segoe UI" panose="020B0502040204020203" pitchFamily="34" charset="0"/>
                          <a:cs typeface="Segoe UI" panose="020B0502040204020203" pitchFamily="34" charset="0"/>
                        </a:rPr>
                        <a:t>:</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Lọc</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nội</a:t>
                      </a:r>
                      <a:r>
                        <a:rPr lang="en-US" dirty="0">
                          <a:solidFill>
                            <a:srgbClr val="1F1F1F"/>
                          </a:solidFill>
                          <a:effectLst/>
                          <a:latin typeface="Segoe UI" panose="020B0502040204020203" pitchFamily="34" charset="0"/>
                          <a:cs typeface="Segoe UI" panose="020B0502040204020203" pitchFamily="34" charset="0"/>
                        </a:rPr>
                        <a:t> dung </a:t>
                      </a:r>
                      <a:r>
                        <a:rPr lang="en-US" dirty="0" err="1">
                          <a:solidFill>
                            <a:srgbClr val="1F1F1F"/>
                          </a:solidFill>
                          <a:effectLst/>
                          <a:latin typeface="Segoe UI" panose="020B0502040204020203" pitchFamily="34" charset="0"/>
                          <a:cs typeface="Segoe UI" panose="020B0502040204020203" pitchFamily="34" charset="0"/>
                        </a:rPr>
                        <a:t>độc</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hại</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đảm</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bảo</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phản</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hồi</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tuân</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thủ</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tiêu</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chuẩn</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đạo</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đức</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doanh</a:t>
                      </a:r>
                      <a:r>
                        <a:rPr lang="en-US" dirty="0">
                          <a:solidFill>
                            <a:srgbClr val="1F1F1F"/>
                          </a:solidFill>
                          <a:effectLst/>
                          <a:latin typeface="Segoe UI" panose="020B0502040204020203" pitchFamily="34" charset="0"/>
                          <a:cs typeface="Segoe UI" panose="020B0502040204020203" pitchFamily="34" charset="0"/>
                        </a:rPr>
                        <a:t> </a:t>
                      </a:r>
                      <a:r>
                        <a:rPr lang="en-US" dirty="0" err="1">
                          <a:solidFill>
                            <a:srgbClr val="1F1F1F"/>
                          </a:solidFill>
                          <a:effectLst/>
                          <a:latin typeface="Segoe UI" panose="020B0502040204020203" pitchFamily="34" charset="0"/>
                          <a:cs typeface="Segoe UI" panose="020B0502040204020203" pitchFamily="34" charset="0"/>
                        </a:rPr>
                        <a:t>nghiệp</a:t>
                      </a:r>
                      <a:r>
                        <a:rPr lang="en-US" dirty="0">
                          <a:solidFill>
                            <a:srgbClr val="1F1F1F"/>
                          </a:solidFill>
                          <a:effectLst/>
                          <a:latin typeface="Segoe UI" panose="020B0502040204020203" pitchFamily="34" charset="0"/>
                          <a:cs typeface="Segoe UI" panose="020B0502040204020203" pitchFamily="34" charset="0"/>
                        </a:rPr>
                        <a:t>.</a:t>
                      </a:r>
                    </a:p>
                  </a:txBody>
                  <a:tcPr marT="101600" marB="101600" anchor="ctr"/>
                </a:tc>
                <a:extLst>
                  <a:ext uri="{0D108BD9-81ED-4DB2-BD59-A6C34878D82A}">
                    <a16:rowId xmlns:a16="http://schemas.microsoft.com/office/drawing/2014/main" val="4179272224"/>
                  </a:ext>
                </a:extLst>
              </a:tr>
            </a:tbl>
          </a:graphicData>
        </a:graphic>
      </p:graphicFrame>
    </p:spTree>
    <p:extLst>
      <p:ext uri="{BB962C8B-B14F-4D97-AF65-F5344CB8AC3E}">
        <p14:creationId xmlns:p14="http://schemas.microsoft.com/office/powerpoint/2010/main" val="233151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F08F0-C990-5C33-E295-D5012392963E}"/>
            </a:ext>
          </a:extLst>
        </p:cNvPr>
        <p:cNvGrpSpPr/>
        <p:nvPr/>
      </p:nvGrpSpPr>
      <p:grpSpPr>
        <a:xfrm>
          <a:off x="0" y="0"/>
          <a:ext cx="0" cy="0"/>
          <a:chOff x="0" y="0"/>
          <a:chExt cx="0" cy="0"/>
        </a:xfrm>
      </p:grpSpPr>
      <p:sp>
        <p:nvSpPr>
          <p:cNvPr id="8" name="TextBox 8">
            <a:extLst>
              <a:ext uri="{FF2B5EF4-FFF2-40B4-BE49-F238E27FC236}">
                <a16:creationId xmlns:a16="http://schemas.microsoft.com/office/drawing/2014/main" id="{0B8A885D-B067-5737-FD86-EBC50BD26598}"/>
              </a:ext>
            </a:extLst>
          </p:cNvPr>
          <p:cNvSpPr txBox="1"/>
          <p:nvPr/>
        </p:nvSpPr>
        <p:spPr>
          <a:xfrm>
            <a:off x="1295400" y="899263"/>
            <a:ext cx="12496800" cy="923330"/>
          </a:xfrm>
          <a:prstGeom prst="rect">
            <a:avLst/>
          </a:prstGeom>
        </p:spPr>
        <p:txBody>
          <a:bodyPr wrap="square" lIns="0" tIns="0" rIns="0" bIns="0" rtlCol="0" anchor="t">
            <a:spAutoFit/>
          </a:bodyPr>
          <a:lstStyle/>
          <a:p>
            <a:r>
              <a:rPr lang="en-US" sz="6000" dirty="0">
                <a:latin typeface="Segoe UI" panose="020B0502040204020203" pitchFamily="34" charset="0"/>
                <a:cs typeface="Segoe UI" panose="020B0502040204020203" pitchFamily="34" charset="0"/>
              </a:rPr>
              <a:t>      </a:t>
            </a:r>
            <a:r>
              <a:rPr lang="en-US" sz="6000" b="1" dirty="0">
                <a:solidFill>
                  <a:srgbClr val="1836B2"/>
                </a:solidFill>
                <a:latin typeface="Muli Bold"/>
              </a:rPr>
              <a:t>Azure AI Foundry</a:t>
            </a:r>
          </a:p>
        </p:txBody>
      </p:sp>
      <p:pic>
        <p:nvPicPr>
          <p:cNvPr id="2050" name="Picture 2" descr="Microsoft Azure Icon 2022">
            <a:extLst>
              <a:ext uri="{FF2B5EF4-FFF2-40B4-BE49-F238E27FC236}">
                <a16:creationId xmlns:a16="http://schemas.microsoft.com/office/drawing/2014/main" id="{A3F4E233-F12B-60C8-E635-9C590B0E10A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560600" y="167857"/>
            <a:ext cx="3200400" cy="1800225"/>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B68E8E9-74DB-18B4-1A58-043E6A6251C6}"/>
              </a:ext>
            </a:extLst>
          </p:cNvPr>
          <p:cNvSpPr txBox="1"/>
          <p:nvPr/>
        </p:nvSpPr>
        <p:spPr>
          <a:xfrm>
            <a:off x="1524001" y="2628900"/>
            <a:ext cx="9144000" cy="4801314"/>
          </a:xfrm>
          <a:prstGeom prst="rect">
            <a:avLst/>
          </a:prstGeom>
          <a:noFill/>
        </p:spPr>
        <p:txBody>
          <a:bodyPr wrap="square" rtlCol="0">
            <a:spAutoFit/>
          </a:bodyPr>
          <a:lstStyle/>
          <a:p>
            <a:endParaRPr lang="en-US" dirty="0">
              <a:latin typeface="Segoe UI" panose="020B0502040204020203" pitchFamily="34" charset="0"/>
              <a:cs typeface="Segoe UI" panose="020B0502040204020203" pitchFamily="34" charset="0"/>
            </a:endParaRPr>
          </a:p>
          <a:p>
            <a:r>
              <a:rPr lang="en-US" dirty="0" err="1">
                <a:latin typeface="Segoe UI" panose="020B0502040204020203" pitchFamily="34" charset="0"/>
                <a:cs typeface="Segoe UI" panose="020B0502040204020203" pitchFamily="34" charset="0"/>
              </a:rPr>
              <a:t>Nền</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tảng</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phát</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triển</a:t>
            </a:r>
            <a:r>
              <a:rPr lang="en-US" dirty="0">
                <a:latin typeface="Segoe UI" panose="020B0502040204020203" pitchFamily="34" charset="0"/>
                <a:cs typeface="Segoe UI" panose="020B0502040204020203" pitchFamily="34" charset="0"/>
              </a:rPr>
              <a:t> AI end-to-end </a:t>
            </a:r>
            <a:r>
              <a:rPr lang="en-US" dirty="0" err="1">
                <a:latin typeface="Segoe UI" panose="020B0502040204020203" pitchFamily="34" charset="0"/>
                <a:cs typeface="Segoe UI" panose="020B0502040204020203" pitchFamily="34" charset="0"/>
              </a:rPr>
              <a:t>trên</a:t>
            </a:r>
            <a:r>
              <a:rPr lang="en-US" dirty="0">
                <a:latin typeface="Segoe UI" panose="020B0502040204020203" pitchFamily="34" charset="0"/>
                <a:cs typeface="Segoe UI" panose="020B0502040204020203" pitchFamily="34" charset="0"/>
              </a:rPr>
              <a:t> Azure</a:t>
            </a:r>
          </a:p>
          <a:p>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Vai </a:t>
            </a:r>
            <a:r>
              <a:rPr lang="en-US" b="1" dirty="0" err="1">
                <a:latin typeface="Segoe UI" panose="020B0502040204020203" pitchFamily="34" charset="0"/>
                <a:cs typeface="Segoe UI" panose="020B0502040204020203" pitchFamily="34" charset="0"/>
              </a:rPr>
              <a:t>trò</a:t>
            </a:r>
            <a:endParaRPr lang="en-US" b="1" dirty="0">
              <a:latin typeface="Segoe UI" panose="020B0502040204020203" pitchFamily="34" charset="0"/>
              <a:cs typeface="Segoe UI" panose="020B0502040204020203" pitchFamily="34" charset="0"/>
            </a:endParaRPr>
          </a:p>
          <a:p>
            <a:r>
              <a:rPr lang="en-US" dirty="0">
                <a:latin typeface="Segoe UI" panose="020B0502040204020203" pitchFamily="34" charset="0"/>
                <a:cs typeface="Segoe UI" panose="020B0502040204020203" pitchFamily="34" charset="0"/>
              </a:rPr>
              <a:t>Central hub </a:t>
            </a:r>
            <a:r>
              <a:rPr lang="en-US" dirty="0" err="1">
                <a:latin typeface="Segoe UI" panose="020B0502040204020203" pitchFamily="34" charset="0"/>
                <a:cs typeface="Segoe UI" panose="020B0502040204020203" pitchFamily="34" charset="0"/>
              </a:rPr>
              <a:t>cho</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toàn</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bộ</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hệ</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thống</a:t>
            </a:r>
            <a:r>
              <a:rPr lang="en-US" dirty="0">
                <a:latin typeface="Segoe UI" panose="020B0502040204020203" pitchFamily="34" charset="0"/>
                <a:cs typeface="Segoe UI" panose="020B0502040204020203" pitchFamily="34" charset="0"/>
              </a:rPr>
              <a:t> AI </a:t>
            </a:r>
          </a:p>
          <a:p>
            <a:r>
              <a:rPr lang="en-US" dirty="0">
                <a:latin typeface="Segoe UI" panose="020B0502040204020203" pitchFamily="34" charset="0"/>
                <a:cs typeface="Segoe UI" panose="020B0502040204020203" pitchFamily="34" charset="0"/>
              </a:rPr>
              <a:t>Orchestrate </a:t>
            </a:r>
            <a:r>
              <a:rPr lang="en-US" dirty="0" err="1">
                <a:latin typeface="Segoe UI" panose="020B0502040204020203" pitchFamily="34" charset="0"/>
                <a:cs typeface="Segoe UI" panose="020B0502040204020203" pitchFamily="34" charset="0"/>
              </a:rPr>
              <a:t>các</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dịch</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vụ</a:t>
            </a:r>
            <a:r>
              <a:rPr lang="en-US" dirty="0">
                <a:latin typeface="Segoe UI" panose="020B0502040204020203" pitchFamily="34" charset="0"/>
                <a:cs typeface="Segoe UI" panose="020B0502040204020203" pitchFamily="34" charset="0"/>
              </a:rPr>
              <a:t>: OpenAI, Search, Vision, Language</a:t>
            </a:r>
          </a:p>
          <a:p>
            <a:endParaRPr lang="en-US" dirty="0">
              <a:latin typeface="Segoe UI" panose="020B0502040204020203" pitchFamily="34" charset="0"/>
              <a:cs typeface="Segoe UI" panose="020B0502040204020203" pitchFamily="34" charset="0"/>
            </a:endParaRPr>
          </a:p>
          <a:p>
            <a:r>
              <a:rPr lang="en-US" b="1" dirty="0" err="1">
                <a:latin typeface="Segoe UI" panose="020B0502040204020203" pitchFamily="34" charset="0"/>
                <a:cs typeface="Segoe UI" panose="020B0502040204020203" pitchFamily="34" charset="0"/>
              </a:rPr>
              <a:t>Khả</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năng</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chính</a:t>
            </a:r>
            <a:endParaRPr lang="en-US" b="1" dirty="0">
              <a:latin typeface="Segoe UI" panose="020B0502040204020203" pitchFamily="34" charset="0"/>
              <a:cs typeface="Segoe UI" panose="020B0502040204020203" pitchFamily="34" charset="0"/>
            </a:endParaRPr>
          </a:p>
          <a:p>
            <a:r>
              <a:rPr lang="en-US" dirty="0">
                <a:latin typeface="Segoe UI" panose="020B0502040204020203" pitchFamily="34" charset="0"/>
                <a:cs typeface="Segoe UI" panose="020B0502040204020203" pitchFamily="34" charset="0"/>
              </a:rPr>
              <a:t>Model management (deploy, versioning) </a:t>
            </a:r>
          </a:p>
          <a:p>
            <a:r>
              <a:rPr lang="en-US" dirty="0">
                <a:latin typeface="Segoe UI" panose="020B0502040204020203" pitchFamily="34" charset="0"/>
                <a:cs typeface="Segoe UI" panose="020B0502040204020203" pitchFamily="34" charset="0"/>
              </a:rPr>
              <a:t>Data integration (RAG – Retrieval-Augmented Generation) </a:t>
            </a:r>
          </a:p>
          <a:p>
            <a:r>
              <a:rPr lang="en-US" dirty="0">
                <a:latin typeface="Segoe UI" panose="020B0502040204020203" pitchFamily="34" charset="0"/>
                <a:cs typeface="Segoe UI" panose="020B0502040204020203" pitchFamily="34" charset="0"/>
              </a:rPr>
              <a:t>Prompt orchestration </a:t>
            </a:r>
          </a:p>
          <a:p>
            <a:r>
              <a:rPr lang="en-US" dirty="0">
                <a:latin typeface="Segoe UI" panose="020B0502040204020203" pitchFamily="34" charset="0"/>
                <a:cs typeface="Segoe UI" panose="020B0502040204020203" pitchFamily="34" charset="0"/>
              </a:rPr>
              <a:t>Evaluation &amp; monitoring </a:t>
            </a:r>
          </a:p>
          <a:p>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Use case</a:t>
            </a:r>
          </a:p>
          <a:p>
            <a:r>
              <a:rPr lang="en-US" dirty="0" err="1">
                <a:latin typeface="Segoe UI" panose="020B0502040204020203" pitchFamily="34" charset="0"/>
                <a:cs typeface="Segoe UI" panose="020B0502040204020203" pitchFamily="34" charset="0"/>
              </a:rPr>
              <a:t>Xây</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dựng</a:t>
            </a:r>
            <a:r>
              <a:rPr lang="en-US" dirty="0">
                <a:latin typeface="Segoe UI" panose="020B0502040204020203" pitchFamily="34" charset="0"/>
                <a:cs typeface="Segoe UI" panose="020B0502040204020203" pitchFamily="34" charset="0"/>
              </a:rPr>
              <a:t> AI chatbot </a:t>
            </a:r>
          </a:p>
          <a:p>
            <a:r>
              <a:rPr lang="en-US" dirty="0" err="1">
                <a:latin typeface="Segoe UI" panose="020B0502040204020203" pitchFamily="34" charset="0"/>
                <a:cs typeface="Segoe UI" panose="020B0502040204020203" pitchFamily="34" charset="0"/>
              </a:rPr>
              <a:t>Ứng</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dụng</a:t>
            </a:r>
            <a:r>
              <a:rPr lang="en-US" dirty="0">
                <a:latin typeface="Segoe UI" panose="020B0502040204020203" pitchFamily="34" charset="0"/>
                <a:cs typeface="Segoe UI" panose="020B0502040204020203" pitchFamily="34" charset="0"/>
              </a:rPr>
              <a:t> RAG </a:t>
            </a:r>
            <a:r>
              <a:rPr lang="en-US" dirty="0" err="1">
                <a:latin typeface="Segoe UI" panose="020B0502040204020203" pitchFamily="34" charset="0"/>
                <a:cs typeface="Segoe UI" panose="020B0502040204020203" pitchFamily="34" charset="0"/>
              </a:rPr>
              <a:t>với</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dữ</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liệu</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nội</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bộ</a:t>
            </a:r>
            <a:r>
              <a:rPr lang="en-US" dirty="0">
                <a:latin typeface="Segoe UI" panose="020B0502040204020203" pitchFamily="34" charset="0"/>
                <a:cs typeface="Segoe UI" panose="020B0502040204020203" pitchFamily="34" charset="0"/>
              </a:rPr>
              <a:t> </a:t>
            </a:r>
          </a:p>
          <a:p>
            <a:endParaRPr lang="en-US" dirty="0">
              <a:latin typeface="Segoe UI" panose="020B0502040204020203" pitchFamily="34" charset="0"/>
              <a:cs typeface="Segoe UI" panose="020B0502040204020203" pitchFamily="34" charset="0"/>
            </a:endParaRPr>
          </a:p>
        </p:txBody>
      </p:sp>
      <p:pic>
        <p:nvPicPr>
          <p:cNvPr id="2" name="Graphic 1">
            <a:extLst>
              <a:ext uri="{FF2B5EF4-FFF2-40B4-BE49-F238E27FC236}">
                <a16:creationId xmlns:a16="http://schemas.microsoft.com/office/drawing/2014/main" id="{A5453226-45D2-44FD-EE35-7788AF6569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08265" y="1034381"/>
            <a:ext cx="767925" cy="767925"/>
          </a:xfrm>
          <a:prstGeom prst="rect">
            <a:avLst/>
          </a:prstGeom>
        </p:spPr>
      </p:pic>
      <p:pic>
        <p:nvPicPr>
          <p:cNvPr id="5" name="Picture 4">
            <a:extLst>
              <a:ext uri="{FF2B5EF4-FFF2-40B4-BE49-F238E27FC236}">
                <a16:creationId xmlns:a16="http://schemas.microsoft.com/office/drawing/2014/main" id="{C395565A-5C59-EA7C-FC49-86F4D0CE0DD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75038" y="2630384"/>
            <a:ext cx="9685962" cy="5447385"/>
          </a:xfrm>
          <a:prstGeom prst="rect">
            <a:avLst/>
          </a:prstGeom>
        </p:spPr>
      </p:pic>
    </p:spTree>
    <p:extLst>
      <p:ext uri="{BB962C8B-B14F-4D97-AF65-F5344CB8AC3E}">
        <p14:creationId xmlns:p14="http://schemas.microsoft.com/office/powerpoint/2010/main" val="3404066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8AD49-E3CE-C4D8-3C66-9547422A30BC}"/>
            </a:ext>
          </a:extLst>
        </p:cNvPr>
        <p:cNvGrpSpPr/>
        <p:nvPr/>
      </p:nvGrpSpPr>
      <p:grpSpPr>
        <a:xfrm>
          <a:off x="0" y="0"/>
          <a:ext cx="0" cy="0"/>
          <a:chOff x="0" y="0"/>
          <a:chExt cx="0" cy="0"/>
        </a:xfrm>
      </p:grpSpPr>
      <p:sp>
        <p:nvSpPr>
          <p:cNvPr id="8" name="TextBox 8">
            <a:extLst>
              <a:ext uri="{FF2B5EF4-FFF2-40B4-BE49-F238E27FC236}">
                <a16:creationId xmlns:a16="http://schemas.microsoft.com/office/drawing/2014/main" id="{C755C608-1660-1870-C6E1-BE212A5452AF}"/>
              </a:ext>
            </a:extLst>
          </p:cNvPr>
          <p:cNvSpPr txBox="1"/>
          <p:nvPr/>
        </p:nvSpPr>
        <p:spPr>
          <a:xfrm>
            <a:off x="1295400" y="899263"/>
            <a:ext cx="12496800" cy="1068819"/>
          </a:xfrm>
          <a:prstGeom prst="rect">
            <a:avLst/>
          </a:prstGeom>
        </p:spPr>
        <p:txBody>
          <a:bodyPr wrap="square" lIns="0" tIns="0" rIns="0" bIns="0" rtlCol="0" anchor="t">
            <a:spAutoFit/>
          </a:bodyPr>
          <a:lstStyle/>
          <a:p>
            <a:pPr algn="l">
              <a:lnSpc>
                <a:spcPts val="9240"/>
              </a:lnSpc>
            </a:pPr>
            <a:r>
              <a:rPr lang="en-US" sz="6000" b="1" dirty="0">
                <a:solidFill>
                  <a:srgbClr val="1836B2"/>
                </a:solidFill>
                <a:latin typeface="Segoe UI" panose="020B0502040204020203" pitchFamily="34" charset="0"/>
                <a:ea typeface="Muli Bold"/>
                <a:cs typeface="Segoe UI" panose="020B0502040204020203" pitchFamily="34" charset="0"/>
                <a:sym typeface="Muli Bold"/>
              </a:rPr>
              <a:t>      Azure OpenAI (GPT &amp; DALL-E)</a:t>
            </a:r>
          </a:p>
        </p:txBody>
      </p:sp>
      <p:pic>
        <p:nvPicPr>
          <p:cNvPr id="2050" name="Picture 2" descr="Microsoft Azure Icon 2022">
            <a:extLst>
              <a:ext uri="{FF2B5EF4-FFF2-40B4-BE49-F238E27FC236}">
                <a16:creationId xmlns:a16="http://schemas.microsoft.com/office/drawing/2014/main" id="{8B616063-8A07-2474-212D-BD9459B46E8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560600" y="167857"/>
            <a:ext cx="3200400" cy="1800225"/>
          </a:xfrm>
          <a:prstGeom prst="rect">
            <a:avLst/>
          </a:prstGeom>
          <a:noFill/>
          <a:extLst>
            <a:ext uri="{909E8E84-426E-40DD-AFC4-6F175D3DCCD1}">
              <a14:hiddenFill xmlns:a14="http://schemas.microsoft.com/office/drawing/2010/main">
                <a:solidFill>
                  <a:srgbClr val="FFFFFF"/>
                </a:solidFill>
              </a14:hiddenFill>
            </a:ext>
          </a:extLst>
        </p:spPr>
      </p:pic>
      <p:pic>
        <p:nvPicPr>
          <p:cNvPr id="4" name="Graphic 3">
            <a:extLst>
              <a:ext uri="{FF2B5EF4-FFF2-40B4-BE49-F238E27FC236}">
                <a16:creationId xmlns:a16="http://schemas.microsoft.com/office/drawing/2014/main" id="{360B3F4B-055D-A6B9-F826-ECE36857653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3606" y="1042055"/>
            <a:ext cx="844055" cy="844055"/>
          </a:xfrm>
          <a:prstGeom prst="rect">
            <a:avLst/>
          </a:prstGeom>
        </p:spPr>
      </p:pic>
      <p:pic>
        <p:nvPicPr>
          <p:cNvPr id="7" name="Picture 6">
            <a:extLst>
              <a:ext uri="{FF2B5EF4-FFF2-40B4-BE49-F238E27FC236}">
                <a16:creationId xmlns:a16="http://schemas.microsoft.com/office/drawing/2014/main" id="{A58F7243-3DDF-9A56-4BFA-FECCF9486675}"/>
              </a:ext>
            </a:extLst>
          </p:cNvPr>
          <p:cNvPicPr>
            <a:picLocks noChangeAspect="1"/>
          </p:cNvPicPr>
          <p:nvPr/>
        </p:nvPicPr>
        <p:blipFill>
          <a:blip r:embed="rId5"/>
          <a:stretch>
            <a:fillRect/>
          </a:stretch>
        </p:blipFill>
        <p:spPr>
          <a:xfrm>
            <a:off x="11192702" y="2147721"/>
            <a:ext cx="5198996" cy="3903059"/>
          </a:xfrm>
          <a:prstGeom prst="rect">
            <a:avLst/>
          </a:prstGeom>
        </p:spPr>
      </p:pic>
      <p:pic>
        <p:nvPicPr>
          <p:cNvPr id="11" name="Picture 10">
            <a:extLst>
              <a:ext uri="{FF2B5EF4-FFF2-40B4-BE49-F238E27FC236}">
                <a16:creationId xmlns:a16="http://schemas.microsoft.com/office/drawing/2014/main" id="{1BAACBD8-A0D6-D661-F4AC-027EF2A8E421}"/>
              </a:ext>
            </a:extLst>
          </p:cNvPr>
          <p:cNvPicPr>
            <a:picLocks noChangeAspect="1"/>
          </p:cNvPicPr>
          <p:nvPr/>
        </p:nvPicPr>
        <p:blipFill>
          <a:blip r:embed="rId6"/>
          <a:stretch>
            <a:fillRect/>
          </a:stretch>
        </p:blipFill>
        <p:spPr>
          <a:xfrm>
            <a:off x="11128498" y="6253269"/>
            <a:ext cx="5263200" cy="3216800"/>
          </a:xfrm>
          <a:prstGeom prst="rect">
            <a:avLst/>
          </a:prstGeom>
        </p:spPr>
      </p:pic>
      <p:sp>
        <p:nvSpPr>
          <p:cNvPr id="12" name="TextBox 11">
            <a:extLst>
              <a:ext uri="{FF2B5EF4-FFF2-40B4-BE49-F238E27FC236}">
                <a16:creationId xmlns:a16="http://schemas.microsoft.com/office/drawing/2014/main" id="{83564B85-2901-402E-3A5A-0FAEA8D9785D}"/>
              </a:ext>
            </a:extLst>
          </p:cNvPr>
          <p:cNvSpPr txBox="1"/>
          <p:nvPr/>
        </p:nvSpPr>
        <p:spPr>
          <a:xfrm>
            <a:off x="1524001" y="2628900"/>
            <a:ext cx="9144000" cy="5355312"/>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Generative AI – </a:t>
            </a:r>
            <a:r>
              <a:rPr lang="en-US" b="1" dirty="0" err="1">
                <a:latin typeface="Segoe UI" panose="020B0502040204020203" pitchFamily="34" charset="0"/>
                <a:cs typeface="Segoe UI" panose="020B0502040204020203" pitchFamily="34" charset="0"/>
              </a:rPr>
              <a:t>tạo</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nội</a:t>
            </a:r>
            <a:r>
              <a:rPr lang="en-US" b="1" dirty="0">
                <a:latin typeface="Segoe UI" panose="020B0502040204020203" pitchFamily="34" charset="0"/>
                <a:cs typeface="Segoe UI" panose="020B0502040204020203" pitchFamily="34" charset="0"/>
              </a:rPr>
              <a:t> dung </a:t>
            </a:r>
            <a:r>
              <a:rPr lang="en-US" b="1" dirty="0" err="1">
                <a:latin typeface="Segoe UI" panose="020B0502040204020203" pitchFamily="34" charset="0"/>
                <a:cs typeface="Segoe UI" panose="020B0502040204020203" pitchFamily="34" charset="0"/>
              </a:rPr>
              <a:t>từ</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dữ</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liệu</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đầu</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vào</a:t>
            </a:r>
            <a:endParaRPr lang="en-US" b="1" dirty="0">
              <a:latin typeface="Segoe UI" panose="020B0502040204020203" pitchFamily="34" charset="0"/>
              <a:cs typeface="Segoe UI" panose="020B0502040204020203" pitchFamily="34" charset="0"/>
            </a:endParaRPr>
          </a:p>
          <a:p>
            <a:br>
              <a:rPr lang="en-US" dirty="0">
                <a:latin typeface="Segoe UI" panose="020B0502040204020203" pitchFamily="34" charset="0"/>
                <a:cs typeface="Segoe UI" panose="020B0502040204020203" pitchFamily="34" charset="0"/>
              </a:rPr>
            </a:br>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GPT (Text generation)</a:t>
            </a:r>
          </a:p>
          <a:p>
            <a:r>
              <a:rPr lang="en-US" dirty="0" err="1">
                <a:latin typeface="Segoe UI" panose="020B0502040204020203" pitchFamily="34" charset="0"/>
                <a:cs typeface="Segoe UI" panose="020B0502040204020203" pitchFamily="34" charset="0"/>
              </a:rPr>
              <a:t>Tạo</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nội</a:t>
            </a:r>
            <a:r>
              <a:rPr lang="en-US" dirty="0">
                <a:latin typeface="Segoe UI" panose="020B0502040204020203" pitchFamily="34" charset="0"/>
                <a:cs typeface="Segoe UI" panose="020B0502040204020203" pitchFamily="34" charset="0"/>
              </a:rPr>
              <a:t> dung: chatbot, Q&amp;A, summarization </a:t>
            </a:r>
          </a:p>
          <a:p>
            <a:r>
              <a:rPr lang="en-US" dirty="0" err="1">
                <a:latin typeface="Segoe UI" panose="020B0502040204020203" pitchFamily="34" charset="0"/>
                <a:cs typeface="Segoe UI" panose="020B0502040204020203" pitchFamily="34" charset="0"/>
              </a:rPr>
              <a:t>Hiểu</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ngữ</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cảnh</a:t>
            </a:r>
            <a:r>
              <a:rPr lang="en-US" dirty="0">
                <a:latin typeface="Segoe UI" panose="020B0502040204020203" pitchFamily="34" charset="0"/>
                <a:cs typeface="Segoe UI" panose="020B0502040204020203" pitchFamily="34" charset="0"/>
              </a:rPr>
              <a:t> &amp; </a:t>
            </a:r>
            <a:r>
              <a:rPr lang="en-US" dirty="0" err="1">
                <a:latin typeface="Segoe UI" panose="020B0502040204020203" pitchFamily="34" charset="0"/>
                <a:cs typeface="Segoe UI" panose="020B0502040204020203" pitchFamily="34" charset="0"/>
              </a:rPr>
              <a:t>hội</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thoại</a:t>
            </a:r>
            <a:r>
              <a:rPr lang="en-US" dirty="0">
                <a:latin typeface="Segoe UI" panose="020B0502040204020203" pitchFamily="34" charset="0"/>
                <a:cs typeface="Segoe UI" panose="020B0502040204020203" pitchFamily="34" charset="0"/>
              </a:rPr>
              <a:t> </a:t>
            </a:r>
          </a:p>
          <a:p>
            <a:r>
              <a:rPr lang="en-US" dirty="0" err="1">
                <a:latin typeface="Segoe UI" panose="020B0502040204020203" pitchFamily="34" charset="0"/>
                <a:cs typeface="Segoe UI" panose="020B0502040204020203" pitchFamily="34" charset="0"/>
              </a:rPr>
              <a:t>Có</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thể</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kết</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hợp</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với</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dữ</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liệu</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nội</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bộ</a:t>
            </a:r>
            <a:r>
              <a:rPr lang="en-US" dirty="0">
                <a:latin typeface="Segoe UI" panose="020B0502040204020203" pitchFamily="34" charset="0"/>
                <a:cs typeface="Segoe UI" panose="020B0502040204020203" pitchFamily="34" charset="0"/>
              </a:rPr>
              <a:t> (RAG) </a:t>
            </a:r>
          </a:p>
          <a:p>
            <a:br>
              <a:rPr lang="en-US" dirty="0">
                <a:latin typeface="Segoe UI" panose="020B0502040204020203" pitchFamily="34" charset="0"/>
                <a:cs typeface="Segoe UI" panose="020B0502040204020203" pitchFamily="34" charset="0"/>
              </a:rPr>
            </a:br>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DALL·E (Image generation)</a:t>
            </a:r>
          </a:p>
          <a:p>
            <a:r>
              <a:rPr lang="en-US" dirty="0" err="1">
                <a:latin typeface="Segoe UI" panose="020B0502040204020203" pitchFamily="34" charset="0"/>
                <a:cs typeface="Segoe UI" panose="020B0502040204020203" pitchFamily="34" charset="0"/>
              </a:rPr>
              <a:t>Tạo</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hình</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ảnh</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từ</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mô</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tả</a:t>
            </a:r>
            <a:r>
              <a:rPr lang="en-US" dirty="0">
                <a:latin typeface="Segoe UI" panose="020B0502040204020203" pitchFamily="34" charset="0"/>
                <a:cs typeface="Segoe UI" panose="020B0502040204020203" pitchFamily="34" charset="0"/>
              </a:rPr>
              <a:t> text </a:t>
            </a:r>
          </a:p>
          <a:p>
            <a:r>
              <a:rPr lang="en-US" dirty="0" err="1">
                <a:latin typeface="Segoe UI" panose="020B0502040204020203" pitchFamily="34" charset="0"/>
                <a:cs typeface="Segoe UI" panose="020B0502040204020203" pitchFamily="34" charset="0"/>
              </a:rPr>
              <a:t>Ứng</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dụng</a:t>
            </a:r>
            <a:r>
              <a:rPr lang="en-US" dirty="0">
                <a:latin typeface="Segoe UI" panose="020B0502040204020203" pitchFamily="34" charset="0"/>
                <a:cs typeface="Segoe UI" panose="020B0502040204020203" pitchFamily="34" charset="0"/>
              </a:rPr>
              <a:t>: </a:t>
            </a:r>
          </a:p>
          <a:p>
            <a:pPr lvl="1"/>
            <a:r>
              <a:rPr lang="en-US" dirty="0">
                <a:latin typeface="Segoe UI" panose="020B0502040204020203" pitchFamily="34" charset="0"/>
                <a:cs typeface="Segoe UI" panose="020B0502040204020203" pitchFamily="34" charset="0"/>
              </a:rPr>
              <a:t>Marketing visuals </a:t>
            </a:r>
          </a:p>
          <a:p>
            <a:pPr lvl="1"/>
            <a:r>
              <a:rPr lang="en-US" dirty="0">
                <a:latin typeface="Segoe UI" panose="020B0502040204020203" pitchFamily="34" charset="0"/>
                <a:cs typeface="Segoe UI" panose="020B0502040204020203" pitchFamily="34" charset="0"/>
              </a:rPr>
              <a:t>Product images </a:t>
            </a:r>
          </a:p>
          <a:p>
            <a:pPr lvl="1"/>
            <a:r>
              <a:rPr lang="en-US" dirty="0">
                <a:latin typeface="Segoe UI" panose="020B0502040204020203" pitchFamily="34" charset="0"/>
                <a:cs typeface="Segoe UI" panose="020B0502040204020203" pitchFamily="34" charset="0"/>
              </a:rPr>
              <a:t>Creative design </a:t>
            </a:r>
          </a:p>
          <a:p>
            <a:br>
              <a:rPr lang="en-US" dirty="0">
                <a:latin typeface="Segoe UI" panose="020B0502040204020203" pitchFamily="34" charset="0"/>
                <a:cs typeface="Segoe UI" panose="020B0502040204020203" pitchFamily="34" charset="0"/>
              </a:rPr>
            </a:br>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Khi </a:t>
            </a:r>
            <a:r>
              <a:rPr lang="en-US" b="1" dirty="0" err="1">
                <a:latin typeface="Segoe UI" panose="020B0502040204020203" pitchFamily="34" charset="0"/>
                <a:cs typeface="Segoe UI" panose="020B0502040204020203" pitchFamily="34" charset="0"/>
              </a:rPr>
              <a:t>nào</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dùng</a:t>
            </a:r>
            <a:r>
              <a:rPr lang="en-US" b="1" dirty="0">
                <a:latin typeface="Segoe UI" panose="020B0502040204020203" pitchFamily="34" charset="0"/>
                <a:cs typeface="Segoe UI" panose="020B0502040204020203" pitchFamily="34" charset="0"/>
              </a:rPr>
              <a:t> OpenAI?</a:t>
            </a:r>
          </a:p>
          <a:p>
            <a:r>
              <a:rPr lang="en-US" dirty="0">
                <a:latin typeface="Segoe UI" panose="020B0502040204020203" pitchFamily="34" charset="0"/>
                <a:cs typeface="Segoe UI" panose="020B0502040204020203" pitchFamily="34" charset="0"/>
              </a:rPr>
              <a:t>👉 Khi </a:t>
            </a:r>
            <a:r>
              <a:rPr lang="en-US" dirty="0" err="1">
                <a:latin typeface="Segoe UI" panose="020B0502040204020203" pitchFamily="34" charset="0"/>
                <a:cs typeface="Segoe UI" panose="020B0502040204020203" pitchFamily="34" charset="0"/>
              </a:rPr>
              <a:t>cần</a:t>
            </a:r>
            <a:r>
              <a:rPr lang="en-US" dirty="0">
                <a:latin typeface="Segoe UI" panose="020B0502040204020203" pitchFamily="34" charset="0"/>
                <a:cs typeface="Segoe UI" panose="020B0502040204020203" pitchFamily="34" charset="0"/>
              </a:rPr>
              <a:t> </a:t>
            </a:r>
            <a:r>
              <a:rPr lang="en-US" b="1" dirty="0">
                <a:latin typeface="Segoe UI" panose="020B0502040204020203" pitchFamily="34" charset="0"/>
                <a:cs typeface="Segoe UI" panose="020B0502040204020203" pitchFamily="34" charset="0"/>
              </a:rPr>
              <a:t>GENERATE </a:t>
            </a:r>
            <a:r>
              <a:rPr lang="en-US" b="1" dirty="0" err="1">
                <a:latin typeface="Segoe UI" panose="020B0502040204020203" pitchFamily="34" charset="0"/>
                <a:cs typeface="Segoe UI" panose="020B0502040204020203" pitchFamily="34" charset="0"/>
              </a:rPr>
              <a:t>nội</a:t>
            </a:r>
            <a:r>
              <a:rPr lang="en-US" b="1" dirty="0">
                <a:latin typeface="Segoe UI" panose="020B0502040204020203" pitchFamily="34" charset="0"/>
                <a:cs typeface="Segoe UI" panose="020B0502040204020203" pitchFamily="34" charset="0"/>
              </a:rPr>
              <a:t> dung </a:t>
            </a:r>
            <a:r>
              <a:rPr lang="en-US" b="1" dirty="0" err="1">
                <a:latin typeface="Segoe UI" panose="020B0502040204020203" pitchFamily="34" charset="0"/>
                <a:cs typeface="Segoe UI" panose="020B0502040204020203" pitchFamily="34" charset="0"/>
              </a:rPr>
              <a:t>mới</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không</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chỉ</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phân</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tích</a:t>
            </a:r>
            <a:endParaRPr lang="en-US"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570857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31238-A106-EB1C-D118-FDDC9DF2B46F}"/>
            </a:ext>
          </a:extLst>
        </p:cNvPr>
        <p:cNvGrpSpPr/>
        <p:nvPr/>
      </p:nvGrpSpPr>
      <p:grpSpPr>
        <a:xfrm>
          <a:off x="0" y="0"/>
          <a:ext cx="0" cy="0"/>
          <a:chOff x="0" y="0"/>
          <a:chExt cx="0" cy="0"/>
        </a:xfrm>
      </p:grpSpPr>
      <p:sp>
        <p:nvSpPr>
          <p:cNvPr id="8" name="TextBox 8">
            <a:extLst>
              <a:ext uri="{FF2B5EF4-FFF2-40B4-BE49-F238E27FC236}">
                <a16:creationId xmlns:a16="http://schemas.microsoft.com/office/drawing/2014/main" id="{9F3CD4CB-B32E-57C6-A268-FFA1681B3DF2}"/>
              </a:ext>
            </a:extLst>
          </p:cNvPr>
          <p:cNvSpPr txBox="1"/>
          <p:nvPr/>
        </p:nvSpPr>
        <p:spPr>
          <a:xfrm>
            <a:off x="1295400" y="899263"/>
            <a:ext cx="12496800" cy="1068819"/>
          </a:xfrm>
          <a:prstGeom prst="rect">
            <a:avLst/>
          </a:prstGeom>
        </p:spPr>
        <p:txBody>
          <a:bodyPr wrap="square" lIns="0" tIns="0" rIns="0" bIns="0" rtlCol="0" anchor="t">
            <a:spAutoFit/>
          </a:bodyPr>
          <a:lstStyle/>
          <a:p>
            <a:pPr algn="l">
              <a:lnSpc>
                <a:spcPts val="9240"/>
              </a:lnSpc>
            </a:pPr>
            <a:r>
              <a:rPr lang="en-US" sz="6000" b="1" dirty="0">
                <a:solidFill>
                  <a:srgbClr val="1836B2"/>
                </a:solidFill>
                <a:latin typeface="Segoe UI" panose="020B0502040204020203" pitchFamily="34" charset="0"/>
                <a:ea typeface="Muli Bold"/>
                <a:cs typeface="Segoe UI" panose="020B0502040204020203" pitchFamily="34" charset="0"/>
                <a:sym typeface="Muli Bold"/>
              </a:rPr>
              <a:t>      Azure Content Safety</a:t>
            </a:r>
          </a:p>
        </p:txBody>
      </p:sp>
      <p:pic>
        <p:nvPicPr>
          <p:cNvPr id="2050" name="Picture 2" descr="Microsoft Azure Icon 2022">
            <a:extLst>
              <a:ext uri="{FF2B5EF4-FFF2-40B4-BE49-F238E27FC236}">
                <a16:creationId xmlns:a16="http://schemas.microsoft.com/office/drawing/2014/main" id="{DCF71E1C-ACF8-BEAD-0CE8-69820B8B56D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560600" y="167857"/>
            <a:ext cx="3200400" cy="1800225"/>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371E6168-D5D8-6D1D-CB56-A22AD08F5C1B}"/>
              </a:ext>
            </a:extLst>
          </p:cNvPr>
          <p:cNvSpPr txBox="1"/>
          <p:nvPr/>
        </p:nvSpPr>
        <p:spPr>
          <a:xfrm>
            <a:off x="1371600" y="2570877"/>
            <a:ext cx="14325600" cy="4801314"/>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Bảo </a:t>
            </a:r>
            <a:r>
              <a:rPr lang="en-US" b="1" dirty="0" err="1">
                <a:latin typeface="Segoe UI" panose="020B0502040204020203" pitchFamily="34" charset="0"/>
                <a:cs typeface="Segoe UI" panose="020B0502040204020203" pitchFamily="34" charset="0"/>
              </a:rPr>
              <a:t>vệ</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hệ</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thống</a:t>
            </a:r>
            <a:r>
              <a:rPr lang="en-US" b="1" dirty="0">
                <a:latin typeface="Segoe UI" panose="020B0502040204020203" pitchFamily="34" charset="0"/>
                <a:cs typeface="Segoe UI" panose="020B0502040204020203" pitchFamily="34" charset="0"/>
              </a:rPr>
              <a:t> AI </a:t>
            </a:r>
            <a:r>
              <a:rPr lang="en-US" b="1" dirty="0" err="1">
                <a:latin typeface="Segoe UI" panose="020B0502040204020203" pitchFamily="34" charset="0"/>
                <a:cs typeface="Segoe UI" panose="020B0502040204020203" pitchFamily="34" charset="0"/>
              </a:rPr>
              <a:t>khỏi</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nội</a:t>
            </a:r>
            <a:r>
              <a:rPr lang="en-US" b="1" dirty="0">
                <a:latin typeface="Segoe UI" panose="020B0502040204020203" pitchFamily="34" charset="0"/>
                <a:cs typeface="Segoe UI" panose="020B0502040204020203" pitchFamily="34" charset="0"/>
              </a:rPr>
              <a:t> dung </a:t>
            </a:r>
            <a:r>
              <a:rPr lang="en-US" b="1" dirty="0" err="1">
                <a:latin typeface="Segoe UI" panose="020B0502040204020203" pitchFamily="34" charset="0"/>
                <a:cs typeface="Segoe UI" panose="020B0502040204020203" pitchFamily="34" charset="0"/>
              </a:rPr>
              <a:t>độc</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hại</a:t>
            </a:r>
            <a:endParaRPr lang="en-US" b="1" dirty="0">
              <a:latin typeface="Segoe UI" panose="020B0502040204020203" pitchFamily="34" charset="0"/>
              <a:cs typeface="Segoe UI" panose="020B0502040204020203" pitchFamily="34" charset="0"/>
            </a:endParaRPr>
          </a:p>
          <a:p>
            <a:endParaRPr lang="en-US" dirty="0">
              <a:latin typeface="Segoe UI" panose="020B0502040204020203" pitchFamily="34" charset="0"/>
              <a:cs typeface="Segoe UI" panose="020B0502040204020203" pitchFamily="34" charset="0"/>
            </a:endParaRPr>
          </a:p>
          <a:p>
            <a:r>
              <a:rPr lang="vi-VN" b="1" dirty="0">
                <a:latin typeface="Segoe UI" panose="020B0502040204020203" pitchFamily="34" charset="0"/>
                <a:cs typeface="Segoe UI" panose="020B0502040204020203" pitchFamily="34" charset="0"/>
              </a:rPr>
              <a:t>Chức năng chính</a:t>
            </a:r>
          </a:p>
          <a:p>
            <a:r>
              <a:rPr lang="vi-VN" dirty="0">
                <a:latin typeface="Segoe UI" panose="020B0502040204020203" pitchFamily="34" charset="0"/>
                <a:cs typeface="Segoe UI" panose="020B0502040204020203" pitchFamily="34" charset="0"/>
              </a:rPr>
              <a:t>Phát hiện nội dung nguy hiểm</a:t>
            </a:r>
            <a:r>
              <a:rPr lang="en-US" dirty="0">
                <a:latin typeface="Segoe UI" panose="020B0502040204020203" pitchFamily="34" charset="0"/>
                <a:cs typeface="Segoe UI" panose="020B0502040204020203" pitchFamily="34" charset="0"/>
              </a:rPr>
              <a:t>: </a:t>
            </a:r>
            <a:r>
              <a:rPr lang="vi-VN" dirty="0">
                <a:latin typeface="Segoe UI" panose="020B0502040204020203" pitchFamily="34" charset="0"/>
                <a:cs typeface="Segoe UI" panose="020B0502040204020203" pitchFamily="34" charset="0"/>
              </a:rPr>
              <a:t>Hate / Violence / Sexual / Self-harm </a:t>
            </a:r>
          </a:p>
          <a:p>
            <a:r>
              <a:rPr lang="vi-VN" dirty="0">
                <a:latin typeface="Segoe UI" panose="020B0502040204020203" pitchFamily="34" charset="0"/>
                <a:cs typeface="Segoe UI" panose="020B0502040204020203" pitchFamily="34" charset="0"/>
              </a:rPr>
              <a:t>Đánh giá mức độ (severity scoring) </a:t>
            </a:r>
          </a:p>
          <a:p>
            <a:r>
              <a:rPr lang="vi-VN" dirty="0">
                <a:latin typeface="Segoe UI" panose="020B0502040204020203" pitchFamily="34" charset="0"/>
                <a:cs typeface="Segoe UI" panose="020B0502040204020203" pitchFamily="34" charset="0"/>
              </a:rPr>
              <a:t>Tùy chỉnh filter (block / allow) </a:t>
            </a:r>
          </a:p>
          <a:p>
            <a:br>
              <a:rPr lang="vi-VN" dirty="0">
                <a:latin typeface="Segoe UI" panose="020B0502040204020203" pitchFamily="34" charset="0"/>
                <a:cs typeface="Segoe UI" panose="020B0502040204020203" pitchFamily="34" charset="0"/>
              </a:rPr>
            </a:br>
            <a:endParaRPr lang="vi-VN" dirty="0">
              <a:latin typeface="Segoe UI" panose="020B0502040204020203" pitchFamily="34" charset="0"/>
              <a:cs typeface="Segoe UI" panose="020B0502040204020203" pitchFamily="34" charset="0"/>
            </a:endParaRPr>
          </a:p>
          <a:p>
            <a:r>
              <a:rPr lang="vi-VN" b="1" dirty="0">
                <a:latin typeface="Segoe UI" panose="020B0502040204020203" pitchFamily="34" charset="0"/>
                <a:cs typeface="Segoe UI" panose="020B0502040204020203" pitchFamily="34" charset="0"/>
              </a:rPr>
              <a:t>Vai trò trong hệ thống</a:t>
            </a:r>
          </a:p>
          <a:p>
            <a:r>
              <a:rPr lang="vi-VN" dirty="0">
                <a:latin typeface="Segoe UI" panose="020B0502040204020203" pitchFamily="34" charset="0"/>
                <a:cs typeface="Segoe UI" panose="020B0502040204020203" pitchFamily="34" charset="0"/>
              </a:rPr>
              <a:t>Guardrail cho toàn bộ AI pipeline</a:t>
            </a:r>
          </a:p>
          <a:p>
            <a:r>
              <a:rPr lang="vi-VN" dirty="0">
                <a:latin typeface="Segoe UI" panose="020B0502040204020203" pitchFamily="34" charset="0"/>
                <a:cs typeface="Segoe UI" panose="020B0502040204020203" pitchFamily="34" charset="0"/>
              </a:rPr>
              <a:t>Kiểm tra input từ user </a:t>
            </a:r>
          </a:p>
          <a:p>
            <a:r>
              <a:rPr lang="vi-VN" dirty="0">
                <a:latin typeface="Segoe UI" panose="020B0502040204020203" pitchFamily="34" charset="0"/>
                <a:cs typeface="Segoe UI" panose="020B0502040204020203" pitchFamily="34" charset="0"/>
              </a:rPr>
              <a:t>Kiểm tra output từ AI </a:t>
            </a:r>
          </a:p>
          <a:p>
            <a:br>
              <a:rPr lang="vi-VN" dirty="0">
                <a:latin typeface="Segoe UI" panose="020B0502040204020203" pitchFamily="34" charset="0"/>
                <a:cs typeface="Segoe UI" panose="020B0502040204020203" pitchFamily="34" charset="0"/>
              </a:rPr>
            </a:br>
            <a:endParaRPr lang="vi-VN" dirty="0">
              <a:latin typeface="Segoe UI" panose="020B0502040204020203" pitchFamily="34" charset="0"/>
              <a:cs typeface="Segoe UI" panose="020B0502040204020203" pitchFamily="34" charset="0"/>
            </a:endParaRPr>
          </a:p>
          <a:p>
            <a:r>
              <a:rPr lang="vi-VN" b="1" dirty="0">
                <a:latin typeface="Segoe UI" panose="020B0502040204020203" pitchFamily="34" charset="0"/>
                <a:cs typeface="Segoe UI" panose="020B0502040204020203" pitchFamily="34" charset="0"/>
              </a:rPr>
              <a:t>Use case</a:t>
            </a:r>
          </a:p>
          <a:p>
            <a:r>
              <a:rPr lang="vi-VN" dirty="0">
                <a:latin typeface="Segoe UI" panose="020B0502040204020203" pitchFamily="34" charset="0"/>
                <a:cs typeface="Segoe UI" panose="020B0502040204020203" pitchFamily="34" charset="0"/>
              </a:rPr>
              <a:t>Moderation chatbot </a:t>
            </a:r>
          </a:p>
          <a:p>
            <a:r>
              <a:rPr lang="vi-VN" dirty="0">
                <a:latin typeface="Segoe UI" panose="020B0502040204020203" pitchFamily="34" charset="0"/>
                <a:cs typeface="Segoe UI" panose="020B0502040204020203" pitchFamily="34" charset="0"/>
              </a:rPr>
              <a:t>Lọc nội dung người dùng (UGC) </a:t>
            </a:r>
          </a:p>
        </p:txBody>
      </p:sp>
      <p:pic>
        <p:nvPicPr>
          <p:cNvPr id="3" name="Graphic 2">
            <a:extLst>
              <a:ext uri="{FF2B5EF4-FFF2-40B4-BE49-F238E27FC236}">
                <a16:creationId xmlns:a16="http://schemas.microsoft.com/office/drawing/2014/main" id="{0C2873A8-7DED-89BF-6250-D772907D951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71600" y="977483"/>
            <a:ext cx="990599" cy="990599"/>
          </a:xfrm>
          <a:prstGeom prst="rect">
            <a:avLst/>
          </a:prstGeom>
        </p:spPr>
      </p:pic>
      <p:pic>
        <p:nvPicPr>
          <p:cNvPr id="6" name="Picture 5">
            <a:extLst>
              <a:ext uri="{FF2B5EF4-FFF2-40B4-BE49-F238E27FC236}">
                <a16:creationId xmlns:a16="http://schemas.microsoft.com/office/drawing/2014/main" id="{94AE1B5C-33D2-66BC-D9B6-1819DBEB70DC}"/>
              </a:ext>
            </a:extLst>
          </p:cNvPr>
          <p:cNvPicPr>
            <a:picLocks noChangeAspect="1"/>
          </p:cNvPicPr>
          <p:nvPr/>
        </p:nvPicPr>
        <p:blipFill>
          <a:blip r:embed="rId5"/>
          <a:stretch>
            <a:fillRect/>
          </a:stretch>
        </p:blipFill>
        <p:spPr>
          <a:xfrm>
            <a:off x="9109364" y="2857500"/>
            <a:ext cx="6834076" cy="4114800"/>
          </a:xfrm>
          <a:prstGeom prst="rect">
            <a:avLst/>
          </a:prstGeom>
        </p:spPr>
      </p:pic>
    </p:spTree>
    <p:extLst>
      <p:ext uri="{BB962C8B-B14F-4D97-AF65-F5344CB8AC3E}">
        <p14:creationId xmlns:p14="http://schemas.microsoft.com/office/powerpoint/2010/main" val="2326843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3A29F-46D2-64F8-9836-225599F1E68A}"/>
            </a:ext>
          </a:extLst>
        </p:cNvPr>
        <p:cNvGrpSpPr/>
        <p:nvPr/>
      </p:nvGrpSpPr>
      <p:grpSpPr>
        <a:xfrm>
          <a:off x="0" y="0"/>
          <a:ext cx="0" cy="0"/>
          <a:chOff x="0" y="0"/>
          <a:chExt cx="0" cy="0"/>
        </a:xfrm>
      </p:grpSpPr>
      <p:sp>
        <p:nvSpPr>
          <p:cNvPr id="8" name="TextBox 8">
            <a:extLst>
              <a:ext uri="{FF2B5EF4-FFF2-40B4-BE49-F238E27FC236}">
                <a16:creationId xmlns:a16="http://schemas.microsoft.com/office/drawing/2014/main" id="{1FB43E0B-C850-45AA-A7BE-3E3281E9CEC6}"/>
              </a:ext>
            </a:extLst>
          </p:cNvPr>
          <p:cNvSpPr txBox="1"/>
          <p:nvPr/>
        </p:nvSpPr>
        <p:spPr>
          <a:xfrm>
            <a:off x="1295400" y="899263"/>
            <a:ext cx="12496800" cy="1068819"/>
          </a:xfrm>
          <a:prstGeom prst="rect">
            <a:avLst/>
          </a:prstGeom>
        </p:spPr>
        <p:txBody>
          <a:bodyPr wrap="square" lIns="0" tIns="0" rIns="0" bIns="0" rtlCol="0" anchor="t">
            <a:spAutoFit/>
          </a:bodyPr>
          <a:lstStyle/>
          <a:p>
            <a:pPr algn="l">
              <a:lnSpc>
                <a:spcPts val="9240"/>
              </a:lnSpc>
            </a:pPr>
            <a:r>
              <a:rPr lang="en-US" sz="6000" b="1" dirty="0">
                <a:solidFill>
                  <a:srgbClr val="1836B2"/>
                </a:solidFill>
                <a:latin typeface="Segoe UI" panose="020B0502040204020203" pitchFamily="34" charset="0"/>
                <a:ea typeface="Muli Bold"/>
                <a:cs typeface="Segoe UI" panose="020B0502040204020203" pitchFamily="34" charset="0"/>
                <a:sym typeface="Muli Bold"/>
              </a:rPr>
              <a:t>      Azure AI Vision</a:t>
            </a:r>
          </a:p>
        </p:txBody>
      </p:sp>
      <p:pic>
        <p:nvPicPr>
          <p:cNvPr id="2050" name="Picture 2" descr="Microsoft Azure Icon 2022">
            <a:extLst>
              <a:ext uri="{FF2B5EF4-FFF2-40B4-BE49-F238E27FC236}">
                <a16:creationId xmlns:a16="http://schemas.microsoft.com/office/drawing/2014/main" id="{1B5A37E7-E909-6ACE-BFE2-A2004A1C83E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560600" y="167857"/>
            <a:ext cx="3200400" cy="1800225"/>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D50D0D4E-2959-28CB-268F-59DB45955AD1}"/>
              </a:ext>
            </a:extLst>
          </p:cNvPr>
          <p:cNvSpPr txBox="1"/>
          <p:nvPr/>
        </p:nvSpPr>
        <p:spPr>
          <a:xfrm>
            <a:off x="1524000" y="2628900"/>
            <a:ext cx="14325600" cy="5078313"/>
          </a:xfrm>
          <a:prstGeom prst="rect">
            <a:avLst/>
          </a:prstGeom>
          <a:noFill/>
        </p:spPr>
        <p:txBody>
          <a:bodyPr wrap="square" rtlCol="0">
            <a:spAutoFit/>
          </a:bodyPr>
          <a:lstStyle/>
          <a:p>
            <a:r>
              <a:rPr lang="vi-VN" b="1" dirty="0">
                <a:latin typeface="Segoe UI" panose="020B0502040204020203" pitchFamily="34" charset="0"/>
                <a:cs typeface="Segoe UI" panose="020B0502040204020203" pitchFamily="34" charset="0"/>
              </a:rPr>
              <a:t>Biến hình ảnh thành dữ liệu có thể hiểu và xử lý</a:t>
            </a:r>
          </a:p>
          <a:p>
            <a:br>
              <a:rPr lang="vi-VN" dirty="0">
                <a:latin typeface="Segoe UI" panose="020B0502040204020203" pitchFamily="34" charset="0"/>
                <a:cs typeface="Segoe UI" panose="020B0502040204020203" pitchFamily="34" charset="0"/>
              </a:rPr>
            </a:br>
            <a:endParaRPr lang="vi-VN" dirty="0">
              <a:latin typeface="Segoe UI" panose="020B0502040204020203" pitchFamily="34" charset="0"/>
              <a:cs typeface="Segoe UI" panose="020B0502040204020203" pitchFamily="34" charset="0"/>
            </a:endParaRPr>
          </a:p>
          <a:p>
            <a:r>
              <a:rPr lang="vi-VN" b="1" dirty="0">
                <a:latin typeface="Segoe UI" panose="020B0502040204020203" pitchFamily="34" charset="0"/>
                <a:cs typeface="Segoe UI" panose="020B0502040204020203" pitchFamily="34" charset="0"/>
              </a:rPr>
              <a:t>Khả năng chính</a:t>
            </a:r>
          </a:p>
          <a:p>
            <a:r>
              <a:rPr lang="vi-VN" dirty="0">
                <a:latin typeface="Segoe UI" panose="020B0502040204020203" pitchFamily="34" charset="0"/>
                <a:cs typeface="Segoe UI" panose="020B0502040204020203" pitchFamily="34" charset="0"/>
              </a:rPr>
              <a:t>OCR: trích xuất text từ ảnh </a:t>
            </a:r>
          </a:p>
          <a:p>
            <a:r>
              <a:rPr lang="vi-VN" dirty="0">
                <a:latin typeface="Segoe UI" panose="020B0502040204020203" pitchFamily="34" charset="0"/>
                <a:cs typeface="Segoe UI" panose="020B0502040204020203" pitchFamily="34" charset="0"/>
              </a:rPr>
              <a:t>Object detection: nhận diện đối tượng </a:t>
            </a:r>
          </a:p>
          <a:p>
            <a:r>
              <a:rPr lang="vi-VN" dirty="0">
                <a:latin typeface="Segoe UI" panose="020B0502040204020203" pitchFamily="34" charset="0"/>
                <a:cs typeface="Segoe UI" panose="020B0502040204020203" pitchFamily="34" charset="0"/>
              </a:rPr>
              <a:t>Image captioning: mô tả nội dung ảnh </a:t>
            </a:r>
          </a:p>
          <a:p>
            <a:r>
              <a:rPr lang="vi-VN" dirty="0">
                <a:latin typeface="Segoe UI" panose="020B0502040204020203" pitchFamily="34" charset="0"/>
                <a:cs typeface="Segoe UI" panose="020B0502040204020203" pitchFamily="34" charset="0"/>
              </a:rPr>
              <a:t>Tagging: phân loại &amp; gắn nhãn </a:t>
            </a:r>
          </a:p>
          <a:p>
            <a:br>
              <a:rPr lang="vi-VN" dirty="0">
                <a:latin typeface="Segoe UI" panose="020B0502040204020203" pitchFamily="34" charset="0"/>
                <a:cs typeface="Segoe UI" panose="020B0502040204020203" pitchFamily="34" charset="0"/>
              </a:rPr>
            </a:br>
            <a:endParaRPr lang="vi-VN" dirty="0">
              <a:latin typeface="Segoe UI" panose="020B0502040204020203" pitchFamily="34" charset="0"/>
              <a:cs typeface="Segoe UI" panose="020B0502040204020203" pitchFamily="34" charset="0"/>
            </a:endParaRPr>
          </a:p>
          <a:p>
            <a:r>
              <a:rPr lang="vi-VN" b="1" dirty="0">
                <a:latin typeface="Segoe UI" panose="020B0502040204020203" pitchFamily="34" charset="0"/>
                <a:cs typeface="Segoe UI" panose="020B0502040204020203" pitchFamily="34" charset="0"/>
              </a:rPr>
              <a:t>Use case</a:t>
            </a:r>
          </a:p>
          <a:p>
            <a:r>
              <a:rPr lang="vi-VN" dirty="0">
                <a:latin typeface="Segoe UI" panose="020B0502040204020203" pitchFamily="34" charset="0"/>
                <a:cs typeface="Segoe UI" panose="020B0502040204020203" pitchFamily="34" charset="0"/>
              </a:rPr>
              <a:t>Xử lý hóa đơn / tài liệu (OCR) </a:t>
            </a:r>
          </a:p>
          <a:p>
            <a:r>
              <a:rPr lang="vi-VN" dirty="0">
                <a:latin typeface="Segoe UI" panose="020B0502040204020203" pitchFamily="34" charset="0"/>
                <a:cs typeface="Segoe UI" panose="020B0502040204020203" pitchFamily="34" charset="0"/>
              </a:rPr>
              <a:t>Nhận diện sản phẩm </a:t>
            </a:r>
          </a:p>
          <a:p>
            <a:r>
              <a:rPr lang="vi-VN" dirty="0">
                <a:latin typeface="Segoe UI" panose="020B0502040204020203" pitchFamily="34" charset="0"/>
                <a:cs typeface="Segoe UI" panose="020B0502040204020203" pitchFamily="34" charset="0"/>
              </a:rPr>
              <a:t>Tìm kiếm bằng hình ảnh</a:t>
            </a:r>
            <a:endParaRPr lang="en-US" dirty="0">
              <a:latin typeface="Segoe UI" panose="020B0502040204020203" pitchFamily="34" charset="0"/>
              <a:cs typeface="Segoe UI" panose="020B0502040204020203" pitchFamily="34" charset="0"/>
            </a:endParaRPr>
          </a:p>
          <a:p>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Integration</a:t>
            </a:r>
          </a:p>
          <a:p>
            <a:r>
              <a:rPr lang="en-US" dirty="0">
                <a:latin typeface="Segoe UI" panose="020B0502040204020203" pitchFamily="34" charset="0"/>
                <a:cs typeface="Segoe UI" panose="020B0502040204020203" pitchFamily="34" charset="0"/>
              </a:rPr>
              <a:t>👉 Vision → OpenAI → Response</a:t>
            </a:r>
          </a:p>
          <a:p>
            <a:endParaRPr lang="vi-VN" dirty="0">
              <a:latin typeface="Segoe UI" panose="020B0502040204020203" pitchFamily="34" charset="0"/>
              <a:cs typeface="Segoe UI" panose="020B0502040204020203" pitchFamily="34" charset="0"/>
            </a:endParaRPr>
          </a:p>
        </p:txBody>
      </p:sp>
      <p:pic>
        <p:nvPicPr>
          <p:cNvPr id="4" name="Graphic 3">
            <a:extLst>
              <a:ext uri="{FF2B5EF4-FFF2-40B4-BE49-F238E27FC236}">
                <a16:creationId xmlns:a16="http://schemas.microsoft.com/office/drawing/2014/main" id="{F99DF34B-B63A-7565-A9AF-8E406B4A158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20800" y="800100"/>
            <a:ext cx="1076325" cy="1076325"/>
          </a:xfrm>
          <a:prstGeom prst="rect">
            <a:avLst/>
          </a:prstGeom>
        </p:spPr>
      </p:pic>
      <p:pic>
        <p:nvPicPr>
          <p:cNvPr id="7" name="Picture 6">
            <a:extLst>
              <a:ext uri="{FF2B5EF4-FFF2-40B4-BE49-F238E27FC236}">
                <a16:creationId xmlns:a16="http://schemas.microsoft.com/office/drawing/2014/main" id="{17B8DE2A-62F7-8B58-C90D-A8A9627FE47B}"/>
              </a:ext>
            </a:extLst>
          </p:cNvPr>
          <p:cNvPicPr>
            <a:picLocks noChangeAspect="1"/>
          </p:cNvPicPr>
          <p:nvPr/>
        </p:nvPicPr>
        <p:blipFill>
          <a:blip r:embed="rId5"/>
          <a:stretch>
            <a:fillRect/>
          </a:stretch>
        </p:blipFill>
        <p:spPr>
          <a:xfrm>
            <a:off x="9601200" y="3108065"/>
            <a:ext cx="4834495" cy="4119981"/>
          </a:xfrm>
          <a:prstGeom prst="rect">
            <a:avLst/>
          </a:prstGeom>
        </p:spPr>
      </p:pic>
    </p:spTree>
    <p:extLst>
      <p:ext uri="{BB962C8B-B14F-4D97-AF65-F5344CB8AC3E}">
        <p14:creationId xmlns:p14="http://schemas.microsoft.com/office/powerpoint/2010/main" val="3398728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20891-6F6B-F4EB-9E46-441A3C09FCBB}"/>
            </a:ext>
          </a:extLst>
        </p:cNvPr>
        <p:cNvGrpSpPr/>
        <p:nvPr/>
      </p:nvGrpSpPr>
      <p:grpSpPr>
        <a:xfrm>
          <a:off x="0" y="0"/>
          <a:ext cx="0" cy="0"/>
          <a:chOff x="0" y="0"/>
          <a:chExt cx="0" cy="0"/>
        </a:xfrm>
      </p:grpSpPr>
      <p:sp>
        <p:nvSpPr>
          <p:cNvPr id="8" name="TextBox 8">
            <a:extLst>
              <a:ext uri="{FF2B5EF4-FFF2-40B4-BE49-F238E27FC236}">
                <a16:creationId xmlns:a16="http://schemas.microsoft.com/office/drawing/2014/main" id="{3FD9ADD5-4CD2-9F6C-1E5A-11F58C73A5DE}"/>
              </a:ext>
            </a:extLst>
          </p:cNvPr>
          <p:cNvSpPr txBox="1"/>
          <p:nvPr/>
        </p:nvSpPr>
        <p:spPr>
          <a:xfrm>
            <a:off x="1295400" y="899263"/>
            <a:ext cx="13411200" cy="1068819"/>
          </a:xfrm>
          <a:prstGeom prst="rect">
            <a:avLst/>
          </a:prstGeom>
        </p:spPr>
        <p:txBody>
          <a:bodyPr wrap="square" lIns="0" tIns="0" rIns="0" bIns="0" rtlCol="0" anchor="t">
            <a:spAutoFit/>
          </a:bodyPr>
          <a:lstStyle/>
          <a:p>
            <a:pPr>
              <a:lnSpc>
                <a:spcPts val="9240"/>
              </a:lnSpc>
            </a:pPr>
            <a:r>
              <a:rPr lang="en-US" sz="6000" b="1" dirty="0">
                <a:solidFill>
                  <a:srgbClr val="1836B2"/>
                </a:solidFill>
                <a:latin typeface="Segoe UI" panose="020B0502040204020203" pitchFamily="34" charset="0"/>
                <a:ea typeface="Muli Bold"/>
                <a:cs typeface="Segoe UI" panose="020B0502040204020203" pitchFamily="34" charset="0"/>
                <a:sym typeface="Muli Bold"/>
              </a:rPr>
              <a:t>      Azure AI Document Intelligence</a:t>
            </a:r>
          </a:p>
        </p:txBody>
      </p:sp>
      <p:pic>
        <p:nvPicPr>
          <p:cNvPr id="2050" name="Picture 2" descr="Microsoft Azure Icon 2022">
            <a:extLst>
              <a:ext uri="{FF2B5EF4-FFF2-40B4-BE49-F238E27FC236}">
                <a16:creationId xmlns:a16="http://schemas.microsoft.com/office/drawing/2014/main" id="{B441F874-AE30-227B-03DF-A05FA7699F6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560600" y="167857"/>
            <a:ext cx="3200400" cy="1800225"/>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947B3328-AD4C-04E8-483E-A87F7B251DC3}"/>
              </a:ext>
            </a:extLst>
          </p:cNvPr>
          <p:cNvSpPr txBox="1"/>
          <p:nvPr/>
        </p:nvSpPr>
        <p:spPr>
          <a:xfrm>
            <a:off x="1524000" y="2628900"/>
            <a:ext cx="8763000" cy="4801314"/>
          </a:xfrm>
          <a:prstGeom prst="rect">
            <a:avLst/>
          </a:prstGeom>
          <a:noFill/>
        </p:spPr>
        <p:txBody>
          <a:bodyPr wrap="square" rtlCol="0">
            <a:spAutoFit/>
          </a:bodyPr>
          <a:lstStyle/>
          <a:p>
            <a:r>
              <a:rPr lang="en-US" dirty="0" err="1">
                <a:latin typeface="Segoe UI" panose="020B0502040204020203" pitchFamily="34" charset="0"/>
                <a:cs typeface="Segoe UI" panose="020B0502040204020203" pitchFamily="34" charset="0"/>
              </a:rPr>
              <a:t>Trích</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xuất</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dữ</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liệu</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có</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cấu</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trúc</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từ</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tài</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liệu</a:t>
            </a:r>
            <a:endParaRPr lang="en-US" dirty="0">
              <a:latin typeface="Segoe UI" panose="020B0502040204020203" pitchFamily="34" charset="0"/>
              <a:cs typeface="Segoe UI" panose="020B0502040204020203" pitchFamily="34" charset="0"/>
            </a:endParaRPr>
          </a:p>
          <a:p>
            <a:endParaRPr lang="vi-VN" dirty="0">
              <a:latin typeface="Segoe UI" panose="020B0502040204020203" pitchFamily="34" charset="0"/>
              <a:cs typeface="Segoe UI" panose="020B0502040204020203" pitchFamily="34" charset="0"/>
            </a:endParaRPr>
          </a:p>
          <a:p>
            <a:r>
              <a:rPr lang="vi-VN" b="1" dirty="0">
                <a:latin typeface="Segoe UI" panose="020B0502040204020203" pitchFamily="34" charset="0"/>
                <a:cs typeface="Segoe UI" panose="020B0502040204020203" pitchFamily="34" charset="0"/>
              </a:rPr>
              <a:t>Khả năng chính</a:t>
            </a:r>
          </a:p>
          <a:p>
            <a:r>
              <a:rPr lang="vi-VN" dirty="0">
                <a:latin typeface="Segoe UI" panose="020B0502040204020203" pitchFamily="34" charset="0"/>
                <a:cs typeface="Segoe UI" panose="020B0502040204020203" pitchFamily="34" charset="0"/>
              </a:rPr>
              <a:t>Hiểu layout &amp; structure (table, form) </a:t>
            </a:r>
          </a:p>
          <a:p>
            <a:r>
              <a:rPr lang="vi-VN" dirty="0">
                <a:latin typeface="Segoe UI" panose="020B0502040204020203" pitchFamily="34" charset="0"/>
                <a:cs typeface="Segoe UI" panose="020B0502040204020203" pitchFamily="34" charset="0"/>
              </a:rPr>
              <a:t>Trích xuất key-value (invoice, receipt…) </a:t>
            </a:r>
          </a:p>
          <a:p>
            <a:r>
              <a:rPr lang="vi-VN" dirty="0">
                <a:latin typeface="Segoe UI" panose="020B0502040204020203" pitchFamily="34" charset="0"/>
                <a:cs typeface="Segoe UI" panose="020B0502040204020203" pitchFamily="34" charset="0"/>
              </a:rPr>
              <a:t>Prebuilt models (ID, contract) </a:t>
            </a:r>
          </a:p>
          <a:p>
            <a:r>
              <a:rPr lang="vi-VN" dirty="0">
                <a:latin typeface="Segoe UI" panose="020B0502040204020203" pitchFamily="34" charset="0"/>
                <a:cs typeface="Segoe UI" panose="020B0502040204020203" pitchFamily="34" charset="0"/>
              </a:rPr>
              <a:t>Custom models </a:t>
            </a:r>
          </a:p>
          <a:p>
            <a:br>
              <a:rPr lang="vi-VN" dirty="0">
                <a:latin typeface="Segoe UI" panose="020B0502040204020203" pitchFamily="34" charset="0"/>
                <a:cs typeface="Segoe UI" panose="020B0502040204020203" pitchFamily="34" charset="0"/>
              </a:rPr>
            </a:br>
            <a:endParaRPr lang="vi-VN" dirty="0">
              <a:latin typeface="Segoe UI" panose="020B0502040204020203" pitchFamily="34" charset="0"/>
              <a:cs typeface="Segoe UI" panose="020B0502040204020203" pitchFamily="34" charset="0"/>
            </a:endParaRPr>
          </a:p>
          <a:p>
            <a:r>
              <a:rPr lang="vi-VN" b="1" dirty="0">
                <a:latin typeface="Segoe UI" panose="020B0502040204020203" pitchFamily="34" charset="0"/>
                <a:cs typeface="Segoe UI" panose="020B0502040204020203" pitchFamily="34" charset="0"/>
              </a:rPr>
              <a:t>Use case</a:t>
            </a:r>
          </a:p>
          <a:p>
            <a:r>
              <a:rPr lang="vi-VN" dirty="0">
                <a:latin typeface="Segoe UI" panose="020B0502040204020203" pitchFamily="34" charset="0"/>
                <a:cs typeface="Segoe UI" panose="020B0502040204020203" pitchFamily="34" charset="0"/>
              </a:rPr>
              <a:t>Xử lý hóa đơn </a:t>
            </a:r>
          </a:p>
          <a:p>
            <a:r>
              <a:rPr lang="vi-VN" dirty="0">
                <a:latin typeface="Segoe UI" panose="020B0502040204020203" pitchFamily="34" charset="0"/>
                <a:cs typeface="Segoe UI" panose="020B0502040204020203" pitchFamily="34" charset="0"/>
              </a:rPr>
              <a:t>Phân tích hợp đồng </a:t>
            </a:r>
          </a:p>
          <a:p>
            <a:r>
              <a:rPr lang="vi-VN" dirty="0">
                <a:latin typeface="Segoe UI" panose="020B0502040204020203" pitchFamily="34" charset="0"/>
                <a:cs typeface="Segoe UI" panose="020B0502040204020203" pitchFamily="34" charset="0"/>
              </a:rPr>
              <a:t>Tự động hóa form </a:t>
            </a:r>
          </a:p>
          <a:p>
            <a:br>
              <a:rPr lang="vi-VN" dirty="0">
                <a:latin typeface="Segoe UI" panose="020B0502040204020203" pitchFamily="34" charset="0"/>
                <a:cs typeface="Segoe UI" panose="020B0502040204020203" pitchFamily="34" charset="0"/>
              </a:rPr>
            </a:br>
            <a:endParaRPr lang="vi-VN" dirty="0">
              <a:latin typeface="Segoe UI" panose="020B0502040204020203" pitchFamily="34" charset="0"/>
              <a:cs typeface="Segoe UI" panose="020B0502040204020203" pitchFamily="34" charset="0"/>
            </a:endParaRPr>
          </a:p>
          <a:p>
            <a:r>
              <a:rPr lang="vi-VN" b="1" dirty="0">
                <a:latin typeface="Segoe UI" panose="020B0502040204020203" pitchFamily="34" charset="0"/>
                <a:cs typeface="Segoe UI" panose="020B0502040204020203" pitchFamily="34" charset="0"/>
              </a:rPr>
              <a:t>Integration</a:t>
            </a:r>
          </a:p>
          <a:p>
            <a:r>
              <a:rPr lang="en-US" dirty="0">
                <a:latin typeface="Segoe UI" panose="020B0502040204020203" pitchFamily="34" charset="0"/>
                <a:cs typeface="Segoe UI" panose="020B0502040204020203" pitchFamily="34" charset="0"/>
              </a:rPr>
              <a:t>👉 </a:t>
            </a:r>
            <a:r>
              <a:rPr lang="vi-VN" dirty="0">
                <a:latin typeface="Segoe UI" panose="020B0502040204020203" pitchFamily="34" charset="0"/>
                <a:cs typeface="Segoe UI" panose="020B0502040204020203" pitchFamily="34" charset="0"/>
              </a:rPr>
              <a:t>Document → Structured Data → OpenAI</a:t>
            </a:r>
          </a:p>
        </p:txBody>
      </p:sp>
      <p:pic>
        <p:nvPicPr>
          <p:cNvPr id="3" name="Graphic 2">
            <a:extLst>
              <a:ext uri="{FF2B5EF4-FFF2-40B4-BE49-F238E27FC236}">
                <a16:creationId xmlns:a16="http://schemas.microsoft.com/office/drawing/2014/main" id="{A90CF8DE-3188-36EE-8DC1-1FF4BDF538B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71600" y="967957"/>
            <a:ext cx="1000125" cy="1000125"/>
          </a:xfrm>
          <a:prstGeom prst="rect">
            <a:avLst/>
          </a:prstGeom>
        </p:spPr>
      </p:pic>
      <p:graphicFrame>
        <p:nvGraphicFramePr>
          <p:cNvPr id="9" name="Table 8">
            <a:extLst>
              <a:ext uri="{FF2B5EF4-FFF2-40B4-BE49-F238E27FC236}">
                <a16:creationId xmlns:a16="http://schemas.microsoft.com/office/drawing/2014/main" id="{034CE527-0F49-624A-ECC2-7832B421610A}"/>
              </a:ext>
            </a:extLst>
          </p:cNvPr>
          <p:cNvGraphicFramePr>
            <a:graphicFrameLocks noGrp="1"/>
          </p:cNvGraphicFramePr>
          <p:nvPr>
            <p:extLst>
              <p:ext uri="{D42A27DB-BD31-4B8C-83A1-F6EECF244321}">
                <p14:modId xmlns:p14="http://schemas.microsoft.com/office/powerpoint/2010/main" val="3014696964"/>
              </p:ext>
            </p:extLst>
          </p:nvPr>
        </p:nvGraphicFramePr>
        <p:xfrm>
          <a:off x="9982200" y="3840837"/>
          <a:ext cx="6940599" cy="2377440"/>
        </p:xfrm>
        <a:graphic>
          <a:graphicData uri="http://schemas.openxmlformats.org/drawingml/2006/table">
            <a:tbl>
              <a:tblPr/>
              <a:tblGrid>
                <a:gridCol w="2313533">
                  <a:extLst>
                    <a:ext uri="{9D8B030D-6E8A-4147-A177-3AD203B41FA5}">
                      <a16:colId xmlns:a16="http://schemas.microsoft.com/office/drawing/2014/main" val="2999657561"/>
                    </a:ext>
                  </a:extLst>
                </a:gridCol>
                <a:gridCol w="2313533">
                  <a:extLst>
                    <a:ext uri="{9D8B030D-6E8A-4147-A177-3AD203B41FA5}">
                      <a16:colId xmlns:a16="http://schemas.microsoft.com/office/drawing/2014/main" val="1892425982"/>
                    </a:ext>
                  </a:extLst>
                </a:gridCol>
                <a:gridCol w="2313533">
                  <a:extLst>
                    <a:ext uri="{9D8B030D-6E8A-4147-A177-3AD203B41FA5}">
                      <a16:colId xmlns:a16="http://schemas.microsoft.com/office/drawing/2014/main" val="3213377701"/>
                    </a:ext>
                  </a:extLst>
                </a:gridCol>
              </a:tblGrid>
              <a:tr h="0">
                <a:tc>
                  <a:txBody>
                    <a:bodyPr/>
                    <a:lstStyle/>
                    <a:p>
                      <a:pPr>
                        <a:buNone/>
                      </a:pP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Vision OCR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Document Intelligence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464954"/>
                  </a:ext>
                </a:extLst>
              </a:tr>
              <a:tr h="0">
                <a:tc>
                  <a:txBody>
                    <a:bodyPr/>
                    <a:lstStyle/>
                    <a:p>
                      <a:pPr>
                        <a:buNone/>
                      </a:pPr>
                      <a:r>
                        <a:rPr lang="en-US" dirty="0" err="1"/>
                        <a:t>Đọc</a:t>
                      </a:r>
                      <a:r>
                        <a:rPr lang="en-US" dirty="0"/>
                        <a:t> 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7506961"/>
                  </a:ext>
                </a:extLst>
              </a:tr>
              <a:tr h="0">
                <a:tc>
                  <a:txBody>
                    <a:bodyPr/>
                    <a:lstStyle/>
                    <a:p>
                      <a:pPr>
                        <a:buNone/>
                      </a:pPr>
                      <a:r>
                        <a:rPr lang="en-US"/>
                        <a:t>Hiểu cấu trúc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9789682"/>
                  </a:ext>
                </a:extLst>
              </a:tr>
              <a:tr h="0">
                <a:tc>
                  <a:txBody>
                    <a:bodyPr/>
                    <a:lstStyle/>
                    <a:p>
                      <a:pPr>
                        <a:buNone/>
                      </a:pPr>
                      <a:r>
                        <a:rPr lang="en-US" dirty="0" err="1"/>
                        <a:t>Hiểu</a:t>
                      </a:r>
                      <a:r>
                        <a:rPr lang="en-US" dirty="0"/>
                        <a:t> field (invoice,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9458200"/>
                  </a:ext>
                </a:extLst>
              </a:tr>
              <a:tr h="0">
                <a:tc>
                  <a:txBody>
                    <a:bodyPr/>
                    <a:lstStyle/>
                    <a:p>
                      <a:pPr>
                        <a:buNone/>
                      </a:pPr>
                      <a:r>
                        <a:rPr lang="en-US"/>
                        <a:t>Dùng cho document thật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312002"/>
                  </a:ext>
                </a:extLst>
              </a:tr>
            </a:tbl>
          </a:graphicData>
        </a:graphic>
      </p:graphicFrame>
    </p:spTree>
    <p:extLst>
      <p:ext uri="{BB962C8B-B14F-4D97-AF65-F5344CB8AC3E}">
        <p14:creationId xmlns:p14="http://schemas.microsoft.com/office/powerpoint/2010/main" val="954096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33E13-D992-2DC9-2C89-1EE86BCBAD4F}"/>
            </a:ext>
          </a:extLst>
        </p:cNvPr>
        <p:cNvGrpSpPr/>
        <p:nvPr/>
      </p:nvGrpSpPr>
      <p:grpSpPr>
        <a:xfrm>
          <a:off x="0" y="0"/>
          <a:ext cx="0" cy="0"/>
          <a:chOff x="0" y="0"/>
          <a:chExt cx="0" cy="0"/>
        </a:xfrm>
      </p:grpSpPr>
      <p:sp>
        <p:nvSpPr>
          <p:cNvPr id="8" name="TextBox 8">
            <a:extLst>
              <a:ext uri="{FF2B5EF4-FFF2-40B4-BE49-F238E27FC236}">
                <a16:creationId xmlns:a16="http://schemas.microsoft.com/office/drawing/2014/main" id="{71733300-582B-A107-962E-8F0F4E3F0B89}"/>
              </a:ext>
            </a:extLst>
          </p:cNvPr>
          <p:cNvSpPr txBox="1"/>
          <p:nvPr/>
        </p:nvSpPr>
        <p:spPr>
          <a:xfrm>
            <a:off x="1295400" y="899263"/>
            <a:ext cx="13411200" cy="1068819"/>
          </a:xfrm>
          <a:prstGeom prst="rect">
            <a:avLst/>
          </a:prstGeom>
        </p:spPr>
        <p:txBody>
          <a:bodyPr wrap="square" lIns="0" tIns="0" rIns="0" bIns="0" rtlCol="0" anchor="t">
            <a:spAutoFit/>
          </a:bodyPr>
          <a:lstStyle/>
          <a:p>
            <a:pPr>
              <a:lnSpc>
                <a:spcPts val="9240"/>
              </a:lnSpc>
            </a:pPr>
            <a:r>
              <a:rPr lang="en-US" sz="6000" b="1" dirty="0">
                <a:solidFill>
                  <a:srgbClr val="1836B2"/>
                </a:solidFill>
                <a:latin typeface="Segoe UI" panose="020B0502040204020203" pitchFamily="34" charset="0"/>
                <a:ea typeface="Muli Bold"/>
                <a:cs typeface="Segoe UI" panose="020B0502040204020203" pitchFamily="34" charset="0"/>
                <a:sym typeface="Muli Bold"/>
              </a:rPr>
              <a:t>        Azure AI Search</a:t>
            </a:r>
          </a:p>
        </p:txBody>
      </p:sp>
      <p:pic>
        <p:nvPicPr>
          <p:cNvPr id="2050" name="Picture 2" descr="Microsoft Azure Icon 2022">
            <a:extLst>
              <a:ext uri="{FF2B5EF4-FFF2-40B4-BE49-F238E27FC236}">
                <a16:creationId xmlns:a16="http://schemas.microsoft.com/office/drawing/2014/main" id="{F73B0898-BE41-774E-A8D8-6715D5CFC98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560600" y="167857"/>
            <a:ext cx="3200400" cy="180022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96E5374D-AC11-BC4F-B15D-C03B683CBF91}"/>
              </a:ext>
            </a:extLst>
          </p:cNvPr>
          <p:cNvSpPr txBox="1"/>
          <p:nvPr/>
        </p:nvSpPr>
        <p:spPr>
          <a:xfrm>
            <a:off x="1470396" y="2984670"/>
            <a:ext cx="9144000" cy="5078313"/>
          </a:xfrm>
          <a:prstGeom prst="rect">
            <a:avLst/>
          </a:prstGeom>
          <a:noFill/>
        </p:spPr>
        <p:txBody>
          <a:bodyPr wrap="square">
            <a:spAutoFit/>
          </a:bodyPr>
          <a:lstStyle/>
          <a:p>
            <a:r>
              <a:rPr lang="en-US" b="1" dirty="0" err="1">
                <a:latin typeface="Segoe UI" panose="020B0502040204020203" pitchFamily="34" charset="0"/>
                <a:cs typeface="Segoe UI" panose="020B0502040204020203" pitchFamily="34" charset="0"/>
              </a:rPr>
              <a:t>Tìm</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kiếm</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thông</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minh</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trên</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dữ</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liệu</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của</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bạn</a:t>
            </a:r>
            <a:endParaRPr lang="en-US" b="1" dirty="0">
              <a:latin typeface="Segoe UI" panose="020B0502040204020203" pitchFamily="34" charset="0"/>
              <a:cs typeface="Segoe UI" panose="020B0502040204020203" pitchFamily="34" charset="0"/>
            </a:endParaRPr>
          </a:p>
          <a:p>
            <a:br>
              <a:rPr lang="en-US" dirty="0">
                <a:latin typeface="Segoe UI" panose="020B0502040204020203" pitchFamily="34" charset="0"/>
                <a:cs typeface="Segoe UI" panose="020B0502040204020203" pitchFamily="34" charset="0"/>
              </a:rPr>
            </a:br>
            <a:endParaRPr lang="en-US" dirty="0">
              <a:latin typeface="Segoe UI" panose="020B0502040204020203" pitchFamily="34" charset="0"/>
              <a:cs typeface="Segoe UI" panose="020B0502040204020203" pitchFamily="34" charset="0"/>
            </a:endParaRPr>
          </a:p>
          <a:p>
            <a:r>
              <a:rPr lang="en-US" b="1" dirty="0" err="1">
                <a:latin typeface="Segoe UI" panose="020B0502040204020203" pitchFamily="34" charset="0"/>
                <a:cs typeface="Segoe UI" panose="020B0502040204020203" pitchFamily="34" charset="0"/>
              </a:rPr>
              <a:t>Khả</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năng</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chính</a:t>
            </a:r>
            <a:endParaRPr lang="en-US" b="1" dirty="0">
              <a:latin typeface="Segoe UI" panose="020B0502040204020203" pitchFamily="34" charset="0"/>
              <a:cs typeface="Segoe UI" panose="020B0502040204020203" pitchFamily="34" charset="0"/>
            </a:endParaRPr>
          </a:p>
          <a:p>
            <a:r>
              <a:rPr lang="en-US" dirty="0">
                <a:latin typeface="Segoe UI" panose="020B0502040204020203" pitchFamily="34" charset="0"/>
                <a:cs typeface="Segoe UI" panose="020B0502040204020203" pitchFamily="34" charset="0"/>
              </a:rPr>
              <a:t>Keyword search (</a:t>
            </a:r>
            <a:r>
              <a:rPr lang="en-US" dirty="0" err="1">
                <a:latin typeface="Segoe UI" panose="020B0502040204020203" pitchFamily="34" charset="0"/>
                <a:cs typeface="Segoe UI" panose="020B0502040204020203" pitchFamily="34" charset="0"/>
              </a:rPr>
              <a:t>từ</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khóa</a:t>
            </a:r>
            <a:r>
              <a:rPr lang="en-US" dirty="0">
                <a:latin typeface="Segoe UI" panose="020B0502040204020203" pitchFamily="34" charset="0"/>
                <a:cs typeface="Segoe UI" panose="020B0502040204020203" pitchFamily="34" charset="0"/>
              </a:rPr>
              <a:t>) </a:t>
            </a:r>
          </a:p>
          <a:p>
            <a:r>
              <a:rPr lang="en-US" dirty="0">
                <a:latin typeface="Segoe UI" panose="020B0502040204020203" pitchFamily="34" charset="0"/>
                <a:cs typeface="Segoe UI" panose="020B0502040204020203" pitchFamily="34" charset="0"/>
              </a:rPr>
              <a:t>Semantic search (</a:t>
            </a:r>
            <a:r>
              <a:rPr lang="en-US" dirty="0" err="1">
                <a:latin typeface="Segoe UI" panose="020B0502040204020203" pitchFamily="34" charset="0"/>
                <a:cs typeface="Segoe UI" panose="020B0502040204020203" pitchFamily="34" charset="0"/>
              </a:rPr>
              <a:t>hiểu</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ngữ</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nghĩa</a:t>
            </a:r>
            <a:r>
              <a:rPr lang="en-US" dirty="0">
                <a:latin typeface="Segoe UI" panose="020B0502040204020203" pitchFamily="34" charset="0"/>
                <a:cs typeface="Segoe UI" panose="020B0502040204020203" pitchFamily="34" charset="0"/>
              </a:rPr>
              <a:t>) </a:t>
            </a:r>
          </a:p>
          <a:p>
            <a:r>
              <a:rPr lang="en-US" dirty="0">
                <a:latin typeface="Segoe UI" panose="020B0502040204020203" pitchFamily="34" charset="0"/>
                <a:cs typeface="Segoe UI" panose="020B0502040204020203" pitchFamily="34" charset="0"/>
              </a:rPr>
              <a:t>Vector search (embedding / similarity) </a:t>
            </a:r>
          </a:p>
          <a:p>
            <a:r>
              <a:rPr lang="en-US" dirty="0">
                <a:latin typeface="Segoe UI" panose="020B0502040204020203" pitchFamily="34" charset="0"/>
                <a:cs typeface="Segoe UI" panose="020B0502040204020203" pitchFamily="34" charset="0"/>
              </a:rPr>
              <a:t>Data indexing </a:t>
            </a:r>
          </a:p>
          <a:p>
            <a:br>
              <a:rPr lang="en-US" dirty="0">
                <a:latin typeface="Segoe UI" panose="020B0502040204020203" pitchFamily="34" charset="0"/>
                <a:cs typeface="Segoe UI" panose="020B0502040204020203" pitchFamily="34" charset="0"/>
              </a:rPr>
            </a:br>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Use case</a:t>
            </a:r>
          </a:p>
          <a:p>
            <a:r>
              <a:rPr lang="en-US" dirty="0">
                <a:latin typeface="Segoe UI" panose="020B0502040204020203" pitchFamily="34" charset="0"/>
                <a:cs typeface="Segoe UI" panose="020B0502040204020203" pitchFamily="34" charset="0"/>
              </a:rPr>
              <a:t>Knowledge base chatbot </a:t>
            </a:r>
          </a:p>
          <a:p>
            <a:r>
              <a:rPr lang="en-US" dirty="0" err="1">
                <a:latin typeface="Segoe UI" panose="020B0502040204020203" pitchFamily="34" charset="0"/>
                <a:cs typeface="Segoe UI" panose="020B0502040204020203" pitchFamily="34" charset="0"/>
              </a:rPr>
              <a:t>Tìm</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kiếm</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tài</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liệu</a:t>
            </a:r>
            <a:r>
              <a:rPr lang="en-US" dirty="0">
                <a:latin typeface="Segoe UI" panose="020B0502040204020203" pitchFamily="34" charset="0"/>
                <a:cs typeface="Segoe UI" panose="020B0502040204020203" pitchFamily="34" charset="0"/>
              </a:rPr>
              <a:t> </a:t>
            </a:r>
          </a:p>
          <a:p>
            <a:r>
              <a:rPr lang="en-US" dirty="0">
                <a:latin typeface="Segoe UI" panose="020B0502040204020203" pitchFamily="34" charset="0"/>
                <a:cs typeface="Segoe UI" panose="020B0502040204020203" pitchFamily="34" charset="0"/>
              </a:rPr>
              <a:t>Enterprise search </a:t>
            </a:r>
          </a:p>
          <a:p>
            <a:br>
              <a:rPr lang="en-US" dirty="0">
                <a:latin typeface="Segoe UI" panose="020B0502040204020203" pitchFamily="34" charset="0"/>
                <a:cs typeface="Segoe UI" panose="020B0502040204020203" pitchFamily="34" charset="0"/>
              </a:rPr>
            </a:br>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 RAG Pipeline</a:t>
            </a:r>
          </a:p>
          <a:p>
            <a:r>
              <a:rPr lang="en-US" dirty="0">
                <a:latin typeface="Segoe UI" panose="020B0502040204020203" pitchFamily="34" charset="0"/>
                <a:cs typeface="Segoe UI" panose="020B0502040204020203" pitchFamily="34" charset="0"/>
              </a:rPr>
              <a:t>👉 Document → Search → OpenAI → Response</a:t>
            </a:r>
          </a:p>
        </p:txBody>
      </p:sp>
      <p:pic>
        <p:nvPicPr>
          <p:cNvPr id="14" name="Graphic 13">
            <a:extLst>
              <a:ext uri="{FF2B5EF4-FFF2-40B4-BE49-F238E27FC236}">
                <a16:creationId xmlns:a16="http://schemas.microsoft.com/office/drawing/2014/main" id="{F810A79C-A395-024B-A1F9-14DBD338C9E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00200" y="1040181"/>
            <a:ext cx="786982" cy="786982"/>
          </a:xfrm>
          <a:prstGeom prst="rect">
            <a:avLst/>
          </a:prstGeom>
        </p:spPr>
      </p:pic>
      <p:pic>
        <p:nvPicPr>
          <p:cNvPr id="2" name="Picture 2">
            <a:extLst>
              <a:ext uri="{FF2B5EF4-FFF2-40B4-BE49-F238E27FC236}">
                <a16:creationId xmlns:a16="http://schemas.microsoft.com/office/drawing/2014/main" id="{3BAE3577-63CB-FE60-5E18-A010C3B97A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16579" y="3467100"/>
            <a:ext cx="8201025" cy="36957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08D9251-B97A-F942-1959-9E42B6FA933D}"/>
              </a:ext>
            </a:extLst>
          </p:cNvPr>
          <p:cNvSpPr txBox="1"/>
          <p:nvPr/>
        </p:nvSpPr>
        <p:spPr>
          <a:xfrm>
            <a:off x="9601200" y="7162800"/>
            <a:ext cx="9144000" cy="369332"/>
          </a:xfrm>
          <a:prstGeom prst="rect">
            <a:avLst/>
          </a:prstGeom>
          <a:noFill/>
        </p:spPr>
        <p:txBody>
          <a:bodyPr wrap="square">
            <a:spAutoFit/>
          </a:bodyPr>
          <a:lstStyle/>
          <a:p>
            <a:r>
              <a:rPr lang="en-US" dirty="0"/>
              <a:t>RAG pipeline (Retrieval-Augmented Generation)</a:t>
            </a:r>
          </a:p>
        </p:txBody>
      </p:sp>
    </p:spTree>
    <p:extLst>
      <p:ext uri="{BB962C8B-B14F-4D97-AF65-F5344CB8AC3E}">
        <p14:creationId xmlns:p14="http://schemas.microsoft.com/office/powerpoint/2010/main" val="2840964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1523D-AFDC-5819-213E-4FCEF8DB8F56}"/>
            </a:ext>
          </a:extLst>
        </p:cNvPr>
        <p:cNvGrpSpPr/>
        <p:nvPr/>
      </p:nvGrpSpPr>
      <p:grpSpPr>
        <a:xfrm>
          <a:off x="0" y="0"/>
          <a:ext cx="0" cy="0"/>
          <a:chOff x="0" y="0"/>
          <a:chExt cx="0" cy="0"/>
        </a:xfrm>
      </p:grpSpPr>
      <p:sp>
        <p:nvSpPr>
          <p:cNvPr id="8" name="TextBox 8">
            <a:extLst>
              <a:ext uri="{FF2B5EF4-FFF2-40B4-BE49-F238E27FC236}">
                <a16:creationId xmlns:a16="http://schemas.microsoft.com/office/drawing/2014/main" id="{B0FECA44-1887-FB71-9552-ADBF3270E1D0}"/>
              </a:ext>
            </a:extLst>
          </p:cNvPr>
          <p:cNvSpPr txBox="1"/>
          <p:nvPr/>
        </p:nvSpPr>
        <p:spPr>
          <a:xfrm>
            <a:off x="1295400" y="899263"/>
            <a:ext cx="13411200" cy="1068819"/>
          </a:xfrm>
          <a:prstGeom prst="rect">
            <a:avLst/>
          </a:prstGeom>
        </p:spPr>
        <p:txBody>
          <a:bodyPr wrap="square" lIns="0" tIns="0" rIns="0" bIns="0" rtlCol="0" anchor="t">
            <a:spAutoFit/>
          </a:bodyPr>
          <a:lstStyle/>
          <a:p>
            <a:pPr>
              <a:lnSpc>
                <a:spcPts val="9240"/>
              </a:lnSpc>
            </a:pPr>
            <a:r>
              <a:rPr lang="en-US" sz="6000" b="1" dirty="0">
                <a:solidFill>
                  <a:srgbClr val="1836B2"/>
                </a:solidFill>
                <a:latin typeface="Segoe UI" panose="020B0502040204020203" pitchFamily="34" charset="0"/>
                <a:ea typeface="Muli Bold"/>
                <a:cs typeface="Segoe UI" panose="020B0502040204020203" pitchFamily="34" charset="0"/>
                <a:sym typeface="Muli Bold"/>
              </a:rPr>
              <a:t>      Azure AI Language</a:t>
            </a:r>
          </a:p>
        </p:txBody>
      </p:sp>
      <p:pic>
        <p:nvPicPr>
          <p:cNvPr id="2050" name="Picture 2" descr="Microsoft Azure Icon 2022">
            <a:extLst>
              <a:ext uri="{FF2B5EF4-FFF2-40B4-BE49-F238E27FC236}">
                <a16:creationId xmlns:a16="http://schemas.microsoft.com/office/drawing/2014/main" id="{54D0C976-E6C6-6525-9C72-9D657EF2D83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560600" y="167857"/>
            <a:ext cx="3200400" cy="1800225"/>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4F36574B-5D15-FC55-5888-3A6A0A005FC3}"/>
              </a:ext>
            </a:extLst>
          </p:cNvPr>
          <p:cNvSpPr txBox="1"/>
          <p:nvPr/>
        </p:nvSpPr>
        <p:spPr>
          <a:xfrm>
            <a:off x="1524000" y="2628900"/>
            <a:ext cx="14325600" cy="5078313"/>
          </a:xfrm>
          <a:prstGeom prst="rect">
            <a:avLst/>
          </a:prstGeom>
          <a:noFill/>
        </p:spPr>
        <p:txBody>
          <a:bodyPr wrap="square" rtlCol="0">
            <a:spAutoFit/>
          </a:bodyPr>
          <a:lstStyle/>
          <a:p>
            <a:r>
              <a:rPr lang="en-US" b="1" dirty="0" err="1">
                <a:latin typeface="Segoe UI" panose="020B0502040204020203" pitchFamily="34" charset="0"/>
                <a:cs typeface="Segoe UI" panose="020B0502040204020203" pitchFamily="34" charset="0"/>
              </a:rPr>
              <a:t>Phân</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tích</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và</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hiểu</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văn</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bản</a:t>
            </a:r>
            <a:r>
              <a:rPr lang="en-US" b="1" dirty="0">
                <a:latin typeface="Segoe UI" panose="020B0502040204020203" pitchFamily="34" charset="0"/>
                <a:cs typeface="Segoe UI" panose="020B0502040204020203" pitchFamily="34" charset="0"/>
              </a:rPr>
              <a:t> (NLP)</a:t>
            </a:r>
          </a:p>
          <a:p>
            <a:br>
              <a:rPr lang="en-US" dirty="0">
                <a:latin typeface="Segoe UI" panose="020B0502040204020203" pitchFamily="34" charset="0"/>
                <a:cs typeface="Segoe UI" panose="020B0502040204020203" pitchFamily="34" charset="0"/>
              </a:rPr>
            </a:br>
            <a:endParaRPr lang="en-US" dirty="0">
              <a:latin typeface="Segoe UI" panose="020B0502040204020203" pitchFamily="34" charset="0"/>
              <a:cs typeface="Segoe UI" panose="020B0502040204020203" pitchFamily="34" charset="0"/>
            </a:endParaRPr>
          </a:p>
          <a:p>
            <a:r>
              <a:rPr lang="en-US" b="1" dirty="0" err="1">
                <a:latin typeface="Segoe UI" panose="020B0502040204020203" pitchFamily="34" charset="0"/>
                <a:cs typeface="Segoe UI" panose="020B0502040204020203" pitchFamily="34" charset="0"/>
              </a:rPr>
              <a:t>Khả</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năng</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chính</a:t>
            </a:r>
            <a:endParaRPr lang="en-US" b="1" dirty="0">
              <a:latin typeface="Segoe UI" panose="020B0502040204020203" pitchFamily="34" charset="0"/>
              <a:cs typeface="Segoe UI" panose="020B0502040204020203" pitchFamily="34" charset="0"/>
            </a:endParaRPr>
          </a:p>
          <a:p>
            <a:r>
              <a:rPr lang="en-US" dirty="0">
                <a:latin typeface="Segoe UI" panose="020B0502040204020203" pitchFamily="34" charset="0"/>
                <a:cs typeface="Segoe UI" panose="020B0502040204020203" pitchFamily="34" charset="0"/>
              </a:rPr>
              <a:t>Sentiment analysis </a:t>
            </a:r>
          </a:p>
          <a:p>
            <a:r>
              <a:rPr lang="en-US" dirty="0">
                <a:latin typeface="Segoe UI" panose="020B0502040204020203" pitchFamily="34" charset="0"/>
                <a:cs typeface="Segoe UI" panose="020B0502040204020203" pitchFamily="34" charset="0"/>
              </a:rPr>
              <a:t>Named entity recognition (NER) </a:t>
            </a:r>
          </a:p>
          <a:p>
            <a:r>
              <a:rPr lang="en-US" dirty="0">
                <a:latin typeface="Segoe UI" panose="020B0502040204020203" pitchFamily="34" charset="0"/>
                <a:cs typeface="Segoe UI" panose="020B0502040204020203" pitchFamily="34" charset="0"/>
              </a:rPr>
              <a:t>Key phrase extraction </a:t>
            </a:r>
          </a:p>
          <a:p>
            <a:r>
              <a:rPr lang="en-US" dirty="0">
                <a:latin typeface="Segoe UI" panose="020B0502040204020203" pitchFamily="34" charset="0"/>
                <a:cs typeface="Segoe UI" panose="020B0502040204020203" pitchFamily="34" charset="0"/>
              </a:rPr>
              <a:t>Language detection &amp; translation </a:t>
            </a:r>
          </a:p>
          <a:p>
            <a:br>
              <a:rPr lang="en-US" dirty="0">
                <a:latin typeface="Segoe UI" panose="020B0502040204020203" pitchFamily="34" charset="0"/>
                <a:cs typeface="Segoe UI" panose="020B0502040204020203" pitchFamily="34" charset="0"/>
              </a:rPr>
            </a:br>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Use case</a:t>
            </a:r>
          </a:p>
          <a:p>
            <a:r>
              <a:rPr lang="en-US" dirty="0" err="1">
                <a:latin typeface="Segoe UI" panose="020B0502040204020203" pitchFamily="34" charset="0"/>
                <a:cs typeface="Segoe UI" panose="020B0502040204020203" pitchFamily="34" charset="0"/>
              </a:rPr>
              <a:t>Phân</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tích</a:t>
            </a:r>
            <a:r>
              <a:rPr lang="en-US" dirty="0">
                <a:latin typeface="Segoe UI" panose="020B0502040204020203" pitchFamily="34" charset="0"/>
                <a:cs typeface="Segoe UI" panose="020B0502040204020203" pitchFamily="34" charset="0"/>
              </a:rPr>
              <a:t> feedback </a:t>
            </a:r>
            <a:r>
              <a:rPr lang="en-US" dirty="0" err="1">
                <a:latin typeface="Segoe UI" panose="020B0502040204020203" pitchFamily="34" charset="0"/>
                <a:cs typeface="Segoe UI" panose="020B0502040204020203" pitchFamily="34" charset="0"/>
              </a:rPr>
              <a:t>khách</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hàng</a:t>
            </a:r>
            <a:r>
              <a:rPr lang="en-US" dirty="0">
                <a:latin typeface="Segoe UI" panose="020B0502040204020203" pitchFamily="34" charset="0"/>
                <a:cs typeface="Segoe UI" panose="020B0502040204020203" pitchFamily="34" charset="0"/>
              </a:rPr>
              <a:t> </a:t>
            </a:r>
          </a:p>
          <a:p>
            <a:r>
              <a:rPr lang="en-US" dirty="0" err="1">
                <a:latin typeface="Segoe UI" panose="020B0502040204020203" pitchFamily="34" charset="0"/>
                <a:cs typeface="Segoe UI" panose="020B0502040204020203" pitchFamily="34" charset="0"/>
              </a:rPr>
              <a:t>Phân</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loại</a:t>
            </a:r>
            <a:r>
              <a:rPr lang="en-US" dirty="0">
                <a:latin typeface="Segoe UI" panose="020B0502040204020203" pitchFamily="34" charset="0"/>
                <a:cs typeface="Segoe UI" panose="020B0502040204020203" pitchFamily="34" charset="0"/>
              </a:rPr>
              <a:t> email </a:t>
            </a:r>
          </a:p>
          <a:p>
            <a:r>
              <a:rPr lang="en-US" dirty="0" err="1">
                <a:latin typeface="Segoe UI" panose="020B0502040204020203" pitchFamily="34" charset="0"/>
                <a:cs typeface="Segoe UI" panose="020B0502040204020203" pitchFamily="34" charset="0"/>
              </a:rPr>
              <a:t>Xác</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định</a:t>
            </a:r>
            <a:r>
              <a:rPr lang="en-US" dirty="0">
                <a:latin typeface="Segoe UI" panose="020B0502040204020203" pitchFamily="34" charset="0"/>
                <a:cs typeface="Segoe UI" panose="020B0502040204020203" pitchFamily="34" charset="0"/>
              </a:rPr>
              <a:t> intent chatbot </a:t>
            </a:r>
          </a:p>
          <a:p>
            <a:br>
              <a:rPr lang="en-US" dirty="0">
                <a:latin typeface="Segoe UI" panose="020B0502040204020203" pitchFamily="34" charset="0"/>
                <a:cs typeface="Segoe UI" panose="020B0502040204020203" pitchFamily="34" charset="0"/>
              </a:rPr>
            </a:br>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Integration</a:t>
            </a:r>
          </a:p>
          <a:p>
            <a:r>
              <a:rPr lang="en-US" dirty="0">
                <a:latin typeface="Segoe UI" panose="020B0502040204020203" pitchFamily="34" charset="0"/>
                <a:cs typeface="Segoe UI" panose="020B0502040204020203" pitchFamily="34" charset="0"/>
              </a:rPr>
              <a:t>👉 Language → OpenAI → Response</a:t>
            </a:r>
          </a:p>
        </p:txBody>
      </p:sp>
      <p:pic>
        <p:nvPicPr>
          <p:cNvPr id="4" name="Graphic 3">
            <a:extLst>
              <a:ext uri="{FF2B5EF4-FFF2-40B4-BE49-F238E27FC236}">
                <a16:creationId xmlns:a16="http://schemas.microsoft.com/office/drawing/2014/main" id="{9A33B0A8-192E-B7BB-60DD-F93A624B384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71600" y="968799"/>
            <a:ext cx="929746" cy="929746"/>
          </a:xfrm>
          <a:prstGeom prst="rect">
            <a:avLst/>
          </a:prstGeom>
        </p:spPr>
      </p:pic>
      <p:pic>
        <p:nvPicPr>
          <p:cNvPr id="3074" name="Picture 2" descr="Quickstart: Use the NER client library - Foundry Tools | Microsoft Learn">
            <a:extLst>
              <a:ext uri="{FF2B5EF4-FFF2-40B4-BE49-F238E27FC236}">
                <a16:creationId xmlns:a16="http://schemas.microsoft.com/office/drawing/2014/main" id="{CD39B2F0-F43C-C195-8046-3EF0E023D5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39000" y="3390900"/>
            <a:ext cx="8801100" cy="4425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95896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9D289-48C4-49C4-5D68-50CF29329160}"/>
            </a:ext>
          </a:extLst>
        </p:cNvPr>
        <p:cNvGrpSpPr/>
        <p:nvPr/>
      </p:nvGrpSpPr>
      <p:grpSpPr>
        <a:xfrm>
          <a:off x="0" y="0"/>
          <a:ext cx="0" cy="0"/>
          <a:chOff x="0" y="0"/>
          <a:chExt cx="0" cy="0"/>
        </a:xfrm>
      </p:grpSpPr>
      <p:sp>
        <p:nvSpPr>
          <p:cNvPr id="8" name="TextBox 8">
            <a:extLst>
              <a:ext uri="{FF2B5EF4-FFF2-40B4-BE49-F238E27FC236}">
                <a16:creationId xmlns:a16="http://schemas.microsoft.com/office/drawing/2014/main" id="{1127583F-56F5-56AA-BBBC-E95B7E2210E9}"/>
              </a:ext>
            </a:extLst>
          </p:cNvPr>
          <p:cNvSpPr txBox="1"/>
          <p:nvPr/>
        </p:nvSpPr>
        <p:spPr>
          <a:xfrm>
            <a:off x="1219200" y="899263"/>
            <a:ext cx="13487400" cy="1007455"/>
          </a:xfrm>
          <a:prstGeom prst="rect">
            <a:avLst/>
          </a:prstGeom>
        </p:spPr>
        <p:txBody>
          <a:bodyPr wrap="square" lIns="0" tIns="0" rIns="0" bIns="0" rtlCol="0" anchor="t">
            <a:spAutoFit/>
          </a:bodyPr>
          <a:lstStyle/>
          <a:p>
            <a:pPr>
              <a:lnSpc>
                <a:spcPts val="9240"/>
              </a:lnSpc>
            </a:pPr>
            <a:r>
              <a:rPr lang="en-US" sz="4000" b="1" dirty="0">
                <a:solidFill>
                  <a:srgbClr val="1836B2"/>
                </a:solidFill>
                <a:latin typeface="Segoe UI" panose="020B0502040204020203" pitchFamily="34" charset="0"/>
                <a:ea typeface="Muli Bold"/>
                <a:cs typeface="Segoe UI" panose="020B0502040204020203" pitchFamily="34" charset="0"/>
                <a:sym typeface="Muli Bold"/>
              </a:rPr>
              <a:t> Hand on Lab 01: </a:t>
            </a:r>
            <a:r>
              <a:rPr lang="en-US" sz="4000" b="1" dirty="0">
                <a:solidFill>
                  <a:srgbClr val="1836B2"/>
                </a:solidFill>
                <a:latin typeface="Segoe UI" panose="020B0502040204020203" pitchFamily="34" charset="0"/>
                <a:cs typeface="Segoe UI" panose="020B0502040204020203" pitchFamily="34" charset="0"/>
              </a:rPr>
              <a:t>Analyze Text with Azure AI Language</a:t>
            </a:r>
            <a:endParaRPr lang="en-US" sz="4000" b="1" dirty="0">
              <a:solidFill>
                <a:srgbClr val="1836B2"/>
              </a:solidFill>
              <a:latin typeface="Segoe UI" panose="020B0502040204020203" pitchFamily="34" charset="0"/>
              <a:cs typeface="Segoe UI" panose="020B0502040204020203" pitchFamily="34" charset="0"/>
              <a:sym typeface="Muli Bold"/>
            </a:endParaRPr>
          </a:p>
        </p:txBody>
      </p:sp>
      <p:pic>
        <p:nvPicPr>
          <p:cNvPr id="2050" name="Picture 2" descr="Microsoft Azure Icon 2022">
            <a:extLst>
              <a:ext uri="{FF2B5EF4-FFF2-40B4-BE49-F238E27FC236}">
                <a16:creationId xmlns:a16="http://schemas.microsoft.com/office/drawing/2014/main" id="{48E95B9D-D8B0-4CAD-FDD8-F5071A48A66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560600" y="167857"/>
            <a:ext cx="3200400" cy="18002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BC34027-7788-C9FB-26BD-F77F50B0B830}"/>
              </a:ext>
            </a:extLst>
          </p:cNvPr>
          <p:cNvSpPr txBox="1"/>
          <p:nvPr/>
        </p:nvSpPr>
        <p:spPr>
          <a:xfrm>
            <a:off x="1981200" y="2933700"/>
            <a:ext cx="4834144" cy="4524315"/>
          </a:xfrm>
          <a:prstGeom prst="rect">
            <a:avLst/>
          </a:prstGeom>
          <a:noFill/>
        </p:spPr>
        <p:txBody>
          <a:bodyPr wrap="none" rtlCol="0">
            <a:spAutoFit/>
          </a:bodyPr>
          <a:lstStyle/>
          <a:p>
            <a:r>
              <a:rPr lang="en-US" b="1" dirty="0" err="1">
                <a:latin typeface="Segoe UI" panose="020B0502040204020203" pitchFamily="34" charset="0"/>
                <a:cs typeface="Segoe UI" panose="020B0502040204020203" pitchFamily="34" charset="0"/>
              </a:rPr>
              <a:t>Mục</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tiêu</a:t>
            </a:r>
            <a:endParaRPr lang="en-US" b="1" dirty="0">
              <a:latin typeface="Segoe UI" panose="020B0502040204020203" pitchFamily="34" charset="0"/>
              <a:cs typeface="Segoe UI" panose="020B0502040204020203" pitchFamily="34" charset="0"/>
            </a:endParaRPr>
          </a:p>
          <a:p>
            <a:r>
              <a:rPr lang="en-US" dirty="0" err="1">
                <a:latin typeface="Segoe UI" panose="020B0502040204020203" pitchFamily="34" charset="0"/>
                <a:cs typeface="Segoe UI" panose="020B0502040204020203" pitchFamily="34" charset="0"/>
              </a:rPr>
              <a:t>Phân</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tích</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văn</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bản</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bằng</a:t>
            </a:r>
            <a:r>
              <a:rPr lang="en-US" dirty="0">
                <a:latin typeface="Segoe UI" panose="020B0502040204020203" pitchFamily="34" charset="0"/>
                <a:cs typeface="Segoe UI" panose="020B0502040204020203" pitchFamily="34" charset="0"/>
              </a:rPr>
              <a:t> Azure AI Language </a:t>
            </a:r>
          </a:p>
          <a:p>
            <a:r>
              <a:rPr lang="en-US" dirty="0" err="1">
                <a:latin typeface="Segoe UI" panose="020B0502040204020203" pitchFamily="34" charset="0"/>
                <a:cs typeface="Segoe UI" panose="020B0502040204020203" pitchFamily="34" charset="0"/>
              </a:rPr>
              <a:t>Trích</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xuất</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thông</a:t>
            </a:r>
            <a:r>
              <a:rPr lang="en-US" dirty="0">
                <a:latin typeface="Segoe UI" panose="020B0502040204020203" pitchFamily="34" charset="0"/>
                <a:cs typeface="Segoe UI" panose="020B0502040204020203" pitchFamily="34" charset="0"/>
              </a:rPr>
              <a:t> tin </a:t>
            </a:r>
            <a:r>
              <a:rPr lang="en-US" dirty="0" err="1">
                <a:latin typeface="Segoe UI" panose="020B0502040204020203" pitchFamily="34" charset="0"/>
                <a:cs typeface="Segoe UI" panose="020B0502040204020203" pitchFamily="34" charset="0"/>
              </a:rPr>
              <a:t>từ</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dữ</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liệu</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không</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cấu</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trúc</a:t>
            </a:r>
            <a:r>
              <a:rPr lang="en-US" dirty="0">
                <a:latin typeface="Segoe UI" panose="020B0502040204020203" pitchFamily="34" charset="0"/>
                <a:cs typeface="Segoe UI" panose="020B0502040204020203" pitchFamily="34" charset="0"/>
              </a:rPr>
              <a:t> </a:t>
            </a:r>
          </a:p>
          <a:p>
            <a:br>
              <a:rPr lang="en-US" dirty="0">
                <a:latin typeface="Segoe UI" panose="020B0502040204020203" pitchFamily="34" charset="0"/>
                <a:cs typeface="Segoe UI" panose="020B0502040204020203" pitchFamily="34" charset="0"/>
              </a:rPr>
            </a:br>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Các </a:t>
            </a:r>
            <a:r>
              <a:rPr lang="en-US" b="1" dirty="0" err="1">
                <a:latin typeface="Segoe UI" panose="020B0502040204020203" pitchFamily="34" charset="0"/>
                <a:cs typeface="Segoe UI" panose="020B0502040204020203" pitchFamily="34" charset="0"/>
              </a:rPr>
              <a:t>chức</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năng</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sử</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dụng</a:t>
            </a:r>
            <a:endParaRPr lang="en-US" b="1" dirty="0">
              <a:latin typeface="Segoe UI" panose="020B0502040204020203" pitchFamily="34" charset="0"/>
              <a:cs typeface="Segoe UI" panose="020B0502040204020203" pitchFamily="34" charset="0"/>
            </a:endParaRPr>
          </a:p>
          <a:p>
            <a:r>
              <a:rPr lang="en-US" dirty="0">
                <a:latin typeface="Segoe UI" panose="020B0502040204020203" pitchFamily="34" charset="0"/>
                <a:cs typeface="Segoe UI" panose="020B0502040204020203" pitchFamily="34" charset="0"/>
              </a:rPr>
              <a:t>Language detection </a:t>
            </a:r>
          </a:p>
          <a:p>
            <a:r>
              <a:rPr lang="en-US" dirty="0">
                <a:latin typeface="Segoe UI" panose="020B0502040204020203" pitchFamily="34" charset="0"/>
                <a:cs typeface="Segoe UI" panose="020B0502040204020203" pitchFamily="34" charset="0"/>
              </a:rPr>
              <a:t>Sentiment analysis </a:t>
            </a:r>
          </a:p>
          <a:p>
            <a:r>
              <a:rPr lang="en-US" dirty="0">
                <a:latin typeface="Segoe UI" panose="020B0502040204020203" pitchFamily="34" charset="0"/>
                <a:cs typeface="Segoe UI" panose="020B0502040204020203" pitchFamily="34" charset="0"/>
              </a:rPr>
              <a:t>Key phrase extraction </a:t>
            </a:r>
          </a:p>
          <a:p>
            <a:r>
              <a:rPr lang="en-US" dirty="0">
                <a:latin typeface="Segoe UI" panose="020B0502040204020203" pitchFamily="34" charset="0"/>
                <a:cs typeface="Segoe UI" panose="020B0502040204020203" pitchFamily="34" charset="0"/>
              </a:rPr>
              <a:t>Named Entity Recognition (NER) </a:t>
            </a:r>
          </a:p>
          <a:p>
            <a:br>
              <a:rPr lang="en-US" dirty="0">
                <a:latin typeface="Segoe UI" panose="020B0502040204020203" pitchFamily="34" charset="0"/>
                <a:cs typeface="Segoe UI" panose="020B0502040204020203" pitchFamily="34" charset="0"/>
              </a:rPr>
            </a:br>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Quy </a:t>
            </a:r>
            <a:r>
              <a:rPr lang="en-US" b="1" dirty="0" err="1">
                <a:latin typeface="Segoe UI" panose="020B0502040204020203" pitchFamily="34" charset="0"/>
                <a:cs typeface="Segoe UI" panose="020B0502040204020203" pitchFamily="34" charset="0"/>
              </a:rPr>
              <a:t>trình</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thực</a:t>
            </a:r>
            <a:r>
              <a:rPr lang="en-US" b="1" dirty="0">
                <a:latin typeface="Segoe UI" panose="020B0502040204020203" pitchFamily="34" charset="0"/>
                <a:cs typeface="Segoe UI" panose="020B0502040204020203" pitchFamily="34" charset="0"/>
              </a:rPr>
              <a:t> </a:t>
            </a:r>
            <a:r>
              <a:rPr lang="en-US" b="1" dirty="0" err="1">
                <a:latin typeface="Segoe UI" panose="020B0502040204020203" pitchFamily="34" charset="0"/>
                <a:cs typeface="Segoe UI" panose="020B0502040204020203" pitchFamily="34" charset="0"/>
              </a:rPr>
              <a:t>hiện</a:t>
            </a:r>
            <a:endParaRPr lang="en-US" b="1" dirty="0">
              <a:latin typeface="Segoe UI" panose="020B0502040204020203" pitchFamily="34" charset="0"/>
              <a:cs typeface="Segoe UI" panose="020B0502040204020203" pitchFamily="34" charset="0"/>
            </a:endParaRPr>
          </a:p>
          <a:p>
            <a:r>
              <a:rPr lang="en-US" dirty="0" err="1">
                <a:latin typeface="Segoe UI" panose="020B0502040204020203" pitchFamily="34" charset="0"/>
                <a:cs typeface="Segoe UI" panose="020B0502040204020203" pitchFamily="34" charset="0"/>
              </a:rPr>
              <a:t>Tạo</a:t>
            </a:r>
            <a:r>
              <a:rPr lang="en-US" dirty="0">
                <a:latin typeface="Segoe UI" panose="020B0502040204020203" pitchFamily="34" charset="0"/>
                <a:cs typeface="Segoe UI" panose="020B0502040204020203" pitchFamily="34" charset="0"/>
              </a:rPr>
              <a:t> Azure AI Language resource </a:t>
            </a:r>
          </a:p>
          <a:p>
            <a:r>
              <a:rPr lang="en-US" dirty="0" err="1">
                <a:latin typeface="Segoe UI" panose="020B0502040204020203" pitchFamily="34" charset="0"/>
                <a:cs typeface="Segoe UI" panose="020B0502040204020203" pitchFamily="34" charset="0"/>
              </a:rPr>
              <a:t>Gửi</a:t>
            </a:r>
            <a:r>
              <a:rPr lang="en-US" dirty="0">
                <a:latin typeface="Segoe UI" panose="020B0502040204020203" pitchFamily="34" charset="0"/>
                <a:cs typeface="Segoe UI" panose="020B0502040204020203" pitchFamily="34" charset="0"/>
              </a:rPr>
              <a:t> text </a:t>
            </a:r>
            <a:r>
              <a:rPr lang="en-US" dirty="0" err="1">
                <a:latin typeface="Segoe UI" panose="020B0502040204020203" pitchFamily="34" charset="0"/>
                <a:cs typeface="Segoe UI" panose="020B0502040204020203" pitchFamily="34" charset="0"/>
              </a:rPr>
              <a:t>vào</a:t>
            </a:r>
            <a:r>
              <a:rPr lang="en-US" dirty="0">
                <a:latin typeface="Segoe UI" panose="020B0502040204020203" pitchFamily="34" charset="0"/>
                <a:cs typeface="Segoe UI" panose="020B0502040204020203" pitchFamily="34" charset="0"/>
              </a:rPr>
              <a:t> API</a:t>
            </a:r>
          </a:p>
          <a:p>
            <a:r>
              <a:rPr lang="en-US" dirty="0">
                <a:latin typeface="Segoe UI" panose="020B0502040204020203" pitchFamily="34" charset="0"/>
                <a:cs typeface="Segoe UI" panose="020B0502040204020203" pitchFamily="34" charset="0"/>
              </a:rPr>
              <a:t>In </a:t>
            </a:r>
            <a:r>
              <a:rPr lang="en-US" dirty="0" err="1">
                <a:latin typeface="Segoe UI" panose="020B0502040204020203" pitchFamily="34" charset="0"/>
                <a:cs typeface="Segoe UI" panose="020B0502040204020203" pitchFamily="34" charset="0"/>
              </a:rPr>
              <a:t>kết</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quả</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ra</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màn</a:t>
            </a:r>
            <a:r>
              <a:rPr lang="en-US" dirty="0">
                <a:latin typeface="Segoe UI" panose="020B0502040204020203" pitchFamily="34" charset="0"/>
                <a:cs typeface="Segoe UI" panose="020B0502040204020203" pitchFamily="34" charset="0"/>
              </a:rPr>
              <a:t> </a:t>
            </a:r>
            <a:r>
              <a:rPr lang="en-US" dirty="0" err="1">
                <a:latin typeface="Segoe UI" panose="020B0502040204020203" pitchFamily="34" charset="0"/>
                <a:cs typeface="Segoe UI" panose="020B0502040204020203" pitchFamily="34" charset="0"/>
              </a:rPr>
              <a:t>hình</a:t>
            </a:r>
            <a:endParaRPr lang="en-US" dirty="0">
              <a:latin typeface="Segoe UI" panose="020B0502040204020203" pitchFamily="34" charset="0"/>
              <a:cs typeface="Segoe UI" panose="020B0502040204020203" pitchFamily="34" charset="0"/>
            </a:endParaRPr>
          </a:p>
        </p:txBody>
      </p:sp>
      <p:graphicFrame>
        <p:nvGraphicFramePr>
          <p:cNvPr id="6" name="Object 5">
            <a:extLst>
              <a:ext uri="{FF2B5EF4-FFF2-40B4-BE49-F238E27FC236}">
                <a16:creationId xmlns:a16="http://schemas.microsoft.com/office/drawing/2014/main" id="{9A6AEBFD-8E5B-A1C7-1703-32440524756A}"/>
              </a:ext>
            </a:extLst>
          </p:cNvPr>
          <p:cNvGraphicFramePr>
            <a:graphicFrameLocks noChangeAspect="1"/>
          </p:cNvGraphicFramePr>
          <p:nvPr>
            <p:extLst>
              <p:ext uri="{D42A27DB-BD31-4B8C-83A1-F6EECF244321}">
                <p14:modId xmlns:p14="http://schemas.microsoft.com/office/powerpoint/2010/main" val="1163539029"/>
              </p:ext>
            </p:extLst>
          </p:nvPr>
        </p:nvGraphicFramePr>
        <p:xfrm>
          <a:off x="11539570" y="3924300"/>
          <a:ext cx="3021030" cy="1671637"/>
        </p:xfrm>
        <a:graphic>
          <a:graphicData uri="http://schemas.openxmlformats.org/presentationml/2006/ole">
            <mc:AlternateContent xmlns:mc="http://schemas.openxmlformats.org/markup-compatibility/2006">
              <mc:Choice xmlns:v="urn:schemas-microsoft-com:vml" Requires="v">
                <p:oleObj name="Packager Shell Object" showAsIcon="1" r:id="rId4" imgW="952602" imgH="526856" progId="Package">
                  <p:embed/>
                </p:oleObj>
              </mc:Choice>
              <mc:Fallback>
                <p:oleObj name="Packager Shell Object" showAsIcon="1" r:id="rId4" imgW="952602" imgH="526856" progId="Package">
                  <p:embed/>
                  <p:pic>
                    <p:nvPicPr>
                      <p:cNvPr id="0" name=""/>
                      <p:cNvPicPr/>
                      <p:nvPr/>
                    </p:nvPicPr>
                    <p:blipFill>
                      <a:blip r:embed="rId5"/>
                      <a:stretch>
                        <a:fillRect/>
                      </a:stretch>
                    </p:blipFill>
                    <p:spPr>
                      <a:xfrm>
                        <a:off x="11539570" y="3924300"/>
                        <a:ext cx="3021030" cy="1671637"/>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BDBC7E89-D05E-4274-20E8-66912D225E80}"/>
              </a:ext>
            </a:extLst>
          </p:cNvPr>
          <p:cNvSpPr txBox="1"/>
          <p:nvPr/>
        </p:nvSpPr>
        <p:spPr>
          <a:xfrm>
            <a:off x="1981200" y="8503817"/>
            <a:ext cx="6026009" cy="923330"/>
          </a:xfrm>
          <a:prstGeom prst="rect">
            <a:avLst/>
          </a:prstGeom>
          <a:noFill/>
        </p:spPr>
        <p:txBody>
          <a:bodyPr wrap="none" rtlCol="0">
            <a:spAutoFit/>
          </a:bodyPr>
          <a:lstStyle/>
          <a:p>
            <a:r>
              <a:rPr lang="en-US" b="1" dirty="0">
                <a:latin typeface="Segoe UI" panose="020B0502040204020203" pitchFamily="34" charset="0"/>
                <a:cs typeface="Segoe UI" panose="020B0502040204020203" pitchFamily="34" charset="0"/>
              </a:rPr>
              <a:t>Text Analytics SDK package</a:t>
            </a:r>
          </a:p>
          <a:p>
            <a:r>
              <a:rPr lang="en-US" dirty="0">
                <a:latin typeface="Segoe UI" panose="020B0502040204020203" pitchFamily="34" charset="0"/>
                <a:cs typeface="Segoe UI" panose="020B0502040204020203" pitchFamily="34" charset="0"/>
              </a:rPr>
              <a:t>dotnet add package </a:t>
            </a:r>
            <a:r>
              <a:rPr lang="en-US" dirty="0" err="1">
                <a:latin typeface="Segoe UI" panose="020B0502040204020203" pitchFamily="34" charset="0"/>
                <a:cs typeface="Segoe UI" panose="020B0502040204020203" pitchFamily="34" charset="0"/>
              </a:rPr>
              <a:t>Azure.AI.TextAnalytics</a:t>
            </a:r>
            <a:r>
              <a:rPr lang="en-US" dirty="0">
                <a:latin typeface="Segoe UI" panose="020B0502040204020203" pitchFamily="34" charset="0"/>
                <a:cs typeface="Segoe UI" panose="020B0502040204020203" pitchFamily="34" charset="0"/>
              </a:rPr>
              <a:t> --version 5.3.0</a:t>
            </a:r>
          </a:p>
          <a:p>
            <a:endParaRPr lang="en-US"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427993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C0792-3ADE-033B-6C10-77F6CCEE0CBB}"/>
            </a:ext>
          </a:extLst>
        </p:cNvPr>
        <p:cNvGrpSpPr/>
        <p:nvPr/>
      </p:nvGrpSpPr>
      <p:grpSpPr>
        <a:xfrm>
          <a:off x="0" y="0"/>
          <a:ext cx="0" cy="0"/>
          <a:chOff x="0" y="0"/>
          <a:chExt cx="0" cy="0"/>
        </a:xfrm>
      </p:grpSpPr>
      <p:sp>
        <p:nvSpPr>
          <p:cNvPr id="8" name="TextBox 8">
            <a:extLst>
              <a:ext uri="{FF2B5EF4-FFF2-40B4-BE49-F238E27FC236}">
                <a16:creationId xmlns:a16="http://schemas.microsoft.com/office/drawing/2014/main" id="{D95E2B77-5BC8-3187-5701-7DD0B2BE9902}"/>
              </a:ext>
            </a:extLst>
          </p:cNvPr>
          <p:cNvSpPr txBox="1"/>
          <p:nvPr/>
        </p:nvSpPr>
        <p:spPr>
          <a:xfrm>
            <a:off x="1219200" y="899263"/>
            <a:ext cx="13487400" cy="1017523"/>
          </a:xfrm>
          <a:prstGeom prst="rect">
            <a:avLst/>
          </a:prstGeom>
        </p:spPr>
        <p:txBody>
          <a:bodyPr wrap="square" lIns="0" tIns="0" rIns="0" bIns="0" rtlCol="0" anchor="t">
            <a:spAutoFit/>
          </a:bodyPr>
          <a:lstStyle/>
          <a:p>
            <a:pPr>
              <a:lnSpc>
                <a:spcPts val="9240"/>
              </a:lnSpc>
            </a:pPr>
            <a:r>
              <a:rPr lang="en-US" sz="4000" b="1" dirty="0">
                <a:solidFill>
                  <a:srgbClr val="1836B2"/>
                </a:solidFill>
                <a:latin typeface="Segoe UI" panose="020B0502040204020203" pitchFamily="34" charset="0"/>
                <a:ea typeface="Muli Bold"/>
                <a:cs typeface="Segoe UI" panose="020B0502040204020203" pitchFamily="34" charset="0"/>
                <a:sym typeface="Muli Bold"/>
              </a:rPr>
              <a:t> Hand on Lab 02: </a:t>
            </a:r>
            <a:r>
              <a:rPr lang="en-US" sz="4000" b="1" dirty="0">
                <a:solidFill>
                  <a:srgbClr val="1836B2"/>
                </a:solidFill>
                <a:latin typeface="Segoe UI" panose="020B0502040204020203" pitchFamily="34" charset="0"/>
                <a:cs typeface="Segoe UI" panose="020B0502040204020203" pitchFamily="34" charset="0"/>
              </a:rPr>
              <a:t>Secure API with Key Vault</a:t>
            </a:r>
          </a:p>
        </p:txBody>
      </p:sp>
      <p:pic>
        <p:nvPicPr>
          <p:cNvPr id="2050" name="Picture 2" descr="Microsoft Azure Icon 2022">
            <a:extLst>
              <a:ext uri="{FF2B5EF4-FFF2-40B4-BE49-F238E27FC236}">
                <a16:creationId xmlns:a16="http://schemas.microsoft.com/office/drawing/2014/main" id="{EC3E37F3-948F-F9A0-783A-38763EDA6A7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560600" y="167857"/>
            <a:ext cx="3200400" cy="18002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27291A4-32BC-8D2B-C80D-4800FE5FFF47}"/>
              </a:ext>
            </a:extLst>
          </p:cNvPr>
          <p:cNvSpPr txBox="1"/>
          <p:nvPr/>
        </p:nvSpPr>
        <p:spPr>
          <a:xfrm>
            <a:off x="1981200" y="2933700"/>
            <a:ext cx="4953000" cy="4801314"/>
          </a:xfrm>
          <a:prstGeom prst="rect">
            <a:avLst/>
          </a:prstGeom>
          <a:noFill/>
        </p:spPr>
        <p:txBody>
          <a:bodyPr wrap="square" rtlCol="0">
            <a:spAutoFit/>
          </a:bodyPr>
          <a:lstStyle/>
          <a:p>
            <a:r>
              <a:rPr lang="vi-VN" b="1" dirty="0">
                <a:latin typeface="Segoe UI" panose="020B0502040204020203" pitchFamily="34" charset="0"/>
                <a:cs typeface="Segoe UI" panose="020B0502040204020203" pitchFamily="34" charset="0"/>
              </a:rPr>
              <a:t>Mục tiêu</a:t>
            </a:r>
          </a:p>
          <a:p>
            <a:r>
              <a:rPr lang="vi-VN" dirty="0">
                <a:latin typeface="Segoe UI" panose="020B0502040204020203" pitchFamily="34" charset="0"/>
                <a:cs typeface="Segoe UI" panose="020B0502040204020203" pitchFamily="34" charset="0"/>
              </a:rPr>
              <a:t>Bảo vệ API key của Azure AI Language </a:t>
            </a:r>
          </a:p>
          <a:p>
            <a:r>
              <a:rPr lang="vi-VN" dirty="0">
                <a:latin typeface="Segoe UI" panose="020B0502040204020203" pitchFamily="34" charset="0"/>
                <a:cs typeface="Segoe UI" panose="020B0502040204020203" pitchFamily="34" charset="0"/>
              </a:rPr>
              <a:t>Tránh hardcode secret trong code </a:t>
            </a:r>
          </a:p>
          <a:p>
            <a:br>
              <a:rPr lang="vi-VN" dirty="0">
                <a:latin typeface="Segoe UI" panose="020B0502040204020203" pitchFamily="34" charset="0"/>
                <a:cs typeface="Segoe UI" panose="020B0502040204020203" pitchFamily="34" charset="0"/>
              </a:rPr>
            </a:br>
            <a:endParaRPr lang="vi-VN" dirty="0">
              <a:latin typeface="Segoe UI" panose="020B0502040204020203" pitchFamily="34" charset="0"/>
              <a:cs typeface="Segoe UI" panose="020B0502040204020203" pitchFamily="34" charset="0"/>
            </a:endParaRPr>
          </a:p>
          <a:p>
            <a:r>
              <a:rPr lang="vi-VN" b="1" dirty="0">
                <a:latin typeface="Segoe UI" panose="020B0502040204020203" pitchFamily="34" charset="0"/>
                <a:cs typeface="Segoe UI" panose="020B0502040204020203" pitchFamily="34" charset="0"/>
              </a:rPr>
              <a:t>Giải pháp</a:t>
            </a:r>
          </a:p>
          <a:p>
            <a:r>
              <a:rPr lang="vi-VN" dirty="0">
                <a:latin typeface="Segoe UI" panose="020B0502040204020203" pitchFamily="34" charset="0"/>
                <a:cs typeface="Segoe UI" panose="020B0502040204020203" pitchFamily="34" charset="0"/>
              </a:rPr>
              <a:t>Sử dụng Azure Key Vault</a:t>
            </a:r>
          </a:p>
          <a:p>
            <a:r>
              <a:rPr lang="vi-VN" dirty="0">
                <a:latin typeface="Segoe UI" panose="020B0502040204020203" pitchFamily="34" charset="0"/>
                <a:cs typeface="Segoe UI" panose="020B0502040204020203" pitchFamily="34" charset="0"/>
              </a:rPr>
              <a:t>Lưu trữ secrets an toàn </a:t>
            </a:r>
          </a:p>
          <a:p>
            <a:r>
              <a:rPr lang="vi-VN" dirty="0">
                <a:latin typeface="Segoe UI" panose="020B0502040204020203" pitchFamily="34" charset="0"/>
                <a:cs typeface="Segoe UI" panose="020B0502040204020203" pitchFamily="34" charset="0"/>
              </a:rPr>
              <a:t>Quản lý access (RBAC / Access policy) </a:t>
            </a:r>
          </a:p>
          <a:p>
            <a:r>
              <a:rPr lang="vi-VN" dirty="0">
                <a:latin typeface="Segoe UI" panose="020B0502040204020203" pitchFamily="34" charset="0"/>
                <a:cs typeface="Segoe UI" panose="020B0502040204020203" pitchFamily="34" charset="0"/>
              </a:rPr>
              <a:t>Tích hợp với ứng dụng </a:t>
            </a:r>
          </a:p>
          <a:p>
            <a:br>
              <a:rPr lang="vi-VN" dirty="0">
                <a:latin typeface="Segoe UI" panose="020B0502040204020203" pitchFamily="34" charset="0"/>
                <a:cs typeface="Segoe UI" panose="020B0502040204020203" pitchFamily="34" charset="0"/>
              </a:rPr>
            </a:br>
            <a:endParaRPr lang="vi-VN" dirty="0">
              <a:latin typeface="Segoe UI" panose="020B0502040204020203" pitchFamily="34" charset="0"/>
              <a:cs typeface="Segoe UI" panose="020B0502040204020203" pitchFamily="34" charset="0"/>
            </a:endParaRPr>
          </a:p>
          <a:p>
            <a:r>
              <a:rPr lang="vi-VN" b="1" dirty="0">
                <a:latin typeface="Segoe UI" panose="020B0502040204020203" pitchFamily="34" charset="0"/>
                <a:cs typeface="Segoe UI" panose="020B0502040204020203" pitchFamily="34" charset="0"/>
              </a:rPr>
              <a:t>Các bước thực hiện</a:t>
            </a:r>
          </a:p>
          <a:p>
            <a:r>
              <a:rPr lang="vi-VN" dirty="0">
                <a:latin typeface="Segoe UI" panose="020B0502040204020203" pitchFamily="34" charset="0"/>
                <a:cs typeface="Segoe UI" panose="020B0502040204020203" pitchFamily="34" charset="0"/>
              </a:rPr>
              <a:t>Tạo Azure Key Vault </a:t>
            </a:r>
          </a:p>
          <a:p>
            <a:r>
              <a:rPr lang="vi-VN" dirty="0">
                <a:latin typeface="Segoe UI" panose="020B0502040204020203" pitchFamily="34" charset="0"/>
                <a:cs typeface="Segoe UI" panose="020B0502040204020203" pitchFamily="34" charset="0"/>
              </a:rPr>
              <a:t>Lưu API key vào secret </a:t>
            </a:r>
          </a:p>
          <a:p>
            <a:r>
              <a:rPr lang="vi-VN" dirty="0">
                <a:latin typeface="Segoe UI" panose="020B0502040204020203" pitchFamily="34" charset="0"/>
                <a:cs typeface="Segoe UI" panose="020B0502040204020203" pitchFamily="34" charset="0"/>
              </a:rPr>
              <a:t>Cấu hình quyền truy cập </a:t>
            </a:r>
            <a:r>
              <a:rPr lang="en-US" dirty="0">
                <a:latin typeface="Segoe UI" panose="020B0502040204020203" pitchFamily="34" charset="0"/>
                <a:cs typeface="Segoe UI" panose="020B0502040204020203" pitchFamily="34" charset="0"/>
              </a:rPr>
              <a:t>(service principal)</a:t>
            </a:r>
            <a:endParaRPr lang="vi-VN" dirty="0">
              <a:latin typeface="Segoe UI" panose="020B0502040204020203" pitchFamily="34" charset="0"/>
              <a:cs typeface="Segoe UI" panose="020B0502040204020203" pitchFamily="34" charset="0"/>
            </a:endParaRPr>
          </a:p>
          <a:p>
            <a:r>
              <a:rPr lang="vi-VN" dirty="0">
                <a:latin typeface="Segoe UI" panose="020B0502040204020203" pitchFamily="34" charset="0"/>
                <a:cs typeface="Segoe UI" panose="020B0502040204020203" pitchFamily="34" charset="0"/>
              </a:rPr>
              <a:t>Ứng dụng đọc key từ Key Vault</a:t>
            </a:r>
          </a:p>
        </p:txBody>
      </p:sp>
      <p:graphicFrame>
        <p:nvGraphicFramePr>
          <p:cNvPr id="6" name="Object 5">
            <a:extLst>
              <a:ext uri="{FF2B5EF4-FFF2-40B4-BE49-F238E27FC236}">
                <a16:creationId xmlns:a16="http://schemas.microsoft.com/office/drawing/2014/main" id="{5C553300-C6C0-FF76-03CF-ACA40176BFB3}"/>
              </a:ext>
            </a:extLst>
          </p:cNvPr>
          <p:cNvGraphicFramePr>
            <a:graphicFrameLocks noChangeAspect="1"/>
          </p:cNvGraphicFramePr>
          <p:nvPr/>
        </p:nvGraphicFramePr>
        <p:xfrm>
          <a:off x="11539570" y="3924300"/>
          <a:ext cx="3021030" cy="1671637"/>
        </p:xfrm>
        <a:graphic>
          <a:graphicData uri="http://schemas.openxmlformats.org/presentationml/2006/ole">
            <mc:AlternateContent xmlns:mc="http://schemas.openxmlformats.org/markup-compatibility/2006">
              <mc:Choice xmlns:v="urn:schemas-microsoft-com:vml" Requires="v">
                <p:oleObj name="Packager Shell Object" showAsIcon="1" r:id="rId4" imgW="952602" imgH="526856" progId="Package">
                  <p:embed/>
                </p:oleObj>
              </mc:Choice>
              <mc:Fallback>
                <p:oleObj name="Packager Shell Object" showAsIcon="1" r:id="rId4" imgW="952602" imgH="526856" progId="Package">
                  <p:embed/>
                  <p:pic>
                    <p:nvPicPr>
                      <p:cNvPr id="6" name="Object 5">
                        <a:extLst>
                          <a:ext uri="{FF2B5EF4-FFF2-40B4-BE49-F238E27FC236}">
                            <a16:creationId xmlns:a16="http://schemas.microsoft.com/office/drawing/2014/main" id="{9A6AEBFD-8E5B-A1C7-1703-32440524756A}"/>
                          </a:ext>
                        </a:extLst>
                      </p:cNvPr>
                      <p:cNvPicPr/>
                      <p:nvPr/>
                    </p:nvPicPr>
                    <p:blipFill>
                      <a:blip r:embed="rId5"/>
                      <a:stretch>
                        <a:fillRect/>
                      </a:stretch>
                    </p:blipFill>
                    <p:spPr>
                      <a:xfrm>
                        <a:off x="11539570" y="3924300"/>
                        <a:ext cx="3021030" cy="1671637"/>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E08AAAA1-A3BA-8058-2849-30AF014DF1D3}"/>
              </a:ext>
            </a:extLst>
          </p:cNvPr>
          <p:cNvSpPr txBox="1"/>
          <p:nvPr/>
        </p:nvSpPr>
        <p:spPr>
          <a:xfrm>
            <a:off x="1981200" y="8343900"/>
            <a:ext cx="7640874" cy="1200329"/>
          </a:xfrm>
          <a:prstGeom prst="rect">
            <a:avLst/>
          </a:prstGeom>
          <a:noFill/>
        </p:spPr>
        <p:txBody>
          <a:bodyPr wrap="none" rtlCol="0">
            <a:spAutoFit/>
          </a:bodyPr>
          <a:lstStyle/>
          <a:p>
            <a:r>
              <a:rPr lang="en-US" b="1" dirty="0">
                <a:latin typeface="Segoe UI" panose="020B0502040204020203" pitchFamily="34" charset="0"/>
                <a:cs typeface="Segoe UI" panose="020B0502040204020203" pitchFamily="34" charset="0"/>
              </a:rPr>
              <a:t>packages Azure Key Vault and the Text Analytics API</a:t>
            </a:r>
          </a:p>
          <a:p>
            <a:r>
              <a:rPr lang="en-US" dirty="0">
                <a:latin typeface="Segoe UI" panose="020B0502040204020203" pitchFamily="34" charset="0"/>
                <a:cs typeface="Segoe UI" panose="020B0502040204020203" pitchFamily="34" charset="0"/>
              </a:rPr>
              <a:t>dotnet add package </a:t>
            </a:r>
            <a:r>
              <a:rPr lang="en-US" dirty="0" err="1">
                <a:latin typeface="Segoe UI" panose="020B0502040204020203" pitchFamily="34" charset="0"/>
                <a:cs typeface="Segoe UI" panose="020B0502040204020203" pitchFamily="34" charset="0"/>
              </a:rPr>
              <a:t>Azure.AI.TextAnalytics</a:t>
            </a:r>
            <a:r>
              <a:rPr lang="en-US" dirty="0">
                <a:latin typeface="Segoe UI" panose="020B0502040204020203" pitchFamily="34" charset="0"/>
                <a:cs typeface="Segoe UI" panose="020B0502040204020203" pitchFamily="34" charset="0"/>
              </a:rPr>
              <a:t> --version 5.3.0 </a:t>
            </a:r>
          </a:p>
          <a:p>
            <a:r>
              <a:rPr lang="en-US" dirty="0">
                <a:latin typeface="Segoe UI" panose="020B0502040204020203" pitchFamily="34" charset="0"/>
                <a:cs typeface="Segoe UI" panose="020B0502040204020203" pitchFamily="34" charset="0"/>
              </a:rPr>
              <a:t>dotnet add package </a:t>
            </a:r>
            <a:r>
              <a:rPr lang="en-US" dirty="0" err="1">
                <a:latin typeface="Segoe UI" panose="020B0502040204020203" pitchFamily="34" charset="0"/>
                <a:cs typeface="Segoe UI" panose="020B0502040204020203" pitchFamily="34" charset="0"/>
              </a:rPr>
              <a:t>Azure.Identity</a:t>
            </a:r>
            <a:r>
              <a:rPr lang="en-US" dirty="0">
                <a:latin typeface="Segoe UI" panose="020B0502040204020203" pitchFamily="34" charset="0"/>
                <a:cs typeface="Segoe UI" panose="020B0502040204020203" pitchFamily="34" charset="0"/>
              </a:rPr>
              <a:t> --version 1.5.0 </a:t>
            </a:r>
          </a:p>
          <a:p>
            <a:r>
              <a:rPr lang="en-US" dirty="0">
                <a:latin typeface="Segoe UI" panose="020B0502040204020203" pitchFamily="34" charset="0"/>
                <a:cs typeface="Segoe UI" panose="020B0502040204020203" pitchFamily="34" charset="0"/>
              </a:rPr>
              <a:t>dotnet add package </a:t>
            </a:r>
            <a:r>
              <a:rPr lang="en-US" dirty="0" err="1">
                <a:latin typeface="Segoe UI" panose="020B0502040204020203" pitchFamily="34" charset="0"/>
                <a:cs typeface="Segoe UI" panose="020B0502040204020203" pitchFamily="34" charset="0"/>
              </a:rPr>
              <a:t>Azure.Security.KeyVault.Secrets</a:t>
            </a:r>
            <a:r>
              <a:rPr lang="en-US" dirty="0">
                <a:latin typeface="Segoe UI" panose="020B0502040204020203" pitchFamily="34" charset="0"/>
                <a:cs typeface="Segoe UI" panose="020B0502040204020203" pitchFamily="34" charset="0"/>
              </a:rPr>
              <a:t> --version 4.2.0-beta.3</a:t>
            </a:r>
          </a:p>
        </p:txBody>
      </p:sp>
    </p:spTree>
    <p:extLst>
      <p:ext uri="{BB962C8B-B14F-4D97-AF65-F5344CB8AC3E}">
        <p14:creationId xmlns:p14="http://schemas.microsoft.com/office/powerpoint/2010/main" val="2144645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11936C7-56A2-EEFD-4E75-0AD1DD440EC3}"/>
              </a:ext>
            </a:extLst>
          </p:cNvPr>
          <p:cNvSpPr txBox="1"/>
          <p:nvPr/>
        </p:nvSpPr>
        <p:spPr>
          <a:xfrm>
            <a:off x="2209800" y="571500"/>
            <a:ext cx="11887200" cy="707886"/>
          </a:xfrm>
          <a:prstGeom prst="rect">
            <a:avLst/>
          </a:prstGeom>
          <a:noFill/>
        </p:spPr>
        <p:txBody>
          <a:bodyPr wrap="square">
            <a:spAutoFit/>
          </a:bodyPr>
          <a:lstStyle/>
          <a:p>
            <a:pPr algn="l">
              <a:spcAft>
                <a:spcPts val="1200"/>
              </a:spcAft>
              <a:buNone/>
            </a:pPr>
            <a:r>
              <a:rPr lang="it-IT" sz="4000" b="1" dirty="0">
                <a:solidFill>
                  <a:srgbClr val="1836B2"/>
                </a:solidFill>
                <a:latin typeface="Segoe UI" panose="020B0502040204020203" pitchFamily="34" charset="0"/>
                <a:cs typeface="Segoe UI" panose="020B0502040204020203" pitchFamily="34" charset="0"/>
              </a:rPr>
              <a:t>Azure AI RAG System (No-Code / Low-Code)</a:t>
            </a:r>
            <a:endParaRPr lang="it-IT" b="1" i="0" dirty="0">
              <a:solidFill>
                <a:srgbClr val="FF0000"/>
              </a:solidFill>
              <a:effectLst/>
              <a:latin typeface="Mona Sans VF"/>
            </a:endParaRPr>
          </a:p>
        </p:txBody>
      </p:sp>
      <p:pic>
        <p:nvPicPr>
          <p:cNvPr id="7" name="Picture 6">
            <a:extLst>
              <a:ext uri="{FF2B5EF4-FFF2-40B4-BE49-F238E27FC236}">
                <a16:creationId xmlns:a16="http://schemas.microsoft.com/office/drawing/2014/main" id="{15538E9A-90B6-CEBF-9FB5-637A2700517E}"/>
              </a:ext>
            </a:extLst>
          </p:cNvPr>
          <p:cNvPicPr>
            <a:picLocks noChangeAspect="1"/>
          </p:cNvPicPr>
          <p:nvPr/>
        </p:nvPicPr>
        <p:blipFill>
          <a:blip r:embed="rId2"/>
          <a:stretch>
            <a:fillRect/>
          </a:stretch>
        </p:blipFill>
        <p:spPr>
          <a:xfrm>
            <a:off x="3519985" y="1562100"/>
            <a:ext cx="10591800" cy="7791669"/>
          </a:xfrm>
          <a:prstGeom prst="rect">
            <a:avLst/>
          </a:prstGeom>
        </p:spPr>
      </p:pic>
    </p:spTree>
    <p:extLst>
      <p:ext uri="{BB962C8B-B14F-4D97-AF65-F5344CB8AC3E}">
        <p14:creationId xmlns:p14="http://schemas.microsoft.com/office/powerpoint/2010/main" val="31775919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716</TotalTime>
  <Words>2725</Words>
  <Application>Microsoft Office PowerPoint</Application>
  <PresentationFormat>Custom</PresentationFormat>
  <Paragraphs>325</Paragraphs>
  <Slides>14</Slides>
  <Notes>11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14</vt:i4>
      </vt:variant>
    </vt:vector>
  </HeadingPairs>
  <TitlesOfParts>
    <vt:vector size="24" baseType="lpstr">
      <vt:lpstr>Segoe UI</vt:lpstr>
      <vt:lpstr>Calibri</vt:lpstr>
      <vt:lpstr>Muli Bold</vt:lpstr>
      <vt:lpstr>Arial</vt:lpstr>
      <vt:lpstr>Mona Sans VF</vt:lpstr>
      <vt:lpstr>Aptos</vt:lpstr>
      <vt:lpstr>Google Sans Text</vt:lpstr>
      <vt:lpstr>Muli Light</vt:lpstr>
      <vt:lpstr>Office Theme</vt:lpstr>
      <vt:lpstr>Packager Shell Object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Bản thuyết trình trình bày ý tưởng Phát triển ứng dụng Khởi nghiệp, Tông màu Xanh dương và Tím, Phong cách Doanh nghiệp</dc:title>
  <cp:lastModifiedBy>cao bách</cp:lastModifiedBy>
  <cp:revision>9</cp:revision>
  <dcterms:created xsi:type="dcterms:W3CDTF">2006-08-16T00:00:00Z</dcterms:created>
  <dcterms:modified xsi:type="dcterms:W3CDTF">2026-04-11T08:41:26Z</dcterms:modified>
  <dc:identifier>DAHF0B2rsP4</dc:identifier>
</cp:coreProperties>
</file>